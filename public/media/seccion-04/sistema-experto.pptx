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Poppins Bold" charset="1" panose="00000800000000000000"/>
      <p:regular r:id="rId18"/>
    </p:embeddedFont>
    <p:embeddedFont>
      <p:font typeface="Flatory Slab Bold" charset="1" panose="00000000000000000000"/>
      <p:regular r:id="rId19"/>
    </p:embeddedFont>
    <p:embeddedFont>
      <p:font typeface="Open Sans Bold" charset="1" panose="020B0806030504020204"/>
      <p:regular r:id="rId20"/>
    </p:embeddedFont>
    <p:embeddedFont>
      <p:font typeface="Flatory Slab" charset="1" panose="00000000000000000000"/>
      <p:regular r:id="rId21"/>
    </p:embeddedFont>
    <p:embeddedFont>
      <p:font typeface="Handy Casual" charset="1" panose="00000500000000000000"/>
      <p:regular r:id="rId22"/>
    </p:embeddedFont>
    <p:embeddedFont>
      <p:font typeface="Open Sans" charset="1" panose="020B0606030504020204"/>
      <p:regular r:id="rId23"/>
    </p:embeddedFont>
    <p:embeddedFont>
      <p:font typeface="Poppins" charset="1" panose="00000500000000000000"/>
      <p:regular r:id="rId24"/>
    </p:embeddedFont>
    <p:embeddedFont>
      <p:font typeface="Ballpoint" charset="1" panose="00000000000000000000"/>
      <p:regular r:id="rId25"/>
    </p:embeddedFont>
    <p:embeddedFont>
      <p:font typeface="Aristotelica Pro" charset="1" panose="000005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slide10.xml" Type="http://schemas.openxmlformats.org/officeDocument/2006/relationships/slide"/><Relationship Id="rId11" Target="slide3.xml" Type="http://schemas.openxmlformats.org/officeDocument/2006/relationships/slide"/><Relationship Id="rId12" Target="slide9.xml" Type="http://schemas.openxmlformats.org/officeDocument/2006/relationships/slide"/><Relationship Id="rId13" Target="slide11.xml" Type="http://schemas.openxmlformats.org/officeDocument/2006/relationships/slide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slide4.xml" Type="http://schemas.openxmlformats.org/officeDocument/2006/relationships/slide"/><Relationship Id="rId6" Target="slide5.xml" Type="http://schemas.openxmlformats.org/officeDocument/2006/relationships/slide"/><Relationship Id="rId7" Target="slide6.xml" Type="http://schemas.openxmlformats.org/officeDocument/2006/relationships/slide"/><Relationship Id="rId8" Target="slide7.xml" Type="http://schemas.openxmlformats.org/officeDocument/2006/relationships/slide"/><Relationship Id="rId9" Target="slide8.xml" Type="http://schemas.openxmlformats.org/officeDocument/2006/relationships/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11" Target="../media/image14.jpeg" Type="http://schemas.openxmlformats.org/officeDocument/2006/relationships/image"/><Relationship Id="rId12" Target="../media/image15.jpeg" Type="http://schemas.openxmlformats.org/officeDocument/2006/relationships/image"/><Relationship Id="rId13" Target="../media/image16.jpeg" Type="http://schemas.openxmlformats.org/officeDocument/2006/relationships/image"/><Relationship Id="rId14" Target="../media/image17.jpeg" Type="http://schemas.openxmlformats.org/officeDocument/2006/relationships/image"/><Relationship Id="rId15" Target="slide2.xml" Type="http://schemas.openxmlformats.org/officeDocument/2006/relationships/slide"/><Relationship Id="rId16" Target="slide4.xml" Type="http://schemas.openxmlformats.org/officeDocument/2006/relationships/slide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25.jpeg" Type="http://schemas.openxmlformats.org/officeDocument/2006/relationships/image"/><Relationship Id="rId14" Target="../media/image26.jpeg" Type="http://schemas.openxmlformats.org/officeDocument/2006/relationships/image"/><Relationship Id="rId15" Target="../media/image27.jpeg" Type="http://schemas.openxmlformats.org/officeDocument/2006/relationships/image"/><Relationship Id="rId16" Target="slide2.xml" Type="http://schemas.openxmlformats.org/officeDocument/2006/relationships/slide"/><Relationship Id="rId17" Target="slide5.xml" Type="http://schemas.openxmlformats.org/officeDocument/2006/relationships/slide"/><Relationship Id="rId18" Target="slide3.xml" Type="http://schemas.openxmlformats.org/officeDocument/2006/relationships/slide"/><Relationship Id="rId2" Target="../media/image18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Relationship Id="rId7" Target="../media/image21.png" Type="http://schemas.openxmlformats.org/officeDocument/2006/relationships/image"/><Relationship Id="rId8" Target="../media/image22.sv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12.png" Type="http://schemas.openxmlformats.org/officeDocument/2006/relationships/image"/><Relationship Id="rId12" Target="../media/image13.svg" Type="http://schemas.openxmlformats.org/officeDocument/2006/relationships/image"/><Relationship Id="rId13" Target="../media/image31.jpeg" Type="http://schemas.openxmlformats.org/officeDocument/2006/relationships/image"/><Relationship Id="rId14" Target="https://es.wikipedia.org/w/index.php?title=Modelo_grafo&amp;action=edit&amp;redlink=1" TargetMode="External" Type="http://schemas.openxmlformats.org/officeDocument/2006/relationships/hyperlink"/><Relationship Id="rId15" Target="https://es.wikipedia.org/wiki/Variables_aleatorias" TargetMode="External" Type="http://schemas.openxmlformats.org/officeDocument/2006/relationships/hyperlink"/><Relationship Id="rId16" Target="https://es.wikipedia.org/w/index.php?title=Dependencia_condicional&amp;action=edit&amp;redlink=1" TargetMode="External" Type="http://schemas.openxmlformats.org/officeDocument/2006/relationships/hyperlink"/><Relationship Id="rId17" Target="https://es.wikipedia.org/wiki/Grafo_ac%C3%ADclico_dirigido" TargetMode="External" Type="http://schemas.openxmlformats.org/officeDocument/2006/relationships/hyperlink"/><Relationship Id="rId18" Target="slide2.xml" Type="http://schemas.openxmlformats.org/officeDocument/2006/relationships/slide"/><Relationship Id="rId19" Target="slide6.xml" Type="http://schemas.openxmlformats.org/officeDocument/2006/relationships/slide"/><Relationship Id="rId2" Target="../media/image28.jpeg" Type="http://schemas.openxmlformats.org/officeDocument/2006/relationships/image"/><Relationship Id="rId20" Target="slide4.xml" Type="http://schemas.openxmlformats.org/officeDocument/2006/relationships/slid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29.png" Type="http://schemas.openxmlformats.org/officeDocument/2006/relationships/image"/><Relationship Id="rId8" Target="../media/image30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33.jpeg" Type="http://schemas.openxmlformats.org/officeDocument/2006/relationships/image"/><Relationship Id="rId14" Target="../media/image34.png" Type="http://schemas.openxmlformats.org/officeDocument/2006/relationships/image"/><Relationship Id="rId15" Target="slide2.xml" Type="http://schemas.openxmlformats.org/officeDocument/2006/relationships/slide"/><Relationship Id="rId16" Target="slide7.xml" Type="http://schemas.openxmlformats.org/officeDocument/2006/relationships/slide"/><Relationship Id="rId17" Target="slide5.xml" Type="http://schemas.openxmlformats.org/officeDocument/2006/relationships/slide"/><Relationship Id="rId2" Target="../media/image32.jpe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Relationship Id="rId7" Target="../media/image29.png" Type="http://schemas.openxmlformats.org/officeDocument/2006/relationships/image"/><Relationship Id="rId8" Target="../media/image30.sv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svg" Type="http://schemas.openxmlformats.org/officeDocument/2006/relationships/image"/><Relationship Id="rId11" Target="../media/image23.png" Type="http://schemas.openxmlformats.org/officeDocument/2006/relationships/image"/><Relationship Id="rId12" Target="../media/image24.svg" Type="http://schemas.openxmlformats.org/officeDocument/2006/relationships/image"/><Relationship Id="rId13" Target="../media/image10.png" Type="http://schemas.openxmlformats.org/officeDocument/2006/relationships/image"/><Relationship Id="rId14" Target="../media/image11.svg" Type="http://schemas.openxmlformats.org/officeDocument/2006/relationships/image"/><Relationship Id="rId15" Target="../media/image12.png" Type="http://schemas.openxmlformats.org/officeDocument/2006/relationships/image"/><Relationship Id="rId16" Target="../media/image13.svg" Type="http://schemas.openxmlformats.org/officeDocument/2006/relationships/image"/><Relationship Id="rId17" Target="../media/image36.jpeg" Type="http://schemas.openxmlformats.org/officeDocument/2006/relationships/image"/><Relationship Id="rId18" Target="../media/image37.jpeg" Type="http://schemas.openxmlformats.org/officeDocument/2006/relationships/image"/><Relationship Id="rId19" Target="slide6.xml" Type="http://schemas.openxmlformats.org/officeDocument/2006/relationships/slide"/><Relationship Id="rId2" Target="../media/image35.jpeg" Type="http://schemas.openxmlformats.org/officeDocument/2006/relationships/image"/><Relationship Id="rId20" Target="slide2.xml" Type="http://schemas.openxmlformats.org/officeDocument/2006/relationships/slide"/><Relationship Id="rId21" Target="slide8.xml" Type="http://schemas.openxmlformats.org/officeDocument/2006/relationships/slid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Relationship Id="rId7" Target="../media/image21.png" Type="http://schemas.openxmlformats.org/officeDocument/2006/relationships/image"/><Relationship Id="rId8" Target="../media/image22.sv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svg" Type="http://schemas.openxmlformats.org/officeDocument/2006/relationships/image"/><Relationship Id="rId11" Target="../media/image23.png" Type="http://schemas.openxmlformats.org/officeDocument/2006/relationships/image"/><Relationship Id="rId12" Target="../media/image24.svg" Type="http://schemas.openxmlformats.org/officeDocument/2006/relationships/image"/><Relationship Id="rId13" Target="../media/image10.png" Type="http://schemas.openxmlformats.org/officeDocument/2006/relationships/image"/><Relationship Id="rId14" Target="../media/image11.svg" Type="http://schemas.openxmlformats.org/officeDocument/2006/relationships/image"/><Relationship Id="rId15" Target="../media/image39.jpeg" Type="http://schemas.openxmlformats.org/officeDocument/2006/relationships/image"/><Relationship Id="rId16" Target="../media/image40.jpeg" Type="http://schemas.openxmlformats.org/officeDocument/2006/relationships/image"/><Relationship Id="rId17" Target="../media/image41.jpeg" Type="http://schemas.openxmlformats.org/officeDocument/2006/relationships/image"/><Relationship Id="rId18" Target="slide2.xml" Type="http://schemas.openxmlformats.org/officeDocument/2006/relationships/slide"/><Relationship Id="rId19" Target="slide7.xml" Type="http://schemas.openxmlformats.org/officeDocument/2006/relationships/slide"/><Relationship Id="rId2" Target="../media/image38.jpeg" Type="http://schemas.openxmlformats.org/officeDocument/2006/relationships/image"/><Relationship Id="rId20" Target="slide9.xml" Type="http://schemas.openxmlformats.org/officeDocument/2006/relationships/slid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Relationship Id="rId7" Target="../media/image21.png" Type="http://schemas.openxmlformats.org/officeDocument/2006/relationships/image"/><Relationship Id="rId8" Target="../media/image22.sv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svg" Type="http://schemas.openxmlformats.org/officeDocument/2006/relationships/image"/><Relationship Id="rId11" Target="../media/image29.png" Type="http://schemas.openxmlformats.org/officeDocument/2006/relationships/image"/><Relationship Id="rId12" Target="../media/image30.svg" Type="http://schemas.openxmlformats.org/officeDocument/2006/relationships/image"/><Relationship Id="rId13" Target="../media/image23.png" Type="http://schemas.openxmlformats.org/officeDocument/2006/relationships/image"/><Relationship Id="rId14" Target="../media/image24.svg" Type="http://schemas.openxmlformats.org/officeDocument/2006/relationships/image"/><Relationship Id="rId15" Target="../media/image10.png" Type="http://schemas.openxmlformats.org/officeDocument/2006/relationships/image"/><Relationship Id="rId16" Target="../media/image11.svg" Type="http://schemas.openxmlformats.org/officeDocument/2006/relationships/image"/><Relationship Id="rId17" Target="../media/image43.png" Type="http://schemas.openxmlformats.org/officeDocument/2006/relationships/image"/><Relationship Id="rId18" Target="../media/image44.png" Type="http://schemas.openxmlformats.org/officeDocument/2006/relationships/image"/><Relationship Id="rId19" Target="slide2.xml" Type="http://schemas.openxmlformats.org/officeDocument/2006/relationships/slide"/><Relationship Id="rId2" Target="../media/image42.jpeg" Type="http://schemas.openxmlformats.org/officeDocument/2006/relationships/image"/><Relationship Id="rId20" Target="slide8.xml" Type="http://schemas.openxmlformats.org/officeDocument/2006/relationships/slide"/><Relationship Id="rId21" Target="slide10.xml" Type="http://schemas.openxmlformats.org/officeDocument/2006/relationships/slid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9.png" Type="http://schemas.openxmlformats.org/officeDocument/2006/relationships/image"/><Relationship Id="rId8" Target="../media/image20.sv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svg" Type="http://schemas.openxmlformats.org/officeDocument/2006/relationships/image"/><Relationship Id="rId11" Target="../media/image29.png" Type="http://schemas.openxmlformats.org/officeDocument/2006/relationships/image"/><Relationship Id="rId12" Target="../media/image30.svg" Type="http://schemas.openxmlformats.org/officeDocument/2006/relationships/image"/><Relationship Id="rId13" Target="../media/image23.png" Type="http://schemas.openxmlformats.org/officeDocument/2006/relationships/image"/><Relationship Id="rId14" Target="../media/image24.svg" Type="http://schemas.openxmlformats.org/officeDocument/2006/relationships/image"/><Relationship Id="rId15" Target="../media/image46.jpeg" Type="http://schemas.openxmlformats.org/officeDocument/2006/relationships/image"/><Relationship Id="rId16" Target="../media/image47.jpeg" Type="http://schemas.openxmlformats.org/officeDocument/2006/relationships/image"/><Relationship Id="rId17" Target="../media/image48.jpeg" Type="http://schemas.openxmlformats.org/officeDocument/2006/relationships/image"/><Relationship Id="rId18" Target="../media/image49.jpeg" Type="http://schemas.openxmlformats.org/officeDocument/2006/relationships/image"/><Relationship Id="rId19" Target="../media/image50.jpeg" Type="http://schemas.openxmlformats.org/officeDocument/2006/relationships/image"/><Relationship Id="rId2" Target="../media/image45.jpeg" Type="http://schemas.openxmlformats.org/officeDocument/2006/relationships/image"/><Relationship Id="rId20" Target="../media/image51.jpeg" Type="http://schemas.openxmlformats.org/officeDocument/2006/relationships/image"/><Relationship Id="rId21" Target="slide2.xml" Type="http://schemas.openxmlformats.org/officeDocument/2006/relationships/slide"/><Relationship Id="rId22" Target="slide9.xml" Type="http://schemas.openxmlformats.org/officeDocument/2006/relationships/slid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9.png" Type="http://schemas.openxmlformats.org/officeDocument/2006/relationships/image"/><Relationship Id="rId8" Target="../media/image20.sv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jpeg" Type="http://schemas.openxmlformats.org/officeDocument/2006/relationships/image"/><Relationship Id="rId11" Target="../media/image16.jpeg" Type="http://schemas.openxmlformats.org/officeDocument/2006/relationships/image"/><Relationship Id="rId12" Target="../media/image36.jpeg" Type="http://schemas.openxmlformats.org/officeDocument/2006/relationships/image"/><Relationship Id="rId13" Target="../media/image49.jpeg" Type="http://schemas.openxmlformats.org/officeDocument/2006/relationships/image"/><Relationship Id="rId14" Target="slide2.xml" Type="http://schemas.openxmlformats.org/officeDocument/2006/relationships/slide"/><Relationship Id="rId15" Target="slide10.xml" Type="http://schemas.openxmlformats.org/officeDocument/2006/relationships/slide"/><Relationship Id="rId2" Target="../media/image52.jpeg" Type="http://schemas.openxmlformats.org/officeDocument/2006/relationships/image"/><Relationship Id="rId3" Target="../media/image53.png" Type="http://schemas.openxmlformats.org/officeDocument/2006/relationships/image"/><Relationship Id="rId4" Target="../media/image54.svg" Type="http://schemas.openxmlformats.org/officeDocument/2006/relationships/image"/><Relationship Id="rId5" Target="../media/image55.png" Type="http://schemas.openxmlformats.org/officeDocument/2006/relationships/image"/><Relationship Id="rId6" Target="../media/image56.svg" Type="http://schemas.openxmlformats.org/officeDocument/2006/relationships/image"/><Relationship Id="rId7" Target="../media/image57.png" Type="http://schemas.openxmlformats.org/officeDocument/2006/relationships/image"/><Relationship Id="rId8" Target="../media/image58.svg" Type="http://schemas.openxmlformats.org/officeDocument/2006/relationships/image"/><Relationship Id="rId9" Target="../media/image4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0B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57469" y="6427242"/>
            <a:ext cx="14963387" cy="2999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66"/>
              </a:lnSpc>
            </a:pPr>
            <a:r>
              <a:rPr lang="en-US" sz="3866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Andrade Chaguala Saray Tatiana</a:t>
            </a:r>
          </a:p>
          <a:p>
            <a:pPr algn="ctr">
              <a:lnSpc>
                <a:spcPts val="3866"/>
              </a:lnSpc>
            </a:pPr>
          </a:p>
          <a:p>
            <a:pPr algn="ctr">
              <a:lnSpc>
                <a:spcPts val="3866"/>
              </a:lnSpc>
            </a:pPr>
            <a:r>
              <a:rPr lang="en-US" sz="3866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Melo Sánchez Laura camila</a:t>
            </a:r>
          </a:p>
          <a:p>
            <a:pPr algn="ctr">
              <a:lnSpc>
                <a:spcPts val="3866"/>
              </a:lnSpc>
            </a:pPr>
          </a:p>
          <a:p>
            <a:pPr algn="ctr">
              <a:lnSpc>
                <a:spcPts val="3866"/>
              </a:lnSpc>
            </a:pPr>
            <a:r>
              <a:rPr lang="en-US" sz="3866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Peña Urquiola Estefani Andreina </a:t>
            </a:r>
          </a:p>
          <a:p>
            <a:pPr algn="ctr">
              <a:lnSpc>
                <a:spcPts val="3866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-1203659">
            <a:off x="14251947" y="6889921"/>
            <a:ext cx="3313189" cy="2223978"/>
          </a:xfrm>
          <a:custGeom>
            <a:avLst/>
            <a:gdLst/>
            <a:ahLst/>
            <a:cxnLst/>
            <a:rect r="r" b="b" t="t" l="l"/>
            <a:pathLst>
              <a:path h="2223978" w="3313189">
                <a:moveTo>
                  <a:pt x="0" y="0"/>
                </a:moveTo>
                <a:lnTo>
                  <a:pt x="3313189" y="0"/>
                </a:lnTo>
                <a:lnTo>
                  <a:pt x="3313189" y="2223978"/>
                </a:lnTo>
                <a:lnTo>
                  <a:pt x="0" y="22239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817223" y="518206"/>
            <a:ext cx="15643879" cy="4625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48"/>
              </a:lnSpc>
            </a:pPr>
            <a:r>
              <a:rPr lang="en-US" b="true" sz="17848">
                <a:solidFill>
                  <a:srgbClr val="000000"/>
                </a:solidFill>
                <a:latin typeface="Flatory Slab Bold"/>
                <a:ea typeface="Flatory Slab Bold"/>
                <a:cs typeface="Flatory Slab Bold"/>
                <a:sym typeface="Flatory Slab Bold"/>
              </a:rPr>
              <a:t>SISTEMA EXPERTO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764566" y="5275148"/>
            <a:ext cx="1009801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Profesora : Ana María Ocasión</a:t>
            </a:r>
            <a:r>
              <a:rPr lang="en-US" sz="5199" b="true">
                <a:solidFill>
                  <a:srgbClr val="9B302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244681" y="9163050"/>
            <a:ext cx="478896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Curso:1102 J.M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783064" y="216904"/>
            <a:ext cx="2121941" cy="2472601"/>
          </a:xfrm>
          <a:custGeom>
            <a:avLst/>
            <a:gdLst/>
            <a:ahLst/>
            <a:cxnLst/>
            <a:rect r="r" b="b" t="t" l="l"/>
            <a:pathLst>
              <a:path h="2472601" w="2121941">
                <a:moveTo>
                  <a:pt x="0" y="0"/>
                </a:moveTo>
                <a:lnTo>
                  <a:pt x="2121941" y="0"/>
                </a:lnTo>
                <a:lnTo>
                  <a:pt x="2121941" y="2472601"/>
                </a:lnTo>
                <a:lnTo>
                  <a:pt x="0" y="24726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-862944" y="4539083"/>
            <a:ext cx="7519302" cy="1289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35"/>
              </a:lnSpc>
            </a:pPr>
            <a:r>
              <a:rPr lang="en-US" b="true" sz="9735">
                <a:solidFill>
                  <a:srgbClr val="FAFAFA"/>
                </a:solidFill>
                <a:latin typeface="Flatory Slab Bold"/>
                <a:ea typeface="Flatory Slab Bold"/>
                <a:cs typeface="Flatory Slab Bold"/>
                <a:sym typeface="Flatory Slab Bold"/>
              </a:rPr>
              <a:t>INDICE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536032" y="1887678"/>
            <a:ext cx="9654042" cy="801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77585" indent="-588792" lvl="1">
              <a:lnSpc>
                <a:spcPts val="5781"/>
              </a:lnSpc>
              <a:buFont typeface="Arial"/>
              <a:buChar char="•"/>
            </a:pPr>
            <a:r>
              <a:rPr lang="en-US" b="true" sz="5454" u="sng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  <a:hlinkClick r:id="rId5" action="ppaction://hlinksldjump"/>
              </a:rPr>
              <a:t>2</a:t>
            </a:r>
            <a:r>
              <a:rPr lang="en-US" b="true" sz="5454" u="sng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.</a:t>
            </a:r>
            <a:r>
              <a:rPr lang="en-US" b="true" sz="5454" u="sng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  <a:hlinkClick r:id="rId5" action="ppaction://hlinksldjump"/>
              </a:rPr>
              <a:t> CAPACIDADES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536032" y="2718080"/>
            <a:ext cx="9654042" cy="801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77585" indent="-588792" lvl="1">
              <a:lnSpc>
                <a:spcPts val="5781"/>
              </a:lnSpc>
              <a:buFont typeface="Arial"/>
              <a:buChar char="•"/>
            </a:pPr>
            <a:r>
              <a:rPr lang="en-US" b="true" sz="5454" u="sng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  <a:hlinkClick r:id="rId6" action="ppaction://hlinksldjump"/>
              </a:rPr>
              <a:t>3. TIPOS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536032" y="3548483"/>
            <a:ext cx="9654042" cy="801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77585" indent="-588792" lvl="1">
              <a:lnSpc>
                <a:spcPts val="5781"/>
              </a:lnSpc>
              <a:buFont typeface="Arial"/>
              <a:buChar char="•"/>
            </a:pPr>
            <a:r>
              <a:rPr lang="en-US" b="true" sz="5454" u="sng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  <a:hlinkClick r:id="rId7" action="ppaction://hlinksldjump"/>
              </a:rPr>
              <a:t>4. VENTAJAS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536032" y="4377158"/>
            <a:ext cx="9654042" cy="801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77585" indent="-588792" lvl="1">
              <a:lnSpc>
                <a:spcPts val="5781"/>
              </a:lnSpc>
              <a:buFont typeface="Arial"/>
              <a:buChar char="•"/>
            </a:pPr>
            <a:r>
              <a:rPr lang="en-US" b="true" sz="5454" u="sng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  <a:hlinkClick r:id="rId8" action="ppaction://hlinksldjump"/>
              </a:rPr>
              <a:t>5. LIMITACIONES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536032" y="5172075"/>
            <a:ext cx="9654042" cy="801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77585" indent="-588792" lvl="1">
              <a:lnSpc>
                <a:spcPts val="5781"/>
              </a:lnSpc>
              <a:buFont typeface="Arial"/>
              <a:buChar char="•"/>
            </a:pPr>
            <a:r>
              <a:rPr lang="en-US" b="true" sz="5454" u="sng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  <a:hlinkClick r:id="rId9" action="ppaction://hlinksldjump"/>
              </a:rPr>
              <a:t>6. ESTRUCTURA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536032" y="6975755"/>
            <a:ext cx="9654042" cy="2268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77585" indent="-588792" lvl="1">
              <a:lnSpc>
                <a:spcPts val="5781"/>
              </a:lnSpc>
              <a:buFont typeface="Arial"/>
              <a:buChar char="•"/>
            </a:pPr>
            <a:r>
              <a:rPr lang="en-US" b="true" sz="5454" u="sng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  <a:hlinkClick r:id="rId10" action="ppaction://hlinksldjump"/>
              </a:rPr>
              <a:t>8.EJEMPLOS DE SU USO EN VIDA COTIDIANA Y PROFESIONAL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536032" y="1057275"/>
            <a:ext cx="9654042" cy="801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77585" indent="-588792" lvl="1">
              <a:lnSpc>
                <a:spcPts val="5781"/>
              </a:lnSpc>
              <a:buFont typeface="Arial"/>
              <a:buChar char="•"/>
            </a:pPr>
            <a:r>
              <a:rPr lang="en-US" b="true" sz="5454" u="sng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  <a:hlinkClick r:id="rId11" action="ppaction://hlinksldjump"/>
              </a:rPr>
              <a:t>1. DEFINICIÓN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536032" y="6002478"/>
            <a:ext cx="9654042" cy="801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77585" indent="-588792" lvl="1">
              <a:lnSpc>
                <a:spcPts val="5781"/>
              </a:lnSpc>
              <a:buFont typeface="Arial"/>
              <a:buChar char="•"/>
            </a:pPr>
            <a:r>
              <a:rPr lang="en-US" b="true" sz="5454" u="sng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  <a:hlinkClick r:id="rId12" action="ppaction://hlinksldjump"/>
              </a:rPr>
              <a:t>7. TAREAS QUE REALIZA 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328427" y="7502581"/>
            <a:ext cx="2121941" cy="2472601"/>
          </a:xfrm>
          <a:custGeom>
            <a:avLst/>
            <a:gdLst/>
            <a:ahLst/>
            <a:cxnLst/>
            <a:rect r="r" b="b" t="t" l="l"/>
            <a:pathLst>
              <a:path h="2472601" w="2121941">
                <a:moveTo>
                  <a:pt x="0" y="0"/>
                </a:moveTo>
                <a:lnTo>
                  <a:pt x="2121942" y="0"/>
                </a:lnTo>
                <a:lnTo>
                  <a:pt x="2121942" y="2472602"/>
                </a:lnTo>
                <a:lnTo>
                  <a:pt x="0" y="24726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536032" y="9273008"/>
            <a:ext cx="9654042" cy="801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77585" indent="-588792" lvl="1">
              <a:lnSpc>
                <a:spcPts val="5781"/>
              </a:lnSpc>
              <a:buFont typeface="Arial"/>
              <a:buChar char="•"/>
            </a:pPr>
            <a:r>
              <a:rPr lang="en-US" b="true" sz="5454" u="sng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  <a:hlinkClick r:id="rId13" action="ppaction://hlinksldjump"/>
              </a:rPr>
              <a:t>9.MAPA CONCEPTUAL </a:t>
            </a:r>
          </a:p>
        </p:txBody>
      </p:sp>
    </p:spTree>
  </p:cSld>
  <p:clrMapOvr>
    <a:masterClrMapping/>
  </p:clrMapOvr>
  <p:transition spd="fast">
    <p:cover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3593" y="581793"/>
            <a:ext cx="6448633" cy="8911427"/>
          </a:xfrm>
          <a:custGeom>
            <a:avLst/>
            <a:gdLst/>
            <a:ahLst/>
            <a:cxnLst/>
            <a:rect r="r" b="b" t="t" l="l"/>
            <a:pathLst>
              <a:path h="8911427" w="6448633">
                <a:moveTo>
                  <a:pt x="0" y="0"/>
                </a:moveTo>
                <a:lnTo>
                  <a:pt x="6448633" y="0"/>
                </a:lnTo>
                <a:lnTo>
                  <a:pt x="6448633" y="8911427"/>
                </a:lnTo>
                <a:lnTo>
                  <a:pt x="0" y="89114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2235649" y="712795"/>
            <a:ext cx="6078480" cy="8399910"/>
          </a:xfrm>
          <a:custGeom>
            <a:avLst/>
            <a:gdLst/>
            <a:ahLst/>
            <a:cxnLst/>
            <a:rect r="r" b="b" t="t" l="l"/>
            <a:pathLst>
              <a:path h="8399910" w="6078480">
                <a:moveTo>
                  <a:pt x="0" y="0"/>
                </a:moveTo>
                <a:lnTo>
                  <a:pt x="6078480" y="0"/>
                </a:lnTo>
                <a:lnTo>
                  <a:pt x="6078480" y="8399910"/>
                </a:lnTo>
                <a:lnTo>
                  <a:pt x="0" y="83999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true" flipV="false" rot="0">
            <a:off x="5384119" y="2282412"/>
            <a:ext cx="1434503" cy="394703"/>
          </a:xfrm>
          <a:custGeom>
            <a:avLst/>
            <a:gdLst/>
            <a:ahLst/>
            <a:cxnLst/>
            <a:rect r="r" b="b" t="t" l="l"/>
            <a:pathLst>
              <a:path h="394703" w="1434503">
                <a:moveTo>
                  <a:pt x="1434503" y="0"/>
                </a:moveTo>
                <a:lnTo>
                  <a:pt x="0" y="0"/>
                </a:lnTo>
                <a:lnTo>
                  <a:pt x="0" y="394703"/>
                </a:lnTo>
                <a:lnTo>
                  <a:pt x="1434503" y="394703"/>
                </a:lnTo>
                <a:lnTo>
                  <a:pt x="1434503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0800000">
            <a:off x="11839536" y="7639081"/>
            <a:ext cx="1434503" cy="394703"/>
          </a:xfrm>
          <a:custGeom>
            <a:avLst/>
            <a:gdLst/>
            <a:ahLst/>
            <a:cxnLst/>
            <a:rect r="r" b="b" t="t" l="l"/>
            <a:pathLst>
              <a:path h="394703" w="1434503">
                <a:moveTo>
                  <a:pt x="1434503" y="0"/>
                </a:moveTo>
                <a:lnTo>
                  <a:pt x="0" y="0"/>
                </a:lnTo>
                <a:lnTo>
                  <a:pt x="0" y="394703"/>
                </a:lnTo>
                <a:lnTo>
                  <a:pt x="1434503" y="394703"/>
                </a:lnTo>
                <a:lnTo>
                  <a:pt x="1434503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5384119" y="7559531"/>
            <a:ext cx="1434503" cy="394703"/>
          </a:xfrm>
          <a:custGeom>
            <a:avLst/>
            <a:gdLst/>
            <a:ahLst/>
            <a:cxnLst/>
            <a:rect r="r" b="b" t="t" l="l"/>
            <a:pathLst>
              <a:path h="394703" w="1434503">
                <a:moveTo>
                  <a:pt x="1434503" y="394703"/>
                </a:moveTo>
                <a:lnTo>
                  <a:pt x="0" y="394703"/>
                </a:lnTo>
                <a:lnTo>
                  <a:pt x="0" y="0"/>
                </a:lnTo>
                <a:lnTo>
                  <a:pt x="1434503" y="0"/>
                </a:lnTo>
                <a:lnTo>
                  <a:pt x="1434503" y="394703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-10800000">
            <a:off x="11839536" y="2479763"/>
            <a:ext cx="1434503" cy="394703"/>
          </a:xfrm>
          <a:custGeom>
            <a:avLst/>
            <a:gdLst/>
            <a:ahLst/>
            <a:cxnLst/>
            <a:rect r="r" b="b" t="t" l="l"/>
            <a:pathLst>
              <a:path h="394703" w="1434503">
                <a:moveTo>
                  <a:pt x="1434503" y="394703"/>
                </a:moveTo>
                <a:lnTo>
                  <a:pt x="0" y="394703"/>
                </a:lnTo>
                <a:lnTo>
                  <a:pt x="0" y="0"/>
                </a:lnTo>
                <a:lnTo>
                  <a:pt x="1434503" y="0"/>
                </a:lnTo>
                <a:lnTo>
                  <a:pt x="1434503" y="394703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419386" y="333584"/>
            <a:ext cx="5449228" cy="8348400"/>
          </a:xfrm>
          <a:custGeom>
            <a:avLst/>
            <a:gdLst/>
            <a:ahLst/>
            <a:cxnLst/>
            <a:rect r="r" b="b" t="t" l="l"/>
            <a:pathLst>
              <a:path h="8348400" w="5449228">
                <a:moveTo>
                  <a:pt x="0" y="0"/>
                </a:moveTo>
                <a:lnTo>
                  <a:pt x="5449228" y="0"/>
                </a:lnTo>
                <a:lnTo>
                  <a:pt x="5449228" y="8348399"/>
                </a:lnTo>
                <a:lnTo>
                  <a:pt x="0" y="834839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512226" y="3402382"/>
            <a:ext cx="3310611" cy="2898171"/>
          </a:xfrm>
          <a:custGeom>
            <a:avLst/>
            <a:gdLst/>
            <a:ahLst/>
            <a:cxnLst/>
            <a:rect r="r" b="b" t="t" l="l"/>
            <a:pathLst>
              <a:path h="2898171" w="3310611">
                <a:moveTo>
                  <a:pt x="0" y="0"/>
                </a:moveTo>
                <a:lnTo>
                  <a:pt x="3310611" y="0"/>
                </a:lnTo>
                <a:lnTo>
                  <a:pt x="3310611" y="2898170"/>
                </a:lnTo>
                <a:lnTo>
                  <a:pt x="0" y="289817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7115" r="0" b="-7115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144000" y="5446213"/>
            <a:ext cx="2359665" cy="2587571"/>
          </a:xfrm>
          <a:custGeom>
            <a:avLst/>
            <a:gdLst/>
            <a:ahLst/>
            <a:cxnLst/>
            <a:rect r="r" b="b" t="t" l="l"/>
            <a:pathLst>
              <a:path h="2587571" w="2359665">
                <a:moveTo>
                  <a:pt x="0" y="0"/>
                </a:moveTo>
                <a:lnTo>
                  <a:pt x="2359665" y="0"/>
                </a:lnTo>
                <a:lnTo>
                  <a:pt x="2359665" y="2587571"/>
                </a:lnTo>
                <a:lnTo>
                  <a:pt x="0" y="258757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-11737" r="0" b="-2505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78495" y="6459268"/>
            <a:ext cx="3096000" cy="2064000"/>
          </a:xfrm>
          <a:custGeom>
            <a:avLst/>
            <a:gdLst/>
            <a:ahLst/>
            <a:cxnLst/>
            <a:rect r="r" b="b" t="t" l="l"/>
            <a:pathLst>
              <a:path h="2064000" w="3096000">
                <a:moveTo>
                  <a:pt x="0" y="0"/>
                </a:moveTo>
                <a:lnTo>
                  <a:pt x="3095999" y="0"/>
                </a:lnTo>
                <a:lnTo>
                  <a:pt x="3095999" y="2064000"/>
                </a:lnTo>
                <a:lnTo>
                  <a:pt x="0" y="20640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100675" y="6300552"/>
            <a:ext cx="2222715" cy="2222715"/>
          </a:xfrm>
          <a:custGeom>
            <a:avLst/>
            <a:gdLst/>
            <a:ahLst/>
            <a:cxnLst/>
            <a:rect r="r" b="b" t="t" l="l"/>
            <a:pathLst>
              <a:path h="2222715" w="2222715">
                <a:moveTo>
                  <a:pt x="0" y="0"/>
                </a:moveTo>
                <a:lnTo>
                  <a:pt x="2222716" y="0"/>
                </a:lnTo>
                <a:lnTo>
                  <a:pt x="2222716" y="2222716"/>
                </a:lnTo>
                <a:lnTo>
                  <a:pt x="0" y="222271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7349701" y="8186184"/>
            <a:ext cx="3196457" cy="2025253"/>
            <a:chOff x="0" y="0"/>
            <a:chExt cx="841865" cy="533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41865" cy="533400"/>
            </a:xfrm>
            <a:custGeom>
              <a:avLst/>
              <a:gdLst/>
              <a:ahLst/>
              <a:cxnLst/>
              <a:rect r="r" b="b" t="t" l="l"/>
              <a:pathLst>
                <a:path h="533400" w="841865">
                  <a:moveTo>
                    <a:pt x="477993" y="0"/>
                  </a:moveTo>
                  <a:cubicBezTo>
                    <a:pt x="487227" y="0"/>
                    <a:pt x="496516" y="0"/>
                    <a:pt x="505732" y="0"/>
                  </a:cubicBezTo>
                  <a:cubicBezTo>
                    <a:pt x="579207" y="8909"/>
                    <a:pt x="625126" y="38564"/>
                    <a:pt x="646041" y="87090"/>
                  </a:cubicBezTo>
                  <a:cubicBezTo>
                    <a:pt x="768536" y="80618"/>
                    <a:pt x="857054" y="172373"/>
                    <a:pt x="803321" y="262426"/>
                  </a:cubicBezTo>
                  <a:cubicBezTo>
                    <a:pt x="821370" y="281349"/>
                    <a:pt x="836427" y="302517"/>
                    <a:pt x="841865" y="330926"/>
                  </a:cubicBezTo>
                  <a:cubicBezTo>
                    <a:pt x="841865" y="339065"/>
                    <a:pt x="841865" y="347184"/>
                    <a:pt x="841865" y="355321"/>
                  </a:cubicBezTo>
                  <a:cubicBezTo>
                    <a:pt x="825659" y="427627"/>
                    <a:pt x="755925" y="476486"/>
                    <a:pt x="641441" y="463333"/>
                  </a:cubicBezTo>
                  <a:cubicBezTo>
                    <a:pt x="611985" y="500459"/>
                    <a:pt x="559571" y="537638"/>
                    <a:pt x="478010" y="533008"/>
                  </a:cubicBezTo>
                  <a:cubicBezTo>
                    <a:pt x="435852" y="530570"/>
                    <a:pt x="406524" y="516453"/>
                    <a:pt x="380845" y="499302"/>
                  </a:cubicBezTo>
                  <a:cubicBezTo>
                    <a:pt x="353799" y="513559"/>
                    <a:pt x="324507" y="524747"/>
                    <a:pt x="282185" y="524871"/>
                  </a:cubicBezTo>
                  <a:cubicBezTo>
                    <a:pt x="184272" y="525082"/>
                    <a:pt x="118773" y="470155"/>
                    <a:pt x="117185" y="394815"/>
                  </a:cubicBezTo>
                  <a:cubicBezTo>
                    <a:pt x="54240" y="377190"/>
                    <a:pt x="11607" y="344291"/>
                    <a:pt x="0" y="287995"/>
                  </a:cubicBezTo>
                  <a:cubicBezTo>
                    <a:pt x="0" y="279858"/>
                    <a:pt x="0" y="271704"/>
                    <a:pt x="0" y="263601"/>
                  </a:cubicBezTo>
                  <a:cubicBezTo>
                    <a:pt x="12812" y="207816"/>
                    <a:pt x="53126" y="172776"/>
                    <a:pt x="120251" y="157922"/>
                  </a:cubicBezTo>
                  <a:cubicBezTo>
                    <a:pt x="116218" y="63818"/>
                    <a:pt x="250485" y="5016"/>
                    <a:pt x="360789" y="46474"/>
                  </a:cubicBezTo>
                  <a:cubicBezTo>
                    <a:pt x="387051" y="25973"/>
                    <a:pt x="424208" y="3613"/>
                    <a:pt x="47799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39462" y="41275"/>
              <a:ext cx="762940" cy="415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37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305204" y="8058925"/>
            <a:ext cx="2782156" cy="2107561"/>
            <a:chOff x="0" y="0"/>
            <a:chExt cx="1072964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72964" cy="812800"/>
            </a:xfrm>
            <a:custGeom>
              <a:avLst/>
              <a:gdLst/>
              <a:ahLst/>
              <a:cxnLst/>
              <a:rect r="r" b="b" t="t" l="l"/>
              <a:pathLst>
                <a:path h="812800" w="1072964">
                  <a:moveTo>
                    <a:pt x="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1072964" y="203200"/>
                  </a:lnTo>
                  <a:lnTo>
                    <a:pt x="1072964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0" y="406400"/>
                  </a:ln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101600" y="155575"/>
              <a:ext cx="971364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37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812858" y="8058925"/>
            <a:ext cx="2861019" cy="2152512"/>
            <a:chOff x="0" y="0"/>
            <a:chExt cx="1080336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80336" cy="812800"/>
            </a:xfrm>
            <a:custGeom>
              <a:avLst/>
              <a:gdLst/>
              <a:ahLst/>
              <a:cxnLst/>
              <a:rect r="r" b="b" t="t" l="l"/>
              <a:pathLst>
                <a:path h="812800" w="1080336">
                  <a:moveTo>
                    <a:pt x="1080336" y="406400"/>
                  </a:moveTo>
                  <a:lnTo>
                    <a:pt x="673936" y="0"/>
                  </a:lnTo>
                  <a:lnTo>
                    <a:pt x="673936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673936" y="609600"/>
                  </a:lnTo>
                  <a:lnTo>
                    <a:pt x="673936" y="812800"/>
                  </a:lnTo>
                  <a:lnTo>
                    <a:pt x="1080336" y="406400"/>
                  </a:ln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155575"/>
              <a:ext cx="978736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37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6548045" y="2104248"/>
            <a:ext cx="5476620" cy="903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43"/>
              </a:lnSpc>
            </a:pPr>
            <a:r>
              <a:rPr lang="en-US" sz="6952">
                <a:solidFill>
                  <a:srgbClr val="0097B2"/>
                </a:solidFill>
                <a:latin typeface="Flatory Slab"/>
                <a:ea typeface="Flatory Slab"/>
                <a:cs typeface="Flatory Slab"/>
                <a:sym typeface="Flatory Slab"/>
              </a:rPr>
              <a:t>DEFINICIÓN</a:t>
            </a:r>
            <a:r>
              <a:rPr lang="en-US" sz="6952">
                <a:solidFill>
                  <a:srgbClr val="AB453F"/>
                </a:solidFill>
                <a:latin typeface="Flatory Slab"/>
                <a:ea typeface="Flatory Slab"/>
                <a:cs typeface="Flatory Slab"/>
                <a:sym typeface="Flatory Slab"/>
              </a:rPr>
              <a:t>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8700" y="2037573"/>
            <a:ext cx="4667582" cy="4262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5"/>
              </a:lnSpc>
            </a:pPr>
            <a:r>
              <a:rPr lang="en-US" sz="4294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ES UNA APLICACIÓN INFORMÁTICA CAPAZ DE SOLUCIONAR UN CONJUNTO DE PROBLEMAS QUE EXIGEN UN GRAN CONOCIMIENTO SOBRE</a:t>
            </a:r>
          </a:p>
          <a:p>
            <a:pPr algn="ctr">
              <a:lnSpc>
                <a:spcPts val="4165"/>
              </a:lnSpc>
            </a:pPr>
            <a:r>
              <a:rPr lang="en-US" sz="4294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un determinado tema.</a:t>
            </a:r>
          </a:p>
          <a:p>
            <a:pPr algn="ctr" marL="0" indent="0" lvl="0">
              <a:lnSpc>
                <a:spcPts val="4165"/>
              </a:lnSpc>
              <a:spcBef>
                <a:spcPct val="0"/>
              </a:spcBef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12876427" y="1544691"/>
            <a:ext cx="4796924" cy="4755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9"/>
              </a:lnSpc>
            </a:pPr>
            <a:r>
              <a:rPr lang="en-US" sz="3999">
                <a:solidFill>
                  <a:srgbClr val="0D0711"/>
                </a:solidFill>
                <a:latin typeface="Handy Casual"/>
                <a:ea typeface="Handy Casual"/>
                <a:cs typeface="Handy Casual"/>
                <a:sym typeface="Handy Casual"/>
              </a:rPr>
              <a:t> TAMBIÉN SE PUEDE ENTENDER COMO UNA RAMA DE LA INTELIGENCIA ARTIFICIAL, DONDE EL PODER DE</a:t>
            </a:r>
          </a:p>
          <a:p>
            <a:pPr algn="ctr">
              <a:lnSpc>
                <a:spcPts val="3879"/>
              </a:lnSpc>
            </a:pPr>
            <a:r>
              <a:rPr lang="en-US" sz="3999">
                <a:solidFill>
                  <a:srgbClr val="0D0711"/>
                </a:solidFill>
                <a:latin typeface="Handy Casual"/>
                <a:ea typeface="Handy Casual"/>
                <a:cs typeface="Handy Casual"/>
                <a:sym typeface="Handy Casual"/>
              </a:rPr>
              <a:t>resolución de un problema en un programa de computadora viene del conocimiento de un dominio específico. </a:t>
            </a:r>
          </a:p>
          <a:p>
            <a:pPr algn="ctr" marL="0" indent="0" lvl="0">
              <a:lnSpc>
                <a:spcPts val="2614"/>
              </a:lnSpc>
              <a:spcBef>
                <a:spcPct val="0"/>
              </a:spcBef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7798570" y="8532959"/>
            <a:ext cx="2525262" cy="1053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25"/>
              </a:lnSpc>
            </a:pPr>
            <a:r>
              <a:rPr lang="en-US" sz="6161" u="sng">
                <a:solidFill>
                  <a:srgbClr val="0097B2"/>
                </a:solidFill>
                <a:latin typeface="Open Sans"/>
                <a:ea typeface="Open Sans"/>
                <a:cs typeface="Open Sans"/>
                <a:sym typeface="Open Sans"/>
                <a:hlinkClick r:id="rId15" action="ppaction://hlinksldjump"/>
              </a:rPr>
              <a:t>INDICE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542894" y="8596258"/>
            <a:ext cx="3385511" cy="77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75"/>
              </a:lnSpc>
            </a:pPr>
            <a:r>
              <a:rPr lang="en-US" sz="4553" u="sng">
                <a:solidFill>
                  <a:srgbClr val="0097B2"/>
                </a:solidFill>
                <a:latin typeface="Open Sans"/>
                <a:ea typeface="Open Sans"/>
                <a:cs typeface="Open Sans"/>
                <a:sym typeface="Open Sans"/>
                <a:hlinkClick r:id="rId16" action="ppaction://hlinksldjump"/>
              </a:rPr>
              <a:t>Si</a:t>
            </a:r>
            <a:r>
              <a:rPr lang="en-US" sz="4553" u="sng">
                <a:solidFill>
                  <a:srgbClr val="0097B2"/>
                </a:solidFill>
                <a:latin typeface="Open Sans"/>
                <a:ea typeface="Open Sans"/>
                <a:cs typeface="Open Sans"/>
                <a:sym typeface="Open Sans"/>
              </a:rPr>
              <a:t>g</a:t>
            </a:r>
            <a:r>
              <a:rPr lang="en-US" sz="4553" u="sng">
                <a:solidFill>
                  <a:srgbClr val="0097B2"/>
                </a:solidFill>
                <a:latin typeface="Open Sans"/>
                <a:ea typeface="Open Sans"/>
                <a:cs typeface="Open Sans"/>
                <a:sym typeface="Open Sans"/>
                <a:hlinkClick r:id="rId16" action="ppaction://hlinksldjump"/>
              </a:rPr>
              <a:t>uiente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908448" y="8720512"/>
            <a:ext cx="2174568" cy="712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55"/>
              </a:lnSpc>
            </a:pPr>
            <a:r>
              <a:rPr lang="en-US" sz="4182" u="sng">
                <a:solidFill>
                  <a:srgbClr val="0097B2"/>
                </a:solidFill>
                <a:latin typeface="Open Sans"/>
                <a:ea typeface="Open Sans"/>
                <a:cs typeface="Open Sans"/>
                <a:sym typeface="Open Sans"/>
                <a:hlinkClick r:id="rId15" action="ppaction://hlinksldjump"/>
              </a:rPr>
              <a:t>Anterior </a:t>
            </a:r>
          </a:p>
        </p:txBody>
      </p:sp>
    </p:spTree>
  </p:cSld>
  <p:clrMapOvr>
    <a:masterClrMapping/>
  </p:clrMapOvr>
  <p:transition spd="fast">
    <p:cover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747" r="0" b="-1674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1700710" y="-628499"/>
            <a:ext cx="3291352" cy="4548351"/>
          </a:xfrm>
          <a:custGeom>
            <a:avLst/>
            <a:gdLst/>
            <a:ahLst/>
            <a:cxnLst/>
            <a:rect r="r" b="b" t="t" l="l"/>
            <a:pathLst>
              <a:path h="4548351" w="3291352">
                <a:moveTo>
                  <a:pt x="0" y="0"/>
                </a:moveTo>
                <a:lnTo>
                  <a:pt x="3291352" y="0"/>
                </a:lnTo>
                <a:lnTo>
                  <a:pt x="3291352" y="4548350"/>
                </a:lnTo>
                <a:lnTo>
                  <a:pt x="0" y="45483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5400000">
            <a:off x="892816" y="1919365"/>
            <a:ext cx="4968339" cy="6865795"/>
          </a:xfrm>
          <a:custGeom>
            <a:avLst/>
            <a:gdLst/>
            <a:ahLst/>
            <a:cxnLst/>
            <a:rect r="r" b="b" t="t" l="l"/>
            <a:pathLst>
              <a:path h="6865795" w="4968339">
                <a:moveTo>
                  <a:pt x="0" y="0"/>
                </a:moveTo>
                <a:lnTo>
                  <a:pt x="4968339" y="0"/>
                </a:lnTo>
                <a:lnTo>
                  <a:pt x="4968339" y="6865795"/>
                </a:lnTo>
                <a:lnTo>
                  <a:pt x="0" y="686579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5400000">
            <a:off x="12328485" y="1117361"/>
            <a:ext cx="4908834" cy="6783565"/>
          </a:xfrm>
          <a:custGeom>
            <a:avLst/>
            <a:gdLst/>
            <a:ahLst/>
            <a:cxnLst/>
            <a:rect r="r" b="b" t="t" l="l"/>
            <a:pathLst>
              <a:path h="6783565" w="4908834">
                <a:moveTo>
                  <a:pt x="0" y="0"/>
                </a:moveTo>
                <a:lnTo>
                  <a:pt x="4908834" y="0"/>
                </a:lnTo>
                <a:lnTo>
                  <a:pt x="4908834" y="6783565"/>
                </a:lnTo>
                <a:lnTo>
                  <a:pt x="0" y="678356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5400000">
            <a:off x="13902875" y="6118261"/>
            <a:ext cx="3293113" cy="4550784"/>
          </a:xfrm>
          <a:custGeom>
            <a:avLst/>
            <a:gdLst/>
            <a:ahLst/>
            <a:cxnLst/>
            <a:rect r="r" b="b" t="t" l="l"/>
            <a:pathLst>
              <a:path h="4550784" w="3293113">
                <a:moveTo>
                  <a:pt x="0" y="0"/>
                </a:moveTo>
                <a:lnTo>
                  <a:pt x="3293112" y="0"/>
                </a:lnTo>
                <a:lnTo>
                  <a:pt x="3293112" y="4550784"/>
                </a:lnTo>
                <a:lnTo>
                  <a:pt x="0" y="455078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true" flipV="false" rot="0">
            <a:off x="5077724" y="2479763"/>
            <a:ext cx="1434503" cy="394703"/>
          </a:xfrm>
          <a:custGeom>
            <a:avLst/>
            <a:gdLst/>
            <a:ahLst/>
            <a:cxnLst/>
            <a:rect r="r" b="b" t="t" l="l"/>
            <a:pathLst>
              <a:path h="394703" w="1434503">
                <a:moveTo>
                  <a:pt x="1434502" y="0"/>
                </a:moveTo>
                <a:lnTo>
                  <a:pt x="0" y="0"/>
                </a:lnTo>
                <a:lnTo>
                  <a:pt x="0" y="394703"/>
                </a:lnTo>
                <a:lnTo>
                  <a:pt x="1434502" y="394703"/>
                </a:lnTo>
                <a:lnTo>
                  <a:pt x="1434502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10800000">
            <a:off x="11839536" y="7639081"/>
            <a:ext cx="1434503" cy="394703"/>
          </a:xfrm>
          <a:custGeom>
            <a:avLst/>
            <a:gdLst/>
            <a:ahLst/>
            <a:cxnLst/>
            <a:rect r="r" b="b" t="t" l="l"/>
            <a:pathLst>
              <a:path h="394703" w="1434503">
                <a:moveTo>
                  <a:pt x="1434503" y="0"/>
                </a:moveTo>
                <a:lnTo>
                  <a:pt x="0" y="0"/>
                </a:lnTo>
                <a:lnTo>
                  <a:pt x="0" y="394703"/>
                </a:lnTo>
                <a:lnTo>
                  <a:pt x="1434503" y="394703"/>
                </a:lnTo>
                <a:lnTo>
                  <a:pt x="1434503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5077724" y="7639081"/>
            <a:ext cx="1434503" cy="394703"/>
          </a:xfrm>
          <a:custGeom>
            <a:avLst/>
            <a:gdLst/>
            <a:ahLst/>
            <a:cxnLst/>
            <a:rect r="r" b="b" t="t" l="l"/>
            <a:pathLst>
              <a:path h="394703" w="1434503">
                <a:moveTo>
                  <a:pt x="1434502" y="394703"/>
                </a:moveTo>
                <a:lnTo>
                  <a:pt x="0" y="394703"/>
                </a:lnTo>
                <a:lnTo>
                  <a:pt x="0" y="0"/>
                </a:lnTo>
                <a:lnTo>
                  <a:pt x="1434502" y="0"/>
                </a:lnTo>
                <a:lnTo>
                  <a:pt x="1434502" y="394703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-10800000">
            <a:off x="11839536" y="2479763"/>
            <a:ext cx="1434503" cy="394703"/>
          </a:xfrm>
          <a:custGeom>
            <a:avLst/>
            <a:gdLst/>
            <a:ahLst/>
            <a:cxnLst/>
            <a:rect r="r" b="b" t="t" l="l"/>
            <a:pathLst>
              <a:path h="394703" w="1434503">
                <a:moveTo>
                  <a:pt x="1434503" y="394703"/>
                </a:moveTo>
                <a:lnTo>
                  <a:pt x="0" y="394703"/>
                </a:lnTo>
                <a:lnTo>
                  <a:pt x="0" y="0"/>
                </a:lnTo>
                <a:lnTo>
                  <a:pt x="1434503" y="0"/>
                </a:lnTo>
                <a:lnTo>
                  <a:pt x="1434503" y="394703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744340" y="650137"/>
            <a:ext cx="3204091" cy="1991078"/>
          </a:xfrm>
          <a:custGeom>
            <a:avLst/>
            <a:gdLst/>
            <a:ahLst/>
            <a:cxnLst/>
            <a:rect r="r" b="b" t="t" l="l"/>
            <a:pathLst>
              <a:path h="1991078" w="3204091">
                <a:moveTo>
                  <a:pt x="0" y="0"/>
                </a:moveTo>
                <a:lnTo>
                  <a:pt x="3204092" y="0"/>
                </a:lnTo>
                <a:lnTo>
                  <a:pt x="3204092" y="1991078"/>
                </a:lnTo>
                <a:lnTo>
                  <a:pt x="0" y="199107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-189732" r="-100582" b="-42756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912214" y="7345158"/>
            <a:ext cx="3502730" cy="2096991"/>
          </a:xfrm>
          <a:custGeom>
            <a:avLst/>
            <a:gdLst/>
            <a:ahLst/>
            <a:cxnLst/>
            <a:rect r="r" b="b" t="t" l="l"/>
            <a:pathLst>
              <a:path h="2096991" w="3502730">
                <a:moveTo>
                  <a:pt x="0" y="0"/>
                </a:moveTo>
                <a:lnTo>
                  <a:pt x="3502730" y="0"/>
                </a:lnTo>
                <a:lnTo>
                  <a:pt x="3502730" y="2096991"/>
                </a:lnTo>
                <a:lnTo>
                  <a:pt x="0" y="209699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5717" t="-313367" r="-107534" b="-378204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020486" y="2345257"/>
            <a:ext cx="4370634" cy="2926695"/>
          </a:xfrm>
          <a:custGeom>
            <a:avLst/>
            <a:gdLst/>
            <a:ahLst/>
            <a:cxnLst/>
            <a:rect r="r" b="b" t="t" l="l"/>
            <a:pathLst>
              <a:path h="2926695" w="4370634">
                <a:moveTo>
                  <a:pt x="0" y="0"/>
                </a:moveTo>
                <a:lnTo>
                  <a:pt x="4370634" y="0"/>
                </a:lnTo>
                <a:lnTo>
                  <a:pt x="4370634" y="2926695"/>
                </a:lnTo>
                <a:lnTo>
                  <a:pt x="0" y="292669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10814" t="-12859" r="-12069" b="-294943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020486" y="5271952"/>
            <a:ext cx="4370634" cy="2950290"/>
          </a:xfrm>
          <a:custGeom>
            <a:avLst/>
            <a:gdLst/>
            <a:ahLst/>
            <a:cxnLst/>
            <a:rect r="r" b="b" t="t" l="l"/>
            <a:pathLst>
              <a:path h="2950290" w="4370634">
                <a:moveTo>
                  <a:pt x="0" y="0"/>
                </a:moveTo>
                <a:lnTo>
                  <a:pt x="4370634" y="0"/>
                </a:lnTo>
                <a:lnTo>
                  <a:pt x="4370634" y="2950290"/>
                </a:lnTo>
                <a:lnTo>
                  <a:pt x="0" y="295029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8529" t="-27929" r="-11470" b="-267119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4178034" y="7988832"/>
            <a:ext cx="2782156" cy="2107561"/>
            <a:chOff x="0" y="0"/>
            <a:chExt cx="1072964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72964" cy="812800"/>
            </a:xfrm>
            <a:custGeom>
              <a:avLst/>
              <a:gdLst/>
              <a:ahLst/>
              <a:cxnLst/>
              <a:rect r="r" b="b" t="t" l="l"/>
              <a:pathLst>
                <a:path h="812800" w="1072964">
                  <a:moveTo>
                    <a:pt x="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1072964" y="203200"/>
                  </a:lnTo>
                  <a:lnTo>
                    <a:pt x="1072964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0" y="406400"/>
                  </a:ln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101600" y="155575"/>
              <a:ext cx="971364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37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211993" y="8179439"/>
            <a:ext cx="3196457" cy="2025253"/>
            <a:chOff x="0" y="0"/>
            <a:chExt cx="841865" cy="533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41865" cy="533400"/>
            </a:xfrm>
            <a:custGeom>
              <a:avLst/>
              <a:gdLst/>
              <a:ahLst/>
              <a:cxnLst/>
              <a:rect r="r" b="b" t="t" l="l"/>
              <a:pathLst>
                <a:path h="533400" w="841865">
                  <a:moveTo>
                    <a:pt x="477993" y="0"/>
                  </a:moveTo>
                  <a:cubicBezTo>
                    <a:pt x="487227" y="0"/>
                    <a:pt x="496516" y="0"/>
                    <a:pt x="505732" y="0"/>
                  </a:cubicBezTo>
                  <a:cubicBezTo>
                    <a:pt x="579207" y="8909"/>
                    <a:pt x="625126" y="38564"/>
                    <a:pt x="646041" y="87090"/>
                  </a:cubicBezTo>
                  <a:cubicBezTo>
                    <a:pt x="768536" y="80618"/>
                    <a:pt x="857054" y="172373"/>
                    <a:pt x="803321" y="262426"/>
                  </a:cubicBezTo>
                  <a:cubicBezTo>
                    <a:pt x="821370" y="281349"/>
                    <a:pt x="836427" y="302517"/>
                    <a:pt x="841865" y="330926"/>
                  </a:cubicBezTo>
                  <a:cubicBezTo>
                    <a:pt x="841865" y="339065"/>
                    <a:pt x="841865" y="347184"/>
                    <a:pt x="841865" y="355321"/>
                  </a:cubicBezTo>
                  <a:cubicBezTo>
                    <a:pt x="825659" y="427627"/>
                    <a:pt x="755925" y="476486"/>
                    <a:pt x="641441" y="463333"/>
                  </a:cubicBezTo>
                  <a:cubicBezTo>
                    <a:pt x="611985" y="500459"/>
                    <a:pt x="559571" y="537638"/>
                    <a:pt x="478010" y="533008"/>
                  </a:cubicBezTo>
                  <a:cubicBezTo>
                    <a:pt x="435852" y="530570"/>
                    <a:pt x="406524" y="516453"/>
                    <a:pt x="380845" y="499302"/>
                  </a:cubicBezTo>
                  <a:cubicBezTo>
                    <a:pt x="353799" y="513559"/>
                    <a:pt x="324507" y="524747"/>
                    <a:pt x="282185" y="524871"/>
                  </a:cubicBezTo>
                  <a:cubicBezTo>
                    <a:pt x="184272" y="525082"/>
                    <a:pt x="118773" y="470155"/>
                    <a:pt x="117185" y="394815"/>
                  </a:cubicBezTo>
                  <a:cubicBezTo>
                    <a:pt x="54240" y="377190"/>
                    <a:pt x="11607" y="344291"/>
                    <a:pt x="0" y="287995"/>
                  </a:cubicBezTo>
                  <a:cubicBezTo>
                    <a:pt x="0" y="279858"/>
                    <a:pt x="0" y="271704"/>
                    <a:pt x="0" y="263601"/>
                  </a:cubicBezTo>
                  <a:cubicBezTo>
                    <a:pt x="12812" y="207816"/>
                    <a:pt x="53126" y="172776"/>
                    <a:pt x="120251" y="157922"/>
                  </a:cubicBezTo>
                  <a:cubicBezTo>
                    <a:pt x="116218" y="63818"/>
                    <a:pt x="250485" y="5016"/>
                    <a:pt x="360789" y="46474"/>
                  </a:cubicBezTo>
                  <a:cubicBezTo>
                    <a:pt x="387051" y="25973"/>
                    <a:pt x="424208" y="3613"/>
                    <a:pt x="47799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39462" y="41275"/>
              <a:ext cx="762940" cy="415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37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656100" y="8033784"/>
            <a:ext cx="2841697" cy="2170909"/>
            <a:chOff x="0" y="0"/>
            <a:chExt cx="1063947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63947" cy="812800"/>
            </a:xfrm>
            <a:custGeom>
              <a:avLst/>
              <a:gdLst/>
              <a:ahLst/>
              <a:cxnLst/>
              <a:rect r="r" b="b" t="t" l="l"/>
              <a:pathLst>
                <a:path h="812800" w="1063947">
                  <a:moveTo>
                    <a:pt x="1063947" y="406400"/>
                  </a:moveTo>
                  <a:lnTo>
                    <a:pt x="657547" y="0"/>
                  </a:lnTo>
                  <a:lnTo>
                    <a:pt x="657547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657547" y="609600"/>
                  </a:lnTo>
                  <a:lnTo>
                    <a:pt x="657547" y="812800"/>
                  </a:lnTo>
                  <a:lnTo>
                    <a:pt x="1063947" y="406400"/>
                  </a:ln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155575"/>
              <a:ext cx="962347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37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5794975" y="1038941"/>
            <a:ext cx="8386319" cy="1015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22"/>
              </a:lnSpc>
            </a:pPr>
            <a:r>
              <a:rPr lang="en-US" sz="7754">
                <a:solidFill>
                  <a:srgbClr val="000000"/>
                </a:solidFill>
                <a:latin typeface="Flatory Slab"/>
                <a:ea typeface="Flatory Slab"/>
                <a:cs typeface="Flatory Slab"/>
                <a:sym typeface="Flatory Slab"/>
              </a:rPr>
              <a:t>CAPACIDADES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038820" y="2931616"/>
            <a:ext cx="5540291" cy="2805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2"/>
              </a:lnSpc>
            </a:pPr>
            <a:r>
              <a:rPr lang="en-US" sz="2827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ADQUISICIÓN DE NUEVOS CONOCIMIENTOS O INTEGRADOR DEL SISTEMA: MECANISMOS DE RAZONAMIENTO SIRVEN </a:t>
            </a:r>
          </a:p>
          <a:p>
            <a:pPr algn="ctr" marL="0" indent="0" lvl="0">
              <a:lnSpc>
                <a:spcPts val="2742"/>
              </a:lnSpc>
              <a:spcBef>
                <a:spcPct val="0"/>
              </a:spcBef>
            </a:pPr>
            <a:r>
              <a:rPr lang="en-US" sz="2827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para modificar los conocimientos anteriores. producto de investigaciones en  campo de inteligencia artificial ésta no intenta sustituir, desea ayudarlos a realizar con mas rapidez y eficacia todas las tareas.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87468" y="3875279"/>
            <a:ext cx="5789638" cy="2946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9"/>
              </a:lnSpc>
            </a:pPr>
            <a:r>
              <a:rPr lang="en-US" sz="3453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EXPLICAR SUS RAZONAMIENTOS O BASE DEL CONOCIMIENTO: DEBEN REALIZAR SIGUIENDO CIERTAS </a:t>
            </a:r>
          </a:p>
          <a:p>
            <a:pPr algn="ctr">
              <a:lnSpc>
                <a:spcPts val="3349"/>
              </a:lnSpc>
            </a:pPr>
            <a:r>
              <a:rPr lang="en-US" sz="3453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reglas o pasos  de manera que se pueda generar explicación para cada una de estas reglas, que a </a:t>
            </a:r>
          </a:p>
          <a:p>
            <a:pPr algn="ctr" marL="0" indent="0" lvl="0">
              <a:lnSpc>
                <a:spcPts val="3349"/>
              </a:lnSpc>
            </a:pPr>
            <a:r>
              <a:rPr lang="en-US" sz="3453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la vez se basan en hechos.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602769" y="8612320"/>
            <a:ext cx="2525262" cy="1053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25"/>
              </a:lnSpc>
            </a:pPr>
            <a:r>
              <a:rPr lang="en-US" sz="6161" u="sng">
                <a:solidFill>
                  <a:srgbClr val="0097B2"/>
                </a:solidFill>
                <a:latin typeface="Open Sans"/>
                <a:ea typeface="Open Sans"/>
                <a:cs typeface="Open Sans"/>
                <a:sym typeface="Open Sans"/>
                <a:hlinkClick r:id="rId16" action="ppaction://hlinksldjump"/>
              </a:rPr>
              <a:t>INDICE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313584" y="8617707"/>
            <a:ext cx="3338159" cy="762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86"/>
              </a:lnSpc>
            </a:pPr>
            <a:r>
              <a:rPr lang="en-US" sz="4490" u="sng">
                <a:solidFill>
                  <a:srgbClr val="0097B2"/>
                </a:solidFill>
                <a:latin typeface="Open Sans"/>
                <a:ea typeface="Open Sans"/>
                <a:cs typeface="Open Sans"/>
                <a:sym typeface="Open Sans"/>
                <a:hlinkClick r:id="rId17" action="ppaction://hlinksldjump"/>
              </a:rPr>
              <a:t>Siguiente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623922" y="8629784"/>
            <a:ext cx="2174568" cy="712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55"/>
              </a:lnSpc>
            </a:pPr>
            <a:r>
              <a:rPr lang="en-US" sz="4182" u="sng">
                <a:solidFill>
                  <a:srgbClr val="0097B2"/>
                </a:solidFill>
                <a:latin typeface="Open Sans"/>
                <a:ea typeface="Open Sans"/>
                <a:cs typeface="Open Sans"/>
                <a:sym typeface="Open Sans"/>
                <a:hlinkClick r:id="rId18" action="ppaction://hlinksldjump"/>
              </a:rPr>
              <a:t>Anterior </a:t>
            </a:r>
          </a:p>
        </p:txBody>
      </p:sp>
    </p:spTree>
  </p:cSld>
  <p:clrMapOvr>
    <a:masterClrMapping/>
  </p:clrMapOvr>
  <p:transition spd="fast">
    <p:cover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10282" y="720936"/>
            <a:ext cx="5006221" cy="6918145"/>
          </a:xfrm>
          <a:custGeom>
            <a:avLst/>
            <a:gdLst/>
            <a:ahLst/>
            <a:cxnLst/>
            <a:rect r="r" b="b" t="t" l="l"/>
            <a:pathLst>
              <a:path h="6918145" w="5006221">
                <a:moveTo>
                  <a:pt x="0" y="0"/>
                </a:moveTo>
                <a:lnTo>
                  <a:pt x="5006221" y="0"/>
                </a:lnTo>
                <a:lnTo>
                  <a:pt x="5006221" y="6918145"/>
                </a:lnTo>
                <a:lnTo>
                  <a:pt x="0" y="69181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2740175" y="0"/>
            <a:ext cx="4222270" cy="5834795"/>
          </a:xfrm>
          <a:custGeom>
            <a:avLst/>
            <a:gdLst/>
            <a:ahLst/>
            <a:cxnLst/>
            <a:rect r="r" b="b" t="t" l="l"/>
            <a:pathLst>
              <a:path h="5834795" w="4222270">
                <a:moveTo>
                  <a:pt x="0" y="0"/>
                </a:moveTo>
                <a:lnTo>
                  <a:pt x="4222270" y="0"/>
                </a:lnTo>
                <a:lnTo>
                  <a:pt x="4222270" y="5834795"/>
                </a:lnTo>
                <a:lnTo>
                  <a:pt x="0" y="583479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5400000">
            <a:off x="12661853" y="4636286"/>
            <a:ext cx="4306343" cy="5950977"/>
          </a:xfrm>
          <a:custGeom>
            <a:avLst/>
            <a:gdLst/>
            <a:ahLst/>
            <a:cxnLst/>
            <a:rect r="r" b="b" t="t" l="l"/>
            <a:pathLst>
              <a:path h="5950977" w="4306343">
                <a:moveTo>
                  <a:pt x="0" y="0"/>
                </a:moveTo>
                <a:lnTo>
                  <a:pt x="4306343" y="0"/>
                </a:lnTo>
                <a:lnTo>
                  <a:pt x="4306343" y="5950977"/>
                </a:lnTo>
                <a:lnTo>
                  <a:pt x="0" y="595097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true" flipV="false" rot="0">
            <a:off x="5077724" y="2479763"/>
            <a:ext cx="1434503" cy="394703"/>
          </a:xfrm>
          <a:custGeom>
            <a:avLst/>
            <a:gdLst/>
            <a:ahLst/>
            <a:cxnLst/>
            <a:rect r="r" b="b" t="t" l="l"/>
            <a:pathLst>
              <a:path h="394703" w="1434503">
                <a:moveTo>
                  <a:pt x="1434502" y="0"/>
                </a:moveTo>
                <a:lnTo>
                  <a:pt x="0" y="0"/>
                </a:lnTo>
                <a:lnTo>
                  <a:pt x="0" y="394703"/>
                </a:lnTo>
                <a:lnTo>
                  <a:pt x="1434502" y="394703"/>
                </a:lnTo>
                <a:lnTo>
                  <a:pt x="1434502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-9229828">
            <a:off x="11378867" y="6680070"/>
            <a:ext cx="1166927" cy="321080"/>
          </a:xfrm>
          <a:custGeom>
            <a:avLst/>
            <a:gdLst/>
            <a:ahLst/>
            <a:cxnLst/>
            <a:rect r="r" b="b" t="t" l="l"/>
            <a:pathLst>
              <a:path h="321080" w="1166927">
                <a:moveTo>
                  <a:pt x="1166927" y="321080"/>
                </a:moveTo>
                <a:lnTo>
                  <a:pt x="0" y="321080"/>
                </a:lnTo>
                <a:lnTo>
                  <a:pt x="0" y="0"/>
                </a:lnTo>
                <a:lnTo>
                  <a:pt x="1166927" y="0"/>
                </a:lnTo>
                <a:lnTo>
                  <a:pt x="1166927" y="32108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-10800000">
            <a:off x="10979359" y="2541615"/>
            <a:ext cx="1209709" cy="332851"/>
          </a:xfrm>
          <a:custGeom>
            <a:avLst/>
            <a:gdLst/>
            <a:ahLst/>
            <a:cxnLst/>
            <a:rect r="r" b="b" t="t" l="l"/>
            <a:pathLst>
              <a:path h="332851" w="1209709">
                <a:moveTo>
                  <a:pt x="1209709" y="332851"/>
                </a:moveTo>
                <a:lnTo>
                  <a:pt x="0" y="332851"/>
                </a:lnTo>
                <a:lnTo>
                  <a:pt x="0" y="0"/>
                </a:lnTo>
                <a:lnTo>
                  <a:pt x="1209709" y="0"/>
                </a:lnTo>
                <a:lnTo>
                  <a:pt x="1209709" y="332851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573152" y="0"/>
            <a:ext cx="5794721" cy="8877706"/>
          </a:xfrm>
          <a:custGeom>
            <a:avLst/>
            <a:gdLst/>
            <a:ahLst/>
            <a:cxnLst/>
            <a:rect r="r" b="b" t="t" l="l"/>
            <a:pathLst>
              <a:path h="8877706" w="5794721">
                <a:moveTo>
                  <a:pt x="0" y="0"/>
                </a:moveTo>
                <a:lnTo>
                  <a:pt x="5794721" y="0"/>
                </a:lnTo>
                <a:lnTo>
                  <a:pt x="5794721" y="8877706"/>
                </a:lnTo>
                <a:lnTo>
                  <a:pt x="0" y="887770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454453" y="1221031"/>
            <a:ext cx="1524905" cy="1501301"/>
          </a:xfrm>
          <a:custGeom>
            <a:avLst/>
            <a:gdLst/>
            <a:ahLst/>
            <a:cxnLst/>
            <a:rect r="r" b="b" t="t" l="l"/>
            <a:pathLst>
              <a:path h="1501301" w="1524905">
                <a:moveTo>
                  <a:pt x="0" y="0"/>
                </a:moveTo>
                <a:lnTo>
                  <a:pt x="1524906" y="0"/>
                </a:lnTo>
                <a:lnTo>
                  <a:pt x="1524906" y="1501302"/>
                </a:lnTo>
                <a:lnTo>
                  <a:pt x="0" y="150130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-786" r="0" b="-786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301904" y="2650891"/>
            <a:ext cx="4572679" cy="5678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5"/>
              </a:lnSpc>
            </a:pPr>
            <a:r>
              <a:rPr lang="en-US" b="true" sz="2703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Principalmente existen t</a:t>
            </a:r>
            <a:r>
              <a:rPr lang="en-US" b="true" sz="2703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 tipos de sistemas expertos:</a:t>
            </a:r>
          </a:p>
          <a:p>
            <a:pPr algn="l" marL="583759" indent="-291879" lvl="1">
              <a:lnSpc>
                <a:spcPts val="3785"/>
              </a:lnSpc>
              <a:buFont typeface="Arial"/>
              <a:buChar char="•"/>
            </a:pPr>
            <a:r>
              <a:rPr lang="en-US" b="true" sz="2703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•Basados en reglas previamente establecidas.</a:t>
            </a:r>
          </a:p>
          <a:p>
            <a:pPr algn="l" marL="583759" indent="-291879" lvl="1">
              <a:lnSpc>
                <a:spcPts val="3785"/>
              </a:lnSpc>
              <a:buFont typeface="Arial"/>
              <a:buChar char="•"/>
            </a:pPr>
            <a:r>
              <a:rPr lang="en-US" b="true" sz="2703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•Basados en casos o CBR (Case BasedReasoning).</a:t>
            </a:r>
          </a:p>
          <a:p>
            <a:pPr algn="l" marL="583759" indent="-291879" lvl="1">
              <a:lnSpc>
                <a:spcPts val="3785"/>
              </a:lnSpc>
              <a:buFont typeface="Arial"/>
              <a:buChar char="•"/>
            </a:pPr>
            <a:r>
              <a:rPr lang="en-US" b="true" sz="2703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•Basados en redes bayesianas.</a:t>
            </a:r>
          </a:p>
          <a:p>
            <a:pPr algn="ctr">
              <a:lnSpc>
                <a:spcPts val="3785"/>
              </a:lnSpc>
            </a:pPr>
          </a:p>
        </p:txBody>
      </p:sp>
      <p:grpSp>
        <p:nvGrpSpPr>
          <p:cNvPr name="Group 12" id="12"/>
          <p:cNvGrpSpPr/>
          <p:nvPr/>
        </p:nvGrpSpPr>
        <p:grpSpPr>
          <a:xfrm rot="0">
            <a:off x="9421237" y="8033817"/>
            <a:ext cx="2767831" cy="2114478"/>
            <a:chOff x="0" y="0"/>
            <a:chExt cx="1063947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63947" cy="812800"/>
            </a:xfrm>
            <a:custGeom>
              <a:avLst/>
              <a:gdLst/>
              <a:ahLst/>
              <a:cxnLst/>
              <a:rect r="r" b="b" t="t" l="l"/>
              <a:pathLst>
                <a:path h="812800" w="1063947">
                  <a:moveTo>
                    <a:pt x="1063947" y="406400"/>
                  </a:moveTo>
                  <a:lnTo>
                    <a:pt x="657547" y="0"/>
                  </a:lnTo>
                  <a:lnTo>
                    <a:pt x="657547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657547" y="609600"/>
                  </a:lnTo>
                  <a:lnTo>
                    <a:pt x="657547" y="812800"/>
                  </a:lnTo>
                  <a:lnTo>
                    <a:pt x="1063947" y="406400"/>
                  </a:ln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155575"/>
              <a:ext cx="962347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37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975238" y="8078430"/>
            <a:ext cx="3086100" cy="2025253"/>
            <a:chOff x="0" y="0"/>
            <a:chExt cx="812800" cy="533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533400"/>
            </a:xfrm>
            <a:custGeom>
              <a:avLst/>
              <a:gdLst/>
              <a:ahLst/>
              <a:cxnLst/>
              <a:rect r="r" b="b" t="t" l="l"/>
              <a:pathLst>
                <a:path h="533400" w="812800">
                  <a:moveTo>
                    <a:pt x="461490" y="0"/>
                  </a:moveTo>
                  <a:cubicBezTo>
                    <a:pt x="470405" y="0"/>
                    <a:pt x="479374" y="0"/>
                    <a:pt x="488272" y="0"/>
                  </a:cubicBezTo>
                  <a:cubicBezTo>
                    <a:pt x="559210" y="8909"/>
                    <a:pt x="603543" y="38564"/>
                    <a:pt x="623736" y="87090"/>
                  </a:cubicBezTo>
                  <a:cubicBezTo>
                    <a:pt x="742003" y="80618"/>
                    <a:pt x="827989" y="172373"/>
                    <a:pt x="775586" y="262426"/>
                  </a:cubicBezTo>
                  <a:cubicBezTo>
                    <a:pt x="793012" y="281349"/>
                    <a:pt x="807550" y="302517"/>
                    <a:pt x="812800" y="330926"/>
                  </a:cubicBezTo>
                  <a:cubicBezTo>
                    <a:pt x="812800" y="339065"/>
                    <a:pt x="812800" y="347184"/>
                    <a:pt x="812800" y="355321"/>
                  </a:cubicBezTo>
                  <a:cubicBezTo>
                    <a:pt x="797154" y="427627"/>
                    <a:pt x="729827" y="476486"/>
                    <a:pt x="619295" y="463333"/>
                  </a:cubicBezTo>
                  <a:cubicBezTo>
                    <a:pt x="590856" y="500459"/>
                    <a:pt x="540252" y="537638"/>
                    <a:pt x="461507" y="533008"/>
                  </a:cubicBezTo>
                  <a:cubicBezTo>
                    <a:pt x="420804" y="530570"/>
                    <a:pt x="392488" y="516453"/>
                    <a:pt x="367697" y="499302"/>
                  </a:cubicBezTo>
                  <a:cubicBezTo>
                    <a:pt x="341584" y="513559"/>
                    <a:pt x="313304" y="524747"/>
                    <a:pt x="272443" y="524871"/>
                  </a:cubicBezTo>
                  <a:cubicBezTo>
                    <a:pt x="177910" y="525082"/>
                    <a:pt x="114672" y="470155"/>
                    <a:pt x="113139" y="394815"/>
                  </a:cubicBezTo>
                  <a:cubicBezTo>
                    <a:pt x="52367" y="377190"/>
                    <a:pt x="11206" y="344291"/>
                    <a:pt x="0" y="287995"/>
                  </a:cubicBezTo>
                  <a:cubicBezTo>
                    <a:pt x="0" y="279858"/>
                    <a:pt x="0" y="271704"/>
                    <a:pt x="0" y="263601"/>
                  </a:cubicBezTo>
                  <a:cubicBezTo>
                    <a:pt x="12369" y="207816"/>
                    <a:pt x="51292" y="172776"/>
                    <a:pt x="116099" y="157922"/>
                  </a:cubicBezTo>
                  <a:cubicBezTo>
                    <a:pt x="112205" y="63818"/>
                    <a:pt x="241837" y="5016"/>
                    <a:pt x="348333" y="46474"/>
                  </a:cubicBezTo>
                  <a:cubicBezTo>
                    <a:pt x="373689" y="25973"/>
                    <a:pt x="409562" y="3613"/>
                    <a:pt x="46149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38100" y="41275"/>
              <a:ext cx="736600" cy="415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37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813393" y="7950120"/>
            <a:ext cx="2799896" cy="2153563"/>
            <a:chOff x="0" y="0"/>
            <a:chExt cx="105674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56740" cy="812800"/>
            </a:xfrm>
            <a:custGeom>
              <a:avLst/>
              <a:gdLst/>
              <a:ahLst/>
              <a:cxnLst/>
              <a:rect r="r" b="b" t="t" l="l"/>
              <a:pathLst>
                <a:path h="812800" w="1056740">
                  <a:moveTo>
                    <a:pt x="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1056740" y="203200"/>
                  </a:lnTo>
                  <a:lnTo>
                    <a:pt x="105674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0" y="406400"/>
                  </a:ln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101600" y="155575"/>
              <a:ext cx="955140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37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5573152" y="1421056"/>
            <a:ext cx="3725335" cy="1176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794"/>
              </a:lnSpc>
            </a:pPr>
            <a:r>
              <a:rPr lang="en-US" sz="9066">
                <a:solidFill>
                  <a:srgbClr val="0097B2"/>
                </a:solidFill>
                <a:latin typeface="Flatory Slab"/>
                <a:ea typeface="Flatory Slab"/>
                <a:cs typeface="Flatory Slab"/>
                <a:sym typeface="Flatory Slab"/>
              </a:rPr>
              <a:t>TIPOS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86736" y="2941141"/>
            <a:ext cx="3653312" cy="3780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86"/>
              </a:lnSpc>
              <a:spcBef>
                <a:spcPct val="0"/>
              </a:spcBef>
            </a:pPr>
            <a:r>
              <a:rPr lang="en-US" sz="3388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LOS SISTEMAS BASADOS EN REGLAS TRABAJAN MEDIANTE LA APLICACIÓN DE REGLAS, LA COMPARACIÓN DE RESULTADOS Y LA APLICACIÓN DE LAS NUEVAS REGLAS BASADAS EN LA SITUACIÓN MODIFICADA.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496558" y="1785643"/>
            <a:ext cx="2709503" cy="359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29"/>
              </a:lnSpc>
              <a:spcBef>
                <a:spcPct val="0"/>
              </a:spcBef>
            </a:pPr>
            <a:r>
              <a:rPr lang="en-US" sz="3226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RAZONAMIENTO BASADO EN CASOS</a:t>
            </a:r>
            <a:r>
              <a:rPr lang="en-US" sz="3226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 es el proceso de solucionar nuevos problemas basándose en las soluciones de problemas anteriores.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24271" y="1482012"/>
            <a:ext cx="3396252" cy="1338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60"/>
              </a:lnSpc>
            </a:pPr>
            <a:r>
              <a:rPr lang="en-US" sz="3567">
                <a:solidFill>
                  <a:srgbClr val="0097B2"/>
                </a:solidFill>
                <a:latin typeface="Handy Casual"/>
                <a:ea typeface="Handy Casual"/>
                <a:cs typeface="Handy Casual"/>
                <a:sym typeface="Handy Casual"/>
              </a:rPr>
              <a:t>BASADOS EN REGLAS REVIAMENTE ESTABLECIDAS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460273" y="498457"/>
            <a:ext cx="2709503" cy="1146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59"/>
              </a:lnSpc>
            </a:pPr>
            <a:r>
              <a:rPr lang="en-US" sz="4494">
                <a:solidFill>
                  <a:srgbClr val="0097B2"/>
                </a:solidFill>
                <a:latin typeface="Handy Casual"/>
                <a:ea typeface="Handy Casual"/>
                <a:cs typeface="Handy Casual"/>
                <a:sym typeface="Handy Casual"/>
              </a:rPr>
              <a:t>BASADOS EN CASOS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329898" y="6119650"/>
            <a:ext cx="5042823" cy="780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81"/>
              </a:lnSpc>
            </a:pPr>
            <a:r>
              <a:rPr lang="en-US" sz="5960">
                <a:solidFill>
                  <a:srgbClr val="0097B2"/>
                </a:solidFill>
                <a:latin typeface="Handy Casual"/>
                <a:ea typeface="Handy Casual"/>
                <a:cs typeface="Handy Casual"/>
                <a:sym typeface="Handy Casual"/>
              </a:rPr>
              <a:t>BASADOS EN REDES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659710" y="7033165"/>
            <a:ext cx="4383199" cy="1831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45"/>
              </a:lnSpc>
              <a:spcBef>
                <a:spcPct val="0"/>
              </a:spcBef>
            </a:pPr>
            <a:r>
              <a:rPr lang="en-US" sz="2933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ES UN </a:t>
            </a:r>
            <a:r>
              <a:rPr lang="en-US" sz="2933" u="sng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  <a:hlinkClick r:id="rId14" tooltip="https://es.wikipedia.org/w/index.php?title=Modelo_grafo&amp;action=edit&amp;redlink=1"/>
              </a:rPr>
              <a:t>modelo </a:t>
            </a:r>
            <a:r>
              <a:rPr lang="en-US" sz="2933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 que representa un conjunto de </a:t>
            </a:r>
            <a:r>
              <a:rPr lang="en-US" sz="2933" u="sng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  <a:hlinkClick r:id="rId15" tooltip="https://es.wikipedia.org/wiki/Variables_aleatorias"/>
              </a:rPr>
              <a:t>variables aleatorias</a:t>
            </a:r>
            <a:r>
              <a:rPr lang="en-US" sz="2933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 y sus </a:t>
            </a:r>
            <a:r>
              <a:rPr lang="en-US" sz="2933" u="sng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  <a:hlinkClick r:id="rId16" tooltip="https://es.wikipedia.org/w/index.php?title=Dependencia_condicional&amp;action=edit&amp;redlink=1"/>
              </a:rPr>
              <a:t>dependencias condicionales</a:t>
            </a:r>
            <a:r>
              <a:rPr lang="en-US" sz="2933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 a través de un </a:t>
            </a:r>
            <a:r>
              <a:rPr lang="en-US" sz="2933" u="sng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  <a:hlinkClick r:id="rId17" tooltip="https://es.wikipedia.org/wiki/Grafo_ac%C3%ADclico_dirigido"/>
              </a:rPr>
              <a:t>grafo acíclico dirigido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255658" y="8511310"/>
            <a:ext cx="2525262" cy="1053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25"/>
              </a:lnSpc>
            </a:pPr>
            <a:r>
              <a:rPr lang="en-US" sz="6161" u="sng">
                <a:solidFill>
                  <a:srgbClr val="0097B2"/>
                </a:solidFill>
                <a:latin typeface="Open Sans"/>
                <a:ea typeface="Open Sans"/>
                <a:cs typeface="Open Sans"/>
                <a:sym typeface="Open Sans"/>
                <a:hlinkClick r:id="rId18" action="ppaction://hlinksldjump"/>
              </a:rPr>
              <a:t>INDICE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510162" y="8591386"/>
            <a:ext cx="2329375" cy="662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73"/>
              </a:lnSpc>
            </a:pPr>
            <a:r>
              <a:rPr lang="en-US" sz="3909" u="sng">
                <a:solidFill>
                  <a:srgbClr val="0097B2"/>
                </a:solidFill>
                <a:latin typeface="Open Sans"/>
                <a:ea typeface="Open Sans"/>
                <a:cs typeface="Open Sans"/>
                <a:sym typeface="Open Sans"/>
                <a:hlinkClick r:id="rId19" action="ppaction://hlinksldjump"/>
              </a:rPr>
              <a:t>Siguiente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199669" y="8523167"/>
            <a:ext cx="2436452" cy="795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61"/>
              </a:lnSpc>
            </a:pPr>
            <a:r>
              <a:rPr lang="en-US" sz="4686" u="sng">
                <a:solidFill>
                  <a:srgbClr val="0097B2"/>
                </a:solidFill>
                <a:latin typeface="Open Sans"/>
                <a:ea typeface="Open Sans"/>
                <a:cs typeface="Open Sans"/>
                <a:sym typeface="Open Sans"/>
                <a:hlinkClick r:id="rId20" action="ppaction://hlinksldjump"/>
              </a:rPr>
              <a:t>Anterior </a:t>
            </a:r>
          </a:p>
        </p:txBody>
      </p:sp>
    </p:spTree>
  </p:cSld>
  <p:clrMapOvr>
    <a:masterClrMapping/>
  </p:clrMapOvr>
  <p:transition spd="fast">
    <p:cover dir="rd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1799347" y="3755706"/>
            <a:ext cx="3260724" cy="4506026"/>
          </a:xfrm>
          <a:custGeom>
            <a:avLst/>
            <a:gdLst/>
            <a:ahLst/>
            <a:cxnLst/>
            <a:rect r="r" b="b" t="t" l="l"/>
            <a:pathLst>
              <a:path h="4506026" w="3260724">
                <a:moveTo>
                  <a:pt x="0" y="0"/>
                </a:moveTo>
                <a:lnTo>
                  <a:pt x="3260724" y="0"/>
                </a:lnTo>
                <a:lnTo>
                  <a:pt x="3260724" y="4506026"/>
                </a:lnTo>
                <a:lnTo>
                  <a:pt x="0" y="45060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5400000">
            <a:off x="13577189" y="662169"/>
            <a:ext cx="3434687" cy="4746427"/>
          </a:xfrm>
          <a:custGeom>
            <a:avLst/>
            <a:gdLst/>
            <a:ahLst/>
            <a:cxnLst/>
            <a:rect r="r" b="b" t="t" l="l"/>
            <a:pathLst>
              <a:path h="4746427" w="3434687">
                <a:moveTo>
                  <a:pt x="0" y="0"/>
                </a:moveTo>
                <a:lnTo>
                  <a:pt x="3434687" y="0"/>
                </a:lnTo>
                <a:lnTo>
                  <a:pt x="3434687" y="4746427"/>
                </a:lnTo>
                <a:lnTo>
                  <a:pt x="0" y="47464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5400000">
            <a:off x="1107138" y="-677419"/>
            <a:ext cx="4559489" cy="6300802"/>
          </a:xfrm>
          <a:custGeom>
            <a:avLst/>
            <a:gdLst/>
            <a:ahLst/>
            <a:cxnLst/>
            <a:rect r="r" b="b" t="t" l="l"/>
            <a:pathLst>
              <a:path h="6300802" w="4559489">
                <a:moveTo>
                  <a:pt x="0" y="0"/>
                </a:moveTo>
                <a:lnTo>
                  <a:pt x="4559489" y="0"/>
                </a:lnTo>
                <a:lnTo>
                  <a:pt x="4559489" y="6300801"/>
                </a:lnTo>
                <a:lnTo>
                  <a:pt x="0" y="630080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5400000">
            <a:off x="12774290" y="4206540"/>
            <a:ext cx="4629655" cy="6397765"/>
          </a:xfrm>
          <a:custGeom>
            <a:avLst/>
            <a:gdLst/>
            <a:ahLst/>
            <a:cxnLst/>
            <a:rect r="r" b="b" t="t" l="l"/>
            <a:pathLst>
              <a:path h="6397765" w="4629655">
                <a:moveTo>
                  <a:pt x="0" y="0"/>
                </a:moveTo>
                <a:lnTo>
                  <a:pt x="4629655" y="0"/>
                </a:lnTo>
                <a:lnTo>
                  <a:pt x="4629655" y="6397765"/>
                </a:lnTo>
                <a:lnTo>
                  <a:pt x="0" y="639776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true" flipV="true" rot="0">
            <a:off x="5289114" y="5704001"/>
            <a:ext cx="1665280" cy="458201"/>
          </a:xfrm>
          <a:custGeom>
            <a:avLst/>
            <a:gdLst/>
            <a:ahLst/>
            <a:cxnLst/>
            <a:rect r="r" b="b" t="t" l="l"/>
            <a:pathLst>
              <a:path h="458201" w="1665280">
                <a:moveTo>
                  <a:pt x="1665280" y="458201"/>
                </a:moveTo>
                <a:lnTo>
                  <a:pt x="0" y="458201"/>
                </a:lnTo>
                <a:lnTo>
                  <a:pt x="0" y="0"/>
                </a:lnTo>
                <a:lnTo>
                  <a:pt x="1665280" y="0"/>
                </a:lnTo>
                <a:lnTo>
                  <a:pt x="1665280" y="458201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-10800000">
            <a:off x="11829842" y="2078279"/>
            <a:ext cx="1434503" cy="394703"/>
          </a:xfrm>
          <a:custGeom>
            <a:avLst/>
            <a:gdLst/>
            <a:ahLst/>
            <a:cxnLst/>
            <a:rect r="r" b="b" t="t" l="l"/>
            <a:pathLst>
              <a:path h="394703" w="1434503">
                <a:moveTo>
                  <a:pt x="1434503" y="394703"/>
                </a:moveTo>
                <a:lnTo>
                  <a:pt x="0" y="394703"/>
                </a:lnTo>
                <a:lnTo>
                  <a:pt x="0" y="0"/>
                </a:lnTo>
                <a:lnTo>
                  <a:pt x="1434503" y="0"/>
                </a:lnTo>
                <a:lnTo>
                  <a:pt x="1434503" y="394703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-10102317">
            <a:off x="11940569" y="4463419"/>
            <a:ext cx="1320772" cy="363410"/>
          </a:xfrm>
          <a:custGeom>
            <a:avLst/>
            <a:gdLst/>
            <a:ahLst/>
            <a:cxnLst/>
            <a:rect r="r" b="b" t="t" l="l"/>
            <a:pathLst>
              <a:path h="363410" w="1320772">
                <a:moveTo>
                  <a:pt x="1320771" y="363410"/>
                </a:moveTo>
                <a:lnTo>
                  <a:pt x="0" y="363410"/>
                </a:lnTo>
                <a:lnTo>
                  <a:pt x="0" y="0"/>
                </a:lnTo>
                <a:lnTo>
                  <a:pt x="1320771" y="0"/>
                </a:lnTo>
                <a:lnTo>
                  <a:pt x="1320771" y="36341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922448" y="4918397"/>
            <a:ext cx="3155276" cy="2271006"/>
          </a:xfrm>
          <a:custGeom>
            <a:avLst/>
            <a:gdLst/>
            <a:ahLst/>
            <a:cxnLst/>
            <a:rect r="r" b="b" t="t" l="l"/>
            <a:pathLst>
              <a:path h="2271006" w="3155276">
                <a:moveTo>
                  <a:pt x="0" y="0"/>
                </a:moveTo>
                <a:lnTo>
                  <a:pt x="3155276" y="0"/>
                </a:lnTo>
                <a:lnTo>
                  <a:pt x="3155276" y="2271007"/>
                </a:lnTo>
                <a:lnTo>
                  <a:pt x="0" y="227100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-301587" r="-113753" b="-258375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607414" y="1840537"/>
            <a:ext cx="3428705" cy="2346127"/>
          </a:xfrm>
          <a:custGeom>
            <a:avLst/>
            <a:gdLst/>
            <a:ahLst/>
            <a:cxnLst/>
            <a:rect r="r" b="b" t="t" l="l"/>
            <a:pathLst>
              <a:path h="2346127" w="3428705">
                <a:moveTo>
                  <a:pt x="0" y="0"/>
                </a:moveTo>
                <a:lnTo>
                  <a:pt x="3428705" y="0"/>
                </a:lnTo>
                <a:lnTo>
                  <a:pt x="3428705" y="2346126"/>
                </a:lnTo>
                <a:lnTo>
                  <a:pt x="0" y="234612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99999" t="-280369" r="0" b="-269155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743004" y="3396619"/>
            <a:ext cx="5135128" cy="3043557"/>
          </a:xfrm>
          <a:custGeom>
            <a:avLst/>
            <a:gdLst/>
            <a:ahLst/>
            <a:cxnLst/>
            <a:rect r="r" b="b" t="t" l="l"/>
            <a:pathLst>
              <a:path h="3043557" w="5135128">
                <a:moveTo>
                  <a:pt x="0" y="0"/>
                </a:moveTo>
                <a:lnTo>
                  <a:pt x="5135127" y="0"/>
                </a:lnTo>
                <a:lnTo>
                  <a:pt x="5135127" y="3043557"/>
                </a:lnTo>
                <a:lnTo>
                  <a:pt x="0" y="304355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-6205" r="0" b="-6205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121754" y="1901743"/>
            <a:ext cx="6799565" cy="116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678"/>
              </a:lnSpc>
            </a:pPr>
            <a:r>
              <a:rPr lang="en-US" sz="8946">
                <a:solidFill>
                  <a:srgbClr val="000000"/>
                </a:solidFill>
                <a:latin typeface="Flatory Slab"/>
                <a:ea typeface="Flatory Slab"/>
                <a:cs typeface="Flatory Slab"/>
                <a:sym typeface="Flatory Slab"/>
              </a:rPr>
              <a:t>VENTAJAS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88897" y="838687"/>
            <a:ext cx="5432857" cy="3363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4"/>
              </a:lnSpc>
            </a:pPr>
            <a:r>
              <a:rPr lang="en-US" sz="1994">
                <a:solidFill>
                  <a:srgbClr val="0097B2"/>
                </a:solidFill>
                <a:latin typeface="Handy Casual"/>
                <a:ea typeface="Handy Casual"/>
                <a:cs typeface="Handy Casual"/>
                <a:sym typeface="Handy Casual"/>
              </a:rPr>
              <a:t> PERMANENCIA: </a:t>
            </a:r>
            <a:r>
              <a:rPr lang="en-US" sz="1994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A DIFERENCIA DE UN EXPERTO HUMANO UN SE (SISTEMA EXPERTO) NO ENVEJECE,POR TANTO NO SUFRE </a:t>
            </a:r>
          </a:p>
          <a:p>
            <a:pPr algn="ctr">
              <a:lnSpc>
                <a:spcPts val="1934"/>
              </a:lnSpc>
            </a:pPr>
            <a:r>
              <a:rPr lang="en-US" sz="1994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pérdida de facultades con el paso del tiempo.</a:t>
            </a:r>
          </a:p>
          <a:p>
            <a:pPr algn="ctr">
              <a:lnSpc>
                <a:spcPts val="1934"/>
              </a:lnSpc>
            </a:pPr>
          </a:p>
          <a:p>
            <a:pPr algn="ctr">
              <a:lnSpc>
                <a:spcPts val="1934"/>
              </a:lnSpc>
            </a:pPr>
            <a:r>
              <a:rPr lang="en-US" sz="1994">
                <a:solidFill>
                  <a:srgbClr val="0097B2"/>
                </a:solidFill>
                <a:latin typeface="Handy Casual"/>
                <a:ea typeface="Handy Casual"/>
                <a:cs typeface="Handy Casual"/>
                <a:sym typeface="Handy Casual"/>
              </a:rPr>
              <a:t> Replicación: </a:t>
            </a:r>
            <a:r>
              <a:rPr lang="en-US" sz="1994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Una vez programado un SE lo podemos replicar infinidad de veces.</a:t>
            </a:r>
          </a:p>
          <a:p>
            <a:pPr algn="ctr">
              <a:lnSpc>
                <a:spcPts val="1934"/>
              </a:lnSpc>
            </a:pPr>
          </a:p>
          <a:p>
            <a:pPr algn="just">
              <a:lnSpc>
                <a:spcPts val="1934"/>
              </a:lnSpc>
            </a:pPr>
            <a:r>
              <a:rPr lang="en-US" sz="1994">
                <a:solidFill>
                  <a:srgbClr val="0097B2"/>
                </a:solidFill>
                <a:latin typeface="Handy Casual"/>
                <a:ea typeface="Handy Casual"/>
                <a:cs typeface="Handy Casual"/>
                <a:sym typeface="Handy Casual"/>
              </a:rPr>
              <a:t> RAPIDEZ:</a:t>
            </a:r>
            <a:r>
              <a:rPr lang="en-US" sz="1994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 UN SE PUEDE OBTENER INFORMACIÓN DE UNA BASE DE DATOS Y REALIZAR CÁLCULOS NUMÉRICOS MUCHO MÁS </a:t>
            </a:r>
          </a:p>
          <a:p>
            <a:pPr algn="ctr">
              <a:lnSpc>
                <a:spcPts val="1934"/>
              </a:lnSpc>
            </a:pPr>
            <a:r>
              <a:rPr lang="en-US" sz="1994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rápido que cualquier ser humano.</a:t>
            </a:r>
          </a:p>
          <a:p>
            <a:pPr algn="ctr">
              <a:lnSpc>
                <a:spcPts val="1934"/>
              </a:lnSpc>
            </a:pPr>
          </a:p>
          <a:p>
            <a:pPr algn="ctr">
              <a:lnSpc>
                <a:spcPts val="1934"/>
              </a:lnSpc>
            </a:pPr>
            <a:r>
              <a:rPr lang="en-US" sz="1994">
                <a:solidFill>
                  <a:srgbClr val="0097B2"/>
                </a:solidFill>
                <a:latin typeface="Handy Casual"/>
                <a:ea typeface="Handy Casual"/>
                <a:cs typeface="Handy Casual"/>
                <a:sym typeface="Handy Casual"/>
              </a:rPr>
              <a:t> Bajo costo:</a:t>
            </a:r>
            <a:r>
              <a:rPr lang="en-US" sz="1994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 A pesar de que el costo inicial pueda ser elevado, gracias a la capacidad de duplicación el coste </a:t>
            </a:r>
          </a:p>
          <a:p>
            <a:pPr algn="ctr" marL="0" indent="0" lvl="0">
              <a:lnSpc>
                <a:spcPts val="1934"/>
              </a:lnSpc>
            </a:pPr>
            <a:r>
              <a:rPr lang="en-US" sz="1994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finalmente es bajo</a:t>
            </a:r>
          </a:p>
        </p:txBody>
      </p:sp>
      <p:sp>
        <p:nvSpPr>
          <p:cNvPr name="Freeform 15" id="15"/>
          <p:cNvSpPr/>
          <p:nvPr/>
        </p:nvSpPr>
        <p:spPr>
          <a:xfrm flipH="true" flipV="true" rot="2699999">
            <a:off x="6075561" y="1805001"/>
            <a:ext cx="923445" cy="254086"/>
          </a:xfrm>
          <a:custGeom>
            <a:avLst/>
            <a:gdLst/>
            <a:ahLst/>
            <a:cxnLst/>
            <a:rect r="r" b="b" t="t" l="l"/>
            <a:pathLst>
              <a:path h="254086" w="923445">
                <a:moveTo>
                  <a:pt x="923445" y="254085"/>
                </a:moveTo>
                <a:lnTo>
                  <a:pt x="0" y="254085"/>
                </a:lnTo>
                <a:lnTo>
                  <a:pt x="0" y="0"/>
                </a:lnTo>
                <a:lnTo>
                  <a:pt x="923445" y="0"/>
                </a:lnTo>
                <a:lnTo>
                  <a:pt x="923445" y="254085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4577913" y="7820056"/>
            <a:ext cx="3086100" cy="2025253"/>
            <a:chOff x="0" y="0"/>
            <a:chExt cx="812800" cy="533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533400"/>
            </a:xfrm>
            <a:custGeom>
              <a:avLst/>
              <a:gdLst/>
              <a:ahLst/>
              <a:cxnLst/>
              <a:rect r="r" b="b" t="t" l="l"/>
              <a:pathLst>
                <a:path h="533400" w="812800">
                  <a:moveTo>
                    <a:pt x="461490" y="0"/>
                  </a:moveTo>
                  <a:cubicBezTo>
                    <a:pt x="470405" y="0"/>
                    <a:pt x="479374" y="0"/>
                    <a:pt x="488272" y="0"/>
                  </a:cubicBezTo>
                  <a:cubicBezTo>
                    <a:pt x="559210" y="8909"/>
                    <a:pt x="603543" y="38564"/>
                    <a:pt x="623736" y="87090"/>
                  </a:cubicBezTo>
                  <a:cubicBezTo>
                    <a:pt x="742003" y="80618"/>
                    <a:pt x="827989" y="172373"/>
                    <a:pt x="775586" y="262426"/>
                  </a:cubicBezTo>
                  <a:cubicBezTo>
                    <a:pt x="793012" y="281349"/>
                    <a:pt x="807550" y="302517"/>
                    <a:pt x="812800" y="330926"/>
                  </a:cubicBezTo>
                  <a:cubicBezTo>
                    <a:pt x="812800" y="339065"/>
                    <a:pt x="812800" y="347184"/>
                    <a:pt x="812800" y="355321"/>
                  </a:cubicBezTo>
                  <a:cubicBezTo>
                    <a:pt x="797154" y="427627"/>
                    <a:pt x="729827" y="476486"/>
                    <a:pt x="619295" y="463333"/>
                  </a:cubicBezTo>
                  <a:cubicBezTo>
                    <a:pt x="590856" y="500459"/>
                    <a:pt x="540252" y="537638"/>
                    <a:pt x="461507" y="533008"/>
                  </a:cubicBezTo>
                  <a:cubicBezTo>
                    <a:pt x="420804" y="530570"/>
                    <a:pt x="392488" y="516453"/>
                    <a:pt x="367697" y="499302"/>
                  </a:cubicBezTo>
                  <a:cubicBezTo>
                    <a:pt x="341584" y="513559"/>
                    <a:pt x="313304" y="524747"/>
                    <a:pt x="272443" y="524871"/>
                  </a:cubicBezTo>
                  <a:cubicBezTo>
                    <a:pt x="177910" y="525082"/>
                    <a:pt x="114672" y="470155"/>
                    <a:pt x="113139" y="394815"/>
                  </a:cubicBezTo>
                  <a:cubicBezTo>
                    <a:pt x="52367" y="377190"/>
                    <a:pt x="11206" y="344291"/>
                    <a:pt x="0" y="287995"/>
                  </a:cubicBezTo>
                  <a:cubicBezTo>
                    <a:pt x="0" y="279858"/>
                    <a:pt x="0" y="271704"/>
                    <a:pt x="0" y="263601"/>
                  </a:cubicBezTo>
                  <a:cubicBezTo>
                    <a:pt x="12369" y="207816"/>
                    <a:pt x="51292" y="172776"/>
                    <a:pt x="116099" y="157922"/>
                  </a:cubicBezTo>
                  <a:cubicBezTo>
                    <a:pt x="112205" y="63818"/>
                    <a:pt x="241837" y="5016"/>
                    <a:pt x="348333" y="46474"/>
                  </a:cubicBezTo>
                  <a:cubicBezTo>
                    <a:pt x="373689" y="25973"/>
                    <a:pt x="409562" y="3613"/>
                    <a:pt x="46149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38100" y="41275"/>
              <a:ext cx="736600" cy="415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37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445063" y="7609788"/>
            <a:ext cx="3203217" cy="2445788"/>
            <a:chOff x="0" y="0"/>
            <a:chExt cx="1064514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64514" cy="812800"/>
            </a:xfrm>
            <a:custGeom>
              <a:avLst/>
              <a:gdLst/>
              <a:ahLst/>
              <a:cxnLst/>
              <a:rect r="r" b="b" t="t" l="l"/>
              <a:pathLst>
                <a:path h="812800" w="1064514">
                  <a:moveTo>
                    <a:pt x="1064514" y="406400"/>
                  </a:moveTo>
                  <a:lnTo>
                    <a:pt x="658114" y="0"/>
                  </a:lnTo>
                  <a:lnTo>
                    <a:pt x="658114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658114" y="609600"/>
                  </a:lnTo>
                  <a:lnTo>
                    <a:pt x="658114" y="812800"/>
                  </a:lnTo>
                  <a:lnTo>
                    <a:pt x="1064514" y="406400"/>
                  </a:ln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155575"/>
              <a:ext cx="962914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37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88897" y="7541550"/>
            <a:ext cx="3105425" cy="2640849"/>
            <a:chOff x="0" y="0"/>
            <a:chExt cx="955787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55787" cy="812800"/>
            </a:xfrm>
            <a:custGeom>
              <a:avLst/>
              <a:gdLst/>
              <a:ahLst/>
              <a:cxnLst/>
              <a:rect r="r" b="b" t="t" l="l"/>
              <a:pathLst>
                <a:path h="812800" w="955787">
                  <a:moveTo>
                    <a:pt x="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955787" y="203200"/>
                  </a:lnTo>
                  <a:lnTo>
                    <a:pt x="955787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0" y="406400"/>
                  </a:ln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101600" y="155575"/>
              <a:ext cx="854187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37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2468799" y="5840568"/>
            <a:ext cx="4925112" cy="3288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9"/>
              </a:lnSpc>
            </a:pPr>
            <a:r>
              <a:rPr lang="en-US" sz="2452">
                <a:solidFill>
                  <a:srgbClr val="0097B2"/>
                </a:solidFill>
                <a:latin typeface="Handy Casual"/>
                <a:ea typeface="Handy Casual"/>
                <a:cs typeface="Handy Casual"/>
                <a:sym typeface="Handy Casual"/>
              </a:rPr>
              <a:t> ENTORNOS PELIGROSOS: </a:t>
            </a:r>
            <a:r>
              <a:rPr lang="en-US" sz="2452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UN SE PUEDE TRABAJAR EN ENTORNOS PELIGROSOS O DAÑINOS PARA EL SER HUMANO.</a:t>
            </a:r>
          </a:p>
          <a:p>
            <a:pPr algn="ctr">
              <a:lnSpc>
                <a:spcPts val="2379"/>
              </a:lnSpc>
            </a:pPr>
          </a:p>
          <a:p>
            <a:pPr algn="ctr">
              <a:lnSpc>
                <a:spcPts val="2379"/>
              </a:lnSpc>
            </a:pPr>
            <a:r>
              <a:rPr lang="en-US" sz="2452">
                <a:solidFill>
                  <a:srgbClr val="0097B2"/>
                </a:solidFill>
                <a:latin typeface="Handy Casual"/>
                <a:ea typeface="Handy Casual"/>
                <a:cs typeface="Handy Casual"/>
                <a:sym typeface="Handy Casual"/>
              </a:rPr>
              <a:t> Fiabilidad: </a:t>
            </a:r>
            <a:r>
              <a:rPr lang="en-US" sz="2452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Los SE no se ven afectados por condiciones externas, un humano sí (cansancio, presión, etc.).</a:t>
            </a:r>
          </a:p>
          <a:p>
            <a:pPr algn="ctr">
              <a:lnSpc>
                <a:spcPts val="2379"/>
              </a:lnSpc>
            </a:pPr>
          </a:p>
          <a:p>
            <a:pPr algn="ctr">
              <a:lnSpc>
                <a:spcPts val="2379"/>
              </a:lnSpc>
            </a:pPr>
            <a:r>
              <a:rPr lang="en-US" sz="2452">
                <a:solidFill>
                  <a:srgbClr val="0097B2"/>
                </a:solidFill>
                <a:latin typeface="Handy Casual"/>
                <a:ea typeface="Handy Casual"/>
                <a:cs typeface="Handy Casual"/>
                <a:sym typeface="Handy Casual"/>
              </a:rPr>
              <a:t> Consolidar</a:t>
            </a:r>
            <a:r>
              <a:rPr lang="en-US" sz="2452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 varios conocimientos.</a:t>
            </a:r>
          </a:p>
          <a:p>
            <a:pPr algn="ctr">
              <a:lnSpc>
                <a:spcPts val="2379"/>
              </a:lnSpc>
            </a:pPr>
          </a:p>
          <a:p>
            <a:pPr algn="ctr" marL="0" indent="0" lvl="0">
              <a:lnSpc>
                <a:spcPts val="2379"/>
              </a:lnSpc>
            </a:pPr>
            <a:r>
              <a:rPr lang="en-US" sz="2452">
                <a:solidFill>
                  <a:srgbClr val="0097B2"/>
                </a:solidFill>
                <a:latin typeface="Handy Casual"/>
                <a:ea typeface="Handy Casual"/>
                <a:cs typeface="Handy Casual"/>
                <a:sym typeface="Handy Casual"/>
              </a:rPr>
              <a:t></a:t>
            </a:r>
            <a:r>
              <a:rPr lang="en-US" sz="2452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 </a:t>
            </a:r>
            <a:r>
              <a:rPr lang="en-US" sz="2452">
                <a:solidFill>
                  <a:srgbClr val="0097B2"/>
                </a:solidFill>
                <a:latin typeface="Handy Casual"/>
                <a:ea typeface="Handy Casual"/>
                <a:cs typeface="Handy Casual"/>
                <a:sym typeface="Handy Casual"/>
              </a:rPr>
              <a:t>APOYO</a:t>
            </a:r>
            <a:r>
              <a:rPr lang="en-US" sz="2452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 Académico.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957777" y="8282229"/>
            <a:ext cx="2525262" cy="1053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25"/>
              </a:lnSpc>
            </a:pPr>
            <a:r>
              <a:rPr lang="en-US" sz="6161" u="sng">
                <a:solidFill>
                  <a:srgbClr val="0097B2"/>
                </a:solidFill>
                <a:latin typeface="Open Sans"/>
                <a:ea typeface="Open Sans"/>
                <a:cs typeface="Open Sans"/>
                <a:sym typeface="Open Sans"/>
                <a:hlinkClick r:id="rId15" action="ppaction://hlinksldjump"/>
              </a:rPr>
              <a:t>INDICE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445063" y="8310804"/>
            <a:ext cx="2664122" cy="787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56"/>
              </a:lnSpc>
            </a:pPr>
            <a:r>
              <a:rPr lang="en-US" sz="4611" u="sng">
                <a:solidFill>
                  <a:srgbClr val="0097B2"/>
                </a:solidFill>
                <a:latin typeface="Open Sans"/>
                <a:ea typeface="Open Sans"/>
                <a:cs typeface="Open Sans"/>
                <a:sym typeface="Open Sans"/>
                <a:hlinkClick r:id="rId16" action="ppaction://hlinksldjump"/>
              </a:rPr>
              <a:t>Siguiente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53864" y="8392906"/>
            <a:ext cx="2436452" cy="795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61"/>
              </a:lnSpc>
            </a:pPr>
            <a:r>
              <a:rPr lang="en-US" sz="4686" u="sng">
                <a:solidFill>
                  <a:srgbClr val="0097B2"/>
                </a:solidFill>
                <a:latin typeface="Open Sans"/>
                <a:ea typeface="Open Sans"/>
                <a:cs typeface="Open Sans"/>
                <a:sym typeface="Open Sans"/>
                <a:hlinkClick r:id="rId17" action="ppaction://hlinksldjump"/>
              </a:rPr>
              <a:t>Anterior </a:t>
            </a:r>
          </a:p>
        </p:txBody>
      </p:sp>
    </p:spTree>
  </p:cSld>
  <p:clrMapOvr>
    <a:masterClrMapping/>
  </p:clrMapOvr>
  <p:transition spd="fast">
    <p:cover dir="rd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1346762" y="-569226"/>
            <a:ext cx="2980946" cy="4119398"/>
          </a:xfrm>
          <a:custGeom>
            <a:avLst/>
            <a:gdLst/>
            <a:ahLst/>
            <a:cxnLst/>
            <a:rect r="r" b="b" t="t" l="l"/>
            <a:pathLst>
              <a:path h="4119398" w="2980946">
                <a:moveTo>
                  <a:pt x="0" y="0"/>
                </a:moveTo>
                <a:lnTo>
                  <a:pt x="2980946" y="0"/>
                </a:lnTo>
                <a:lnTo>
                  <a:pt x="2980946" y="4119398"/>
                </a:lnTo>
                <a:lnTo>
                  <a:pt x="0" y="41193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5400000">
            <a:off x="13716570" y="108481"/>
            <a:ext cx="2977619" cy="4114800"/>
          </a:xfrm>
          <a:custGeom>
            <a:avLst/>
            <a:gdLst/>
            <a:ahLst/>
            <a:cxnLst/>
            <a:rect r="r" b="b" t="t" l="l"/>
            <a:pathLst>
              <a:path h="4114800" w="2977619">
                <a:moveTo>
                  <a:pt x="0" y="0"/>
                </a:moveTo>
                <a:lnTo>
                  <a:pt x="2977619" y="0"/>
                </a:lnTo>
                <a:lnTo>
                  <a:pt x="29776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5400000">
            <a:off x="1334166" y="2366518"/>
            <a:ext cx="2914986" cy="4028247"/>
          </a:xfrm>
          <a:custGeom>
            <a:avLst/>
            <a:gdLst/>
            <a:ahLst/>
            <a:cxnLst/>
            <a:rect r="r" b="b" t="t" l="l"/>
            <a:pathLst>
              <a:path h="4028247" w="2914986">
                <a:moveTo>
                  <a:pt x="0" y="0"/>
                </a:moveTo>
                <a:lnTo>
                  <a:pt x="2914986" y="0"/>
                </a:lnTo>
                <a:lnTo>
                  <a:pt x="2914986" y="4028247"/>
                </a:lnTo>
                <a:lnTo>
                  <a:pt x="0" y="402824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5400000">
            <a:off x="13716570" y="3086100"/>
            <a:ext cx="2977619" cy="4114800"/>
          </a:xfrm>
          <a:custGeom>
            <a:avLst/>
            <a:gdLst/>
            <a:ahLst/>
            <a:cxnLst/>
            <a:rect r="r" b="b" t="t" l="l"/>
            <a:pathLst>
              <a:path h="4114800" w="2977619">
                <a:moveTo>
                  <a:pt x="0" y="0"/>
                </a:moveTo>
                <a:lnTo>
                  <a:pt x="2977619" y="0"/>
                </a:lnTo>
                <a:lnTo>
                  <a:pt x="29776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5400000">
            <a:off x="1310379" y="5166096"/>
            <a:ext cx="3139305" cy="4338235"/>
          </a:xfrm>
          <a:custGeom>
            <a:avLst/>
            <a:gdLst/>
            <a:ahLst/>
            <a:cxnLst/>
            <a:rect r="r" b="b" t="t" l="l"/>
            <a:pathLst>
              <a:path h="4338235" w="3139305">
                <a:moveTo>
                  <a:pt x="0" y="0"/>
                </a:moveTo>
                <a:lnTo>
                  <a:pt x="3139304" y="0"/>
                </a:lnTo>
                <a:lnTo>
                  <a:pt x="3139304" y="4338235"/>
                </a:lnTo>
                <a:lnTo>
                  <a:pt x="0" y="433823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5400000">
            <a:off x="13716570" y="6063719"/>
            <a:ext cx="2977619" cy="4114800"/>
          </a:xfrm>
          <a:custGeom>
            <a:avLst/>
            <a:gdLst/>
            <a:ahLst/>
            <a:cxnLst/>
            <a:rect r="r" b="b" t="t" l="l"/>
            <a:pathLst>
              <a:path h="4114800" w="2977619">
                <a:moveTo>
                  <a:pt x="0" y="0"/>
                </a:moveTo>
                <a:lnTo>
                  <a:pt x="2977619" y="0"/>
                </a:lnTo>
                <a:lnTo>
                  <a:pt x="29776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true" flipV="false" rot="0">
            <a:off x="5077724" y="2479763"/>
            <a:ext cx="1434503" cy="394703"/>
          </a:xfrm>
          <a:custGeom>
            <a:avLst/>
            <a:gdLst/>
            <a:ahLst/>
            <a:cxnLst/>
            <a:rect r="r" b="b" t="t" l="l"/>
            <a:pathLst>
              <a:path h="394703" w="1434503">
                <a:moveTo>
                  <a:pt x="1434502" y="0"/>
                </a:moveTo>
                <a:lnTo>
                  <a:pt x="0" y="0"/>
                </a:lnTo>
                <a:lnTo>
                  <a:pt x="0" y="394703"/>
                </a:lnTo>
                <a:lnTo>
                  <a:pt x="1434502" y="394703"/>
                </a:lnTo>
                <a:lnTo>
                  <a:pt x="1434502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-10800000">
            <a:off x="11839536" y="7639081"/>
            <a:ext cx="1434503" cy="394703"/>
          </a:xfrm>
          <a:custGeom>
            <a:avLst/>
            <a:gdLst/>
            <a:ahLst/>
            <a:cxnLst/>
            <a:rect r="r" b="b" t="t" l="l"/>
            <a:pathLst>
              <a:path h="394703" w="1434503">
                <a:moveTo>
                  <a:pt x="1434503" y="0"/>
                </a:moveTo>
                <a:lnTo>
                  <a:pt x="0" y="0"/>
                </a:lnTo>
                <a:lnTo>
                  <a:pt x="0" y="394703"/>
                </a:lnTo>
                <a:lnTo>
                  <a:pt x="1434503" y="394703"/>
                </a:lnTo>
                <a:lnTo>
                  <a:pt x="1434503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0">
            <a:off x="5077724" y="7639081"/>
            <a:ext cx="1434503" cy="394703"/>
          </a:xfrm>
          <a:custGeom>
            <a:avLst/>
            <a:gdLst/>
            <a:ahLst/>
            <a:cxnLst/>
            <a:rect r="r" b="b" t="t" l="l"/>
            <a:pathLst>
              <a:path h="394703" w="1434503">
                <a:moveTo>
                  <a:pt x="1434502" y="394703"/>
                </a:moveTo>
                <a:lnTo>
                  <a:pt x="0" y="394703"/>
                </a:lnTo>
                <a:lnTo>
                  <a:pt x="0" y="0"/>
                </a:lnTo>
                <a:lnTo>
                  <a:pt x="1434502" y="0"/>
                </a:lnTo>
                <a:lnTo>
                  <a:pt x="1434502" y="394703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-10800000">
            <a:off x="11839536" y="2479763"/>
            <a:ext cx="1434503" cy="394703"/>
          </a:xfrm>
          <a:custGeom>
            <a:avLst/>
            <a:gdLst/>
            <a:ahLst/>
            <a:cxnLst/>
            <a:rect r="r" b="b" t="t" l="l"/>
            <a:pathLst>
              <a:path h="394703" w="1434503">
                <a:moveTo>
                  <a:pt x="1434503" y="394703"/>
                </a:moveTo>
                <a:lnTo>
                  <a:pt x="0" y="394703"/>
                </a:lnTo>
                <a:lnTo>
                  <a:pt x="0" y="0"/>
                </a:lnTo>
                <a:lnTo>
                  <a:pt x="1434503" y="0"/>
                </a:lnTo>
                <a:lnTo>
                  <a:pt x="1434503" y="394703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true" rot="697682">
            <a:off x="5077724" y="4893243"/>
            <a:ext cx="1434503" cy="394703"/>
          </a:xfrm>
          <a:custGeom>
            <a:avLst/>
            <a:gdLst/>
            <a:ahLst/>
            <a:cxnLst/>
            <a:rect r="r" b="b" t="t" l="l"/>
            <a:pathLst>
              <a:path h="394703" w="1434503">
                <a:moveTo>
                  <a:pt x="1434502" y="394703"/>
                </a:moveTo>
                <a:lnTo>
                  <a:pt x="0" y="394703"/>
                </a:lnTo>
                <a:lnTo>
                  <a:pt x="0" y="0"/>
                </a:lnTo>
                <a:lnTo>
                  <a:pt x="1434502" y="0"/>
                </a:lnTo>
                <a:lnTo>
                  <a:pt x="1434502" y="394703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true" rot="-10102317">
            <a:off x="11839536" y="4893243"/>
            <a:ext cx="1434503" cy="394703"/>
          </a:xfrm>
          <a:custGeom>
            <a:avLst/>
            <a:gdLst/>
            <a:ahLst/>
            <a:cxnLst/>
            <a:rect r="r" b="b" t="t" l="l"/>
            <a:pathLst>
              <a:path h="394703" w="1434503">
                <a:moveTo>
                  <a:pt x="1434503" y="394703"/>
                </a:moveTo>
                <a:lnTo>
                  <a:pt x="0" y="394703"/>
                </a:lnTo>
                <a:lnTo>
                  <a:pt x="0" y="0"/>
                </a:lnTo>
                <a:lnTo>
                  <a:pt x="1434503" y="0"/>
                </a:lnTo>
                <a:lnTo>
                  <a:pt x="1434503" y="394703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617001" y="71073"/>
            <a:ext cx="5197478" cy="7962710"/>
          </a:xfrm>
          <a:custGeom>
            <a:avLst/>
            <a:gdLst/>
            <a:ahLst/>
            <a:cxnLst/>
            <a:rect r="r" b="b" t="t" l="l"/>
            <a:pathLst>
              <a:path h="7962710" w="5197478">
                <a:moveTo>
                  <a:pt x="0" y="0"/>
                </a:moveTo>
                <a:lnTo>
                  <a:pt x="5197478" y="0"/>
                </a:lnTo>
                <a:lnTo>
                  <a:pt x="5197478" y="7962711"/>
                </a:lnTo>
                <a:lnTo>
                  <a:pt x="0" y="796271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370190" y="2422385"/>
            <a:ext cx="3516893" cy="2464611"/>
          </a:xfrm>
          <a:custGeom>
            <a:avLst/>
            <a:gdLst/>
            <a:ahLst/>
            <a:cxnLst/>
            <a:rect r="r" b="b" t="t" l="l"/>
            <a:pathLst>
              <a:path h="2464611" w="3516893">
                <a:moveTo>
                  <a:pt x="0" y="0"/>
                </a:moveTo>
                <a:lnTo>
                  <a:pt x="3516894" y="0"/>
                </a:lnTo>
                <a:lnTo>
                  <a:pt x="3516894" y="2464611"/>
                </a:lnTo>
                <a:lnTo>
                  <a:pt x="0" y="246461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-389" t="-21625" r="0" b="-21625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159163" y="4840695"/>
            <a:ext cx="4069672" cy="2798385"/>
          </a:xfrm>
          <a:custGeom>
            <a:avLst/>
            <a:gdLst/>
            <a:ahLst/>
            <a:cxnLst/>
            <a:rect r="r" b="b" t="t" l="l"/>
            <a:pathLst>
              <a:path h="2798385" w="4069672">
                <a:moveTo>
                  <a:pt x="0" y="0"/>
                </a:moveTo>
                <a:lnTo>
                  <a:pt x="4069672" y="0"/>
                </a:lnTo>
                <a:lnTo>
                  <a:pt x="4069672" y="2798386"/>
                </a:lnTo>
                <a:lnTo>
                  <a:pt x="0" y="2798386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-22714" r="0" b="-22714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0665840" y="8033784"/>
            <a:ext cx="2637134" cy="2181022"/>
            <a:chOff x="0" y="0"/>
            <a:chExt cx="982779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82779" cy="812800"/>
            </a:xfrm>
            <a:custGeom>
              <a:avLst/>
              <a:gdLst/>
              <a:ahLst/>
              <a:cxnLst/>
              <a:rect r="r" b="b" t="t" l="l"/>
              <a:pathLst>
                <a:path h="812800" w="982779">
                  <a:moveTo>
                    <a:pt x="982779" y="406400"/>
                  </a:moveTo>
                  <a:lnTo>
                    <a:pt x="576379" y="0"/>
                  </a:lnTo>
                  <a:lnTo>
                    <a:pt x="576379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576379" y="609600"/>
                  </a:lnTo>
                  <a:lnTo>
                    <a:pt x="576379" y="812800"/>
                  </a:lnTo>
                  <a:lnTo>
                    <a:pt x="982779" y="406400"/>
                  </a:ln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155575"/>
              <a:ext cx="881179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37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370190" y="8189552"/>
            <a:ext cx="3086100" cy="2025253"/>
            <a:chOff x="0" y="0"/>
            <a:chExt cx="812800" cy="533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533400"/>
            </a:xfrm>
            <a:custGeom>
              <a:avLst/>
              <a:gdLst/>
              <a:ahLst/>
              <a:cxnLst/>
              <a:rect r="r" b="b" t="t" l="l"/>
              <a:pathLst>
                <a:path h="533400" w="812800">
                  <a:moveTo>
                    <a:pt x="461490" y="0"/>
                  </a:moveTo>
                  <a:cubicBezTo>
                    <a:pt x="470405" y="0"/>
                    <a:pt x="479374" y="0"/>
                    <a:pt x="488272" y="0"/>
                  </a:cubicBezTo>
                  <a:cubicBezTo>
                    <a:pt x="559210" y="8909"/>
                    <a:pt x="603543" y="38564"/>
                    <a:pt x="623736" y="87090"/>
                  </a:cubicBezTo>
                  <a:cubicBezTo>
                    <a:pt x="742003" y="80618"/>
                    <a:pt x="827989" y="172373"/>
                    <a:pt x="775586" y="262426"/>
                  </a:cubicBezTo>
                  <a:cubicBezTo>
                    <a:pt x="793012" y="281349"/>
                    <a:pt x="807550" y="302517"/>
                    <a:pt x="812800" y="330926"/>
                  </a:cubicBezTo>
                  <a:cubicBezTo>
                    <a:pt x="812800" y="339065"/>
                    <a:pt x="812800" y="347184"/>
                    <a:pt x="812800" y="355321"/>
                  </a:cubicBezTo>
                  <a:cubicBezTo>
                    <a:pt x="797154" y="427627"/>
                    <a:pt x="729827" y="476486"/>
                    <a:pt x="619295" y="463333"/>
                  </a:cubicBezTo>
                  <a:cubicBezTo>
                    <a:pt x="590856" y="500459"/>
                    <a:pt x="540252" y="537638"/>
                    <a:pt x="461507" y="533008"/>
                  </a:cubicBezTo>
                  <a:cubicBezTo>
                    <a:pt x="420804" y="530570"/>
                    <a:pt x="392488" y="516453"/>
                    <a:pt x="367697" y="499302"/>
                  </a:cubicBezTo>
                  <a:cubicBezTo>
                    <a:pt x="341584" y="513559"/>
                    <a:pt x="313304" y="524747"/>
                    <a:pt x="272443" y="524871"/>
                  </a:cubicBezTo>
                  <a:cubicBezTo>
                    <a:pt x="177910" y="525082"/>
                    <a:pt x="114672" y="470155"/>
                    <a:pt x="113139" y="394815"/>
                  </a:cubicBezTo>
                  <a:cubicBezTo>
                    <a:pt x="52367" y="377190"/>
                    <a:pt x="11206" y="344291"/>
                    <a:pt x="0" y="287995"/>
                  </a:cubicBezTo>
                  <a:cubicBezTo>
                    <a:pt x="0" y="279858"/>
                    <a:pt x="0" y="271704"/>
                    <a:pt x="0" y="263601"/>
                  </a:cubicBezTo>
                  <a:cubicBezTo>
                    <a:pt x="12369" y="207816"/>
                    <a:pt x="51292" y="172776"/>
                    <a:pt x="116099" y="157922"/>
                  </a:cubicBezTo>
                  <a:cubicBezTo>
                    <a:pt x="112205" y="63818"/>
                    <a:pt x="241837" y="5016"/>
                    <a:pt x="348333" y="46474"/>
                  </a:cubicBezTo>
                  <a:cubicBezTo>
                    <a:pt x="373689" y="25973"/>
                    <a:pt x="409562" y="3613"/>
                    <a:pt x="46149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38100" y="41275"/>
              <a:ext cx="736600" cy="415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37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4695914" y="8033784"/>
            <a:ext cx="2463249" cy="2033969"/>
            <a:chOff x="0" y="0"/>
            <a:chExt cx="984346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84346" cy="812800"/>
            </a:xfrm>
            <a:custGeom>
              <a:avLst/>
              <a:gdLst/>
              <a:ahLst/>
              <a:cxnLst/>
              <a:rect r="r" b="b" t="t" l="l"/>
              <a:pathLst>
                <a:path h="812800" w="984346">
                  <a:moveTo>
                    <a:pt x="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984346" y="203200"/>
                  </a:lnTo>
                  <a:lnTo>
                    <a:pt x="984346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0" y="406400"/>
                  </a:ln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101600" y="155575"/>
              <a:ext cx="882746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37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6617001" y="1180725"/>
            <a:ext cx="5488205" cy="743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37"/>
              </a:lnSpc>
            </a:pPr>
            <a:r>
              <a:rPr lang="en-US" sz="5708">
                <a:solidFill>
                  <a:srgbClr val="0097B2"/>
                </a:solidFill>
                <a:latin typeface="Flatory Slab"/>
                <a:ea typeface="Flatory Slab"/>
                <a:cs typeface="Flatory Slab"/>
                <a:sym typeface="Flatory Slab"/>
              </a:rPr>
              <a:t>LIMITACIONES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35360" y="526982"/>
            <a:ext cx="3621667" cy="2150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6"/>
              </a:lnSpc>
            </a:pPr>
            <a:r>
              <a:rPr lang="en-US" sz="2522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 </a:t>
            </a:r>
            <a:r>
              <a:rPr lang="en-US" sz="2522">
                <a:solidFill>
                  <a:srgbClr val="0097B2"/>
                </a:solidFill>
                <a:latin typeface="Handy Casual"/>
                <a:ea typeface="Handy Casual"/>
                <a:cs typeface="Handy Casual"/>
                <a:sym typeface="Handy Casual"/>
              </a:rPr>
              <a:t>PERSPECTIVA</a:t>
            </a:r>
            <a:r>
              <a:rPr lang="en-US" sz="2522">
                <a:solidFill>
                  <a:srgbClr val="FF66C4"/>
                </a:solidFill>
                <a:latin typeface="Handy Casual"/>
                <a:ea typeface="Handy Casual"/>
                <a:cs typeface="Handy Casual"/>
                <a:sym typeface="Handy Casual"/>
              </a:rPr>
              <a:t> </a:t>
            </a:r>
            <a:r>
              <a:rPr lang="en-US" sz="2522">
                <a:solidFill>
                  <a:srgbClr val="0097B2"/>
                </a:solidFill>
                <a:latin typeface="Handy Casual"/>
                <a:ea typeface="Handy Casual"/>
                <a:cs typeface="Handy Casual"/>
                <a:sym typeface="Handy Casual"/>
              </a:rPr>
              <a:t>GLOBAL:</a:t>
            </a:r>
            <a:r>
              <a:rPr lang="en-US" sz="2522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 UN EXPERTO HUMANO ES CAPAZ DE DISTINGUIR CUALES SON LAS CUESTIONES RELEVANTES DE UN</a:t>
            </a:r>
          </a:p>
          <a:p>
            <a:pPr algn="ctr">
              <a:lnSpc>
                <a:spcPts val="2446"/>
              </a:lnSpc>
            </a:pPr>
            <a:r>
              <a:rPr lang="en-US" sz="2522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problema y separarlas de cuestiones secundarias.</a:t>
            </a:r>
          </a:p>
          <a:p>
            <a:pPr algn="ctr" marL="0" indent="0" lvl="0">
              <a:lnSpc>
                <a:spcPts val="2446"/>
              </a:lnSpc>
              <a:spcBef>
                <a:spcPct val="0"/>
              </a:spcBef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13182471" y="4288585"/>
            <a:ext cx="4076829" cy="2151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1"/>
              </a:lnSpc>
            </a:pPr>
            <a:r>
              <a:rPr lang="en-US" sz="2888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 </a:t>
            </a:r>
            <a:r>
              <a:rPr lang="en-US" sz="2888">
                <a:solidFill>
                  <a:srgbClr val="0097B2"/>
                </a:solidFill>
                <a:latin typeface="Handy Casual"/>
                <a:ea typeface="Handy Casual"/>
                <a:cs typeface="Handy Casual"/>
                <a:sym typeface="Handy Casual"/>
              </a:rPr>
              <a:t>LENGUAJE NATURAL</a:t>
            </a:r>
            <a:r>
              <a:rPr lang="en-US" sz="2888">
                <a:solidFill>
                  <a:srgbClr val="FF66C4"/>
                </a:solidFill>
                <a:latin typeface="Handy Casual"/>
                <a:ea typeface="Handy Casual"/>
                <a:cs typeface="Handy Casual"/>
                <a:sym typeface="Handy Casual"/>
              </a:rPr>
              <a:t> </a:t>
            </a:r>
            <a:r>
              <a:rPr lang="en-US" sz="2888">
                <a:solidFill>
                  <a:srgbClr val="0097B2"/>
                </a:solidFill>
                <a:latin typeface="Handy Casual"/>
                <a:ea typeface="Handy Casual"/>
                <a:cs typeface="Handy Casual"/>
                <a:sym typeface="Handy Casual"/>
              </a:rPr>
              <a:t>:</a:t>
            </a:r>
            <a:r>
              <a:rPr lang="en-US" sz="2888">
                <a:solidFill>
                  <a:srgbClr val="FF66C4"/>
                </a:solidFill>
                <a:latin typeface="Handy Casual"/>
                <a:ea typeface="Handy Casual"/>
                <a:cs typeface="Handy Casual"/>
                <a:sym typeface="Handy Casual"/>
              </a:rPr>
              <a:t> </a:t>
            </a:r>
            <a:r>
              <a:rPr lang="en-US" sz="2888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CON UN EXPERTO HUMANO PODEMOS MANTENER UNA CONVERSACIÓN INFORMAL MIENTRAS QUE CON</a:t>
            </a:r>
          </a:p>
          <a:p>
            <a:pPr algn="ctr">
              <a:lnSpc>
                <a:spcPts val="2801"/>
              </a:lnSpc>
            </a:pPr>
            <a:r>
              <a:rPr lang="en-US" sz="2888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un SE no podemos.</a:t>
            </a:r>
          </a:p>
          <a:p>
            <a:pPr algn="ctr" marL="0" indent="0" lvl="0">
              <a:lnSpc>
                <a:spcPts val="2801"/>
              </a:lnSpc>
              <a:spcBef>
                <a:spcPct val="0"/>
              </a:spcBef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1035360" y="3814871"/>
            <a:ext cx="3512598" cy="1198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8"/>
              </a:lnSpc>
            </a:pPr>
            <a:r>
              <a:rPr lang="en-US" sz="3194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 </a:t>
            </a:r>
            <a:r>
              <a:rPr lang="en-US" sz="3194">
                <a:solidFill>
                  <a:srgbClr val="0097B2"/>
                </a:solidFill>
                <a:latin typeface="Handy Casual"/>
                <a:ea typeface="Handy Casual"/>
                <a:cs typeface="Handy Casual"/>
                <a:sym typeface="Handy Casual"/>
              </a:rPr>
              <a:t>CAPACIDAD</a:t>
            </a:r>
            <a:r>
              <a:rPr lang="en-US" sz="3194">
                <a:solidFill>
                  <a:srgbClr val="FF66C4"/>
                </a:solidFill>
                <a:latin typeface="Handy Casual"/>
                <a:ea typeface="Handy Casual"/>
                <a:cs typeface="Handy Casual"/>
                <a:sym typeface="Handy Casual"/>
              </a:rPr>
              <a:t> </a:t>
            </a:r>
            <a:r>
              <a:rPr lang="en-US" sz="3194">
                <a:solidFill>
                  <a:srgbClr val="0097B2"/>
                </a:solidFill>
                <a:latin typeface="Handy Casual"/>
                <a:ea typeface="Handy Casual"/>
                <a:cs typeface="Handy Casual"/>
                <a:sym typeface="Handy Casual"/>
              </a:rPr>
              <a:t>SENSORIAL:</a:t>
            </a:r>
            <a:r>
              <a:rPr lang="en-US" sz="3194">
                <a:solidFill>
                  <a:srgbClr val="FF66C4"/>
                </a:solidFill>
                <a:latin typeface="Handy Casual"/>
                <a:ea typeface="Handy Casual"/>
                <a:cs typeface="Handy Casual"/>
                <a:sym typeface="Handy Casual"/>
              </a:rPr>
              <a:t> </a:t>
            </a:r>
            <a:r>
              <a:rPr lang="en-US" sz="3194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UN SE CARECE DE SENTIDOS.</a:t>
            </a:r>
          </a:p>
          <a:p>
            <a:pPr algn="ctr" marL="0" indent="0" lvl="0">
              <a:lnSpc>
                <a:spcPts val="3098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1028700" y="6277988"/>
            <a:ext cx="3525919" cy="2238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8"/>
              </a:lnSpc>
            </a:pPr>
            <a:r>
              <a:rPr lang="en-US" sz="2296">
                <a:solidFill>
                  <a:srgbClr val="FF66C4"/>
                </a:solidFill>
                <a:latin typeface="Handy Casual"/>
                <a:ea typeface="Handy Casual"/>
                <a:cs typeface="Handy Casual"/>
                <a:sym typeface="Handy Casual"/>
              </a:rPr>
              <a:t> </a:t>
            </a:r>
            <a:r>
              <a:rPr lang="en-US" sz="2296">
                <a:solidFill>
                  <a:srgbClr val="0097B2"/>
                </a:solidFill>
                <a:latin typeface="Handy Casual"/>
                <a:ea typeface="Handy Casual"/>
                <a:cs typeface="Handy Casual"/>
                <a:sym typeface="Handy Casual"/>
              </a:rPr>
              <a:t>FLEXIBILIDAD:</a:t>
            </a:r>
            <a:r>
              <a:rPr lang="en-US" sz="2296">
                <a:solidFill>
                  <a:srgbClr val="FF66C4"/>
                </a:solidFill>
                <a:latin typeface="Handy Casual"/>
                <a:ea typeface="Handy Casual"/>
                <a:cs typeface="Handy Casual"/>
                <a:sym typeface="Handy Casual"/>
              </a:rPr>
              <a:t> </a:t>
            </a:r>
            <a:r>
              <a:rPr lang="en-US" sz="2296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UN HUMANO ES SUMAMENTE FLEXIBLE A LA HORA DE ACEPTAR DATOS PARA LA RESOLUCIÓN DE UN PROBLEMA.</a:t>
            </a:r>
          </a:p>
          <a:p>
            <a:pPr algn="ctr">
              <a:lnSpc>
                <a:spcPts val="2228"/>
              </a:lnSpc>
            </a:pPr>
            <a:r>
              <a:rPr lang="en-US" sz="2296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 CONOCIMIENTO NO ESTRUCTURADO: UN SE NO ES CAPAZ DE MANEJAR CONOCIMIENTO POCO ESTRUCTURADO.</a:t>
            </a:r>
          </a:p>
          <a:p>
            <a:pPr algn="ctr" marL="0" indent="0" lvl="0">
              <a:lnSpc>
                <a:spcPts val="2228"/>
              </a:lnSpc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13517217" y="7124781"/>
            <a:ext cx="3564493" cy="2218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3"/>
              </a:lnSpc>
            </a:pPr>
            <a:r>
              <a:rPr lang="en-US" sz="2570">
                <a:solidFill>
                  <a:srgbClr val="0097B2"/>
                </a:solidFill>
                <a:latin typeface="Handy Casual"/>
                <a:ea typeface="Handy Casual"/>
                <a:cs typeface="Handy Casual"/>
                <a:sym typeface="Handy Casual"/>
              </a:rPr>
              <a:t> CAPACIDAD DE APRENDIZAJE:</a:t>
            </a:r>
            <a:r>
              <a:rPr lang="en-US" sz="2570">
                <a:solidFill>
                  <a:srgbClr val="FF66C4"/>
                </a:solidFill>
                <a:latin typeface="Handy Casual"/>
                <a:ea typeface="Handy Casual"/>
                <a:cs typeface="Handy Casual"/>
                <a:sym typeface="Handy Casual"/>
              </a:rPr>
              <a:t> </a:t>
            </a:r>
            <a:r>
              <a:rPr lang="en-US" sz="2570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CUALQUIER PERSONA APRENDE CON RELATIVA FACILIDAD DE SUS ERRORES Y DE ERRORES</a:t>
            </a:r>
          </a:p>
          <a:p>
            <a:pPr algn="ctr">
              <a:lnSpc>
                <a:spcPts val="2493"/>
              </a:lnSpc>
            </a:pPr>
            <a:r>
              <a:rPr lang="en-US" sz="2570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ajenos, que un SE haga esto es muy complicado.</a:t>
            </a:r>
          </a:p>
          <a:p>
            <a:pPr algn="ctr" marL="0" indent="0" lvl="0">
              <a:lnSpc>
                <a:spcPts val="2493"/>
              </a:lnSpc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13423200" y="1069407"/>
            <a:ext cx="3579932" cy="2240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0"/>
              </a:lnSpc>
            </a:pPr>
          </a:p>
          <a:p>
            <a:pPr algn="ctr">
              <a:lnSpc>
                <a:spcPts val="1970"/>
              </a:lnSpc>
            </a:pPr>
            <a:r>
              <a:rPr lang="en-US" sz="2031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 </a:t>
            </a:r>
            <a:r>
              <a:rPr lang="en-US" sz="2031">
                <a:solidFill>
                  <a:srgbClr val="0097B2"/>
                </a:solidFill>
                <a:latin typeface="Handy Casual"/>
                <a:ea typeface="Handy Casual"/>
                <a:cs typeface="Handy Casual"/>
                <a:sym typeface="Handy Casual"/>
              </a:rPr>
              <a:t>Sentido</a:t>
            </a:r>
            <a:r>
              <a:rPr lang="en-US" sz="2031">
                <a:solidFill>
                  <a:srgbClr val="FF66C4"/>
                </a:solidFill>
                <a:latin typeface="Handy Casual"/>
                <a:ea typeface="Handy Casual"/>
                <a:cs typeface="Handy Casual"/>
                <a:sym typeface="Handy Casual"/>
              </a:rPr>
              <a:t> </a:t>
            </a:r>
            <a:r>
              <a:rPr lang="en-US" sz="2031">
                <a:solidFill>
                  <a:srgbClr val="0097B2"/>
                </a:solidFill>
                <a:latin typeface="Handy Casual"/>
                <a:ea typeface="Handy Casual"/>
                <a:cs typeface="Handy Casual"/>
                <a:sym typeface="Handy Casual"/>
              </a:rPr>
              <a:t>común :</a:t>
            </a:r>
            <a:r>
              <a:rPr lang="en-US" sz="2031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Para un Sistema Experto no hay nada obvio. Por ejemplo, un sistema experto sobre medicina</a:t>
            </a:r>
          </a:p>
          <a:p>
            <a:pPr algn="ctr">
              <a:lnSpc>
                <a:spcPts val="1970"/>
              </a:lnSpc>
            </a:pPr>
            <a:r>
              <a:rPr lang="en-US" sz="2031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podría admitir que un hombre lleva 40 meses embarazado, a no ser que se especifique que esto no es posible</a:t>
            </a:r>
          </a:p>
          <a:p>
            <a:pPr algn="ctr">
              <a:lnSpc>
                <a:spcPts val="1970"/>
              </a:lnSpc>
            </a:pPr>
            <a:r>
              <a:rPr lang="en-US" sz="2031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ya que un hombre no puede gestar hijos.</a:t>
            </a:r>
          </a:p>
          <a:p>
            <a:pPr algn="ctr" marL="0" indent="0" lvl="0">
              <a:lnSpc>
                <a:spcPts val="1970"/>
              </a:lnSpc>
              <a:spcBef>
                <a:spcPct val="0"/>
              </a:spcBef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4945597" y="8607402"/>
            <a:ext cx="2235940" cy="738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1"/>
              </a:lnSpc>
            </a:pPr>
            <a:r>
              <a:rPr lang="en-US" sz="4301" u="sng">
                <a:solidFill>
                  <a:srgbClr val="0097B2"/>
                </a:solidFill>
                <a:latin typeface="Open Sans"/>
                <a:ea typeface="Open Sans"/>
                <a:cs typeface="Open Sans"/>
                <a:sym typeface="Open Sans"/>
                <a:hlinkClick r:id="rId19" action="ppaction://hlinksldjump"/>
              </a:rPr>
              <a:t>Anterior 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728028" y="8622433"/>
            <a:ext cx="2525262" cy="1053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25"/>
              </a:lnSpc>
            </a:pPr>
            <a:r>
              <a:rPr lang="en-US" sz="6161" u="sng">
                <a:solidFill>
                  <a:srgbClr val="0097B2"/>
                </a:solidFill>
                <a:latin typeface="Open Sans"/>
                <a:ea typeface="Open Sans"/>
                <a:cs typeface="Open Sans"/>
                <a:sym typeface="Open Sans"/>
                <a:hlinkClick r:id="rId20" action="ppaction://hlinksldjump"/>
              </a:rPr>
              <a:t>INDICE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735503" y="8689245"/>
            <a:ext cx="2208068" cy="655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51"/>
              </a:lnSpc>
            </a:pPr>
            <a:r>
              <a:rPr lang="en-US" sz="3822" u="sng">
                <a:solidFill>
                  <a:srgbClr val="0097B2"/>
                </a:solidFill>
                <a:latin typeface="Open Sans"/>
                <a:ea typeface="Open Sans"/>
                <a:cs typeface="Open Sans"/>
                <a:sym typeface="Open Sans"/>
                <a:hlinkClick r:id="rId21" action="ppaction://hlinksldjump"/>
              </a:rPr>
              <a:t>Siguiente</a:t>
            </a:r>
          </a:p>
        </p:txBody>
      </p:sp>
    </p:spTree>
  </p:cSld>
  <p:clrMapOvr>
    <a:masterClrMapping/>
  </p:clrMapOvr>
  <p:transition spd="fast">
    <p:cover dir="rd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444" r="0" b="-544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1597926" y="-554451"/>
            <a:ext cx="2980946" cy="4119398"/>
          </a:xfrm>
          <a:custGeom>
            <a:avLst/>
            <a:gdLst/>
            <a:ahLst/>
            <a:cxnLst/>
            <a:rect r="r" b="b" t="t" l="l"/>
            <a:pathLst>
              <a:path h="4119398" w="2980946">
                <a:moveTo>
                  <a:pt x="0" y="0"/>
                </a:moveTo>
                <a:lnTo>
                  <a:pt x="2980946" y="0"/>
                </a:lnTo>
                <a:lnTo>
                  <a:pt x="2980946" y="4119398"/>
                </a:lnTo>
                <a:lnTo>
                  <a:pt x="0" y="41193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5400000">
            <a:off x="13708180" y="159662"/>
            <a:ext cx="2930092" cy="4049122"/>
          </a:xfrm>
          <a:custGeom>
            <a:avLst/>
            <a:gdLst/>
            <a:ahLst/>
            <a:cxnLst/>
            <a:rect r="r" b="b" t="t" l="l"/>
            <a:pathLst>
              <a:path h="4049122" w="2930092">
                <a:moveTo>
                  <a:pt x="0" y="0"/>
                </a:moveTo>
                <a:lnTo>
                  <a:pt x="2930092" y="0"/>
                </a:lnTo>
                <a:lnTo>
                  <a:pt x="2930092" y="4049121"/>
                </a:lnTo>
                <a:lnTo>
                  <a:pt x="0" y="40491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5400000">
            <a:off x="1676481" y="2366518"/>
            <a:ext cx="2914986" cy="4028247"/>
          </a:xfrm>
          <a:custGeom>
            <a:avLst/>
            <a:gdLst/>
            <a:ahLst/>
            <a:cxnLst/>
            <a:rect r="r" b="b" t="t" l="l"/>
            <a:pathLst>
              <a:path h="4028247" w="2914986">
                <a:moveTo>
                  <a:pt x="0" y="0"/>
                </a:moveTo>
                <a:lnTo>
                  <a:pt x="2914986" y="0"/>
                </a:lnTo>
                <a:lnTo>
                  <a:pt x="2914986" y="4028247"/>
                </a:lnTo>
                <a:lnTo>
                  <a:pt x="0" y="402824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5400000">
            <a:off x="13716570" y="3086100"/>
            <a:ext cx="2977619" cy="4114800"/>
          </a:xfrm>
          <a:custGeom>
            <a:avLst/>
            <a:gdLst/>
            <a:ahLst/>
            <a:cxnLst/>
            <a:rect r="r" b="b" t="t" l="l"/>
            <a:pathLst>
              <a:path h="4114800" w="2977619">
                <a:moveTo>
                  <a:pt x="0" y="0"/>
                </a:moveTo>
                <a:lnTo>
                  <a:pt x="2977619" y="0"/>
                </a:lnTo>
                <a:lnTo>
                  <a:pt x="29776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5400000">
            <a:off x="1540318" y="5162728"/>
            <a:ext cx="3139305" cy="4338235"/>
          </a:xfrm>
          <a:custGeom>
            <a:avLst/>
            <a:gdLst/>
            <a:ahLst/>
            <a:cxnLst/>
            <a:rect r="r" b="b" t="t" l="l"/>
            <a:pathLst>
              <a:path h="4338235" w="3139305">
                <a:moveTo>
                  <a:pt x="0" y="0"/>
                </a:moveTo>
                <a:lnTo>
                  <a:pt x="3139305" y="0"/>
                </a:lnTo>
                <a:lnTo>
                  <a:pt x="3139305" y="4338235"/>
                </a:lnTo>
                <a:lnTo>
                  <a:pt x="0" y="433823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5400000">
            <a:off x="13838990" y="6242736"/>
            <a:ext cx="2892761" cy="3997535"/>
          </a:xfrm>
          <a:custGeom>
            <a:avLst/>
            <a:gdLst/>
            <a:ahLst/>
            <a:cxnLst/>
            <a:rect r="r" b="b" t="t" l="l"/>
            <a:pathLst>
              <a:path h="3997535" w="2892761">
                <a:moveTo>
                  <a:pt x="0" y="0"/>
                </a:moveTo>
                <a:lnTo>
                  <a:pt x="2892762" y="0"/>
                </a:lnTo>
                <a:lnTo>
                  <a:pt x="2892762" y="3997535"/>
                </a:lnTo>
                <a:lnTo>
                  <a:pt x="0" y="399753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true" flipV="true" rot="-10102317">
            <a:off x="11839536" y="4893243"/>
            <a:ext cx="1434503" cy="394703"/>
          </a:xfrm>
          <a:custGeom>
            <a:avLst/>
            <a:gdLst/>
            <a:ahLst/>
            <a:cxnLst/>
            <a:rect r="r" b="b" t="t" l="l"/>
            <a:pathLst>
              <a:path h="394703" w="1434503">
                <a:moveTo>
                  <a:pt x="1434503" y="394703"/>
                </a:moveTo>
                <a:lnTo>
                  <a:pt x="0" y="394703"/>
                </a:lnTo>
                <a:lnTo>
                  <a:pt x="0" y="0"/>
                </a:lnTo>
                <a:lnTo>
                  <a:pt x="1434503" y="0"/>
                </a:lnTo>
                <a:lnTo>
                  <a:pt x="1434503" y="394703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608771" y="8252859"/>
            <a:ext cx="2372408" cy="1958959"/>
            <a:chOff x="0" y="0"/>
            <a:chExt cx="984346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84346" cy="812800"/>
            </a:xfrm>
            <a:custGeom>
              <a:avLst/>
              <a:gdLst/>
              <a:ahLst/>
              <a:cxnLst/>
              <a:rect r="r" b="b" t="t" l="l"/>
              <a:pathLst>
                <a:path h="812800" w="984346">
                  <a:moveTo>
                    <a:pt x="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984346" y="203200"/>
                  </a:lnTo>
                  <a:lnTo>
                    <a:pt x="984346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0" y="406400"/>
                  </a:ln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101600" y="155575"/>
              <a:ext cx="882746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37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344149" y="8205310"/>
            <a:ext cx="3086100" cy="2025253"/>
            <a:chOff x="0" y="0"/>
            <a:chExt cx="812800" cy="533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533400"/>
            </a:xfrm>
            <a:custGeom>
              <a:avLst/>
              <a:gdLst/>
              <a:ahLst/>
              <a:cxnLst/>
              <a:rect r="r" b="b" t="t" l="l"/>
              <a:pathLst>
                <a:path h="533400" w="812800">
                  <a:moveTo>
                    <a:pt x="461490" y="0"/>
                  </a:moveTo>
                  <a:cubicBezTo>
                    <a:pt x="470405" y="0"/>
                    <a:pt x="479374" y="0"/>
                    <a:pt x="488272" y="0"/>
                  </a:cubicBezTo>
                  <a:cubicBezTo>
                    <a:pt x="559210" y="8909"/>
                    <a:pt x="603543" y="38564"/>
                    <a:pt x="623736" y="87090"/>
                  </a:cubicBezTo>
                  <a:cubicBezTo>
                    <a:pt x="742003" y="80618"/>
                    <a:pt x="827989" y="172373"/>
                    <a:pt x="775586" y="262426"/>
                  </a:cubicBezTo>
                  <a:cubicBezTo>
                    <a:pt x="793012" y="281349"/>
                    <a:pt x="807550" y="302517"/>
                    <a:pt x="812800" y="330926"/>
                  </a:cubicBezTo>
                  <a:cubicBezTo>
                    <a:pt x="812800" y="339065"/>
                    <a:pt x="812800" y="347184"/>
                    <a:pt x="812800" y="355321"/>
                  </a:cubicBezTo>
                  <a:cubicBezTo>
                    <a:pt x="797154" y="427627"/>
                    <a:pt x="729827" y="476486"/>
                    <a:pt x="619295" y="463333"/>
                  </a:cubicBezTo>
                  <a:cubicBezTo>
                    <a:pt x="590856" y="500459"/>
                    <a:pt x="540252" y="537638"/>
                    <a:pt x="461507" y="533008"/>
                  </a:cubicBezTo>
                  <a:cubicBezTo>
                    <a:pt x="420804" y="530570"/>
                    <a:pt x="392488" y="516453"/>
                    <a:pt x="367697" y="499302"/>
                  </a:cubicBezTo>
                  <a:cubicBezTo>
                    <a:pt x="341584" y="513559"/>
                    <a:pt x="313304" y="524747"/>
                    <a:pt x="272443" y="524871"/>
                  </a:cubicBezTo>
                  <a:cubicBezTo>
                    <a:pt x="177910" y="525082"/>
                    <a:pt x="114672" y="470155"/>
                    <a:pt x="113139" y="394815"/>
                  </a:cubicBezTo>
                  <a:cubicBezTo>
                    <a:pt x="52367" y="377190"/>
                    <a:pt x="11206" y="344291"/>
                    <a:pt x="0" y="287995"/>
                  </a:cubicBezTo>
                  <a:cubicBezTo>
                    <a:pt x="0" y="279858"/>
                    <a:pt x="0" y="271704"/>
                    <a:pt x="0" y="263601"/>
                  </a:cubicBezTo>
                  <a:cubicBezTo>
                    <a:pt x="12369" y="207816"/>
                    <a:pt x="51292" y="172776"/>
                    <a:pt x="116099" y="157922"/>
                  </a:cubicBezTo>
                  <a:cubicBezTo>
                    <a:pt x="112205" y="63818"/>
                    <a:pt x="241837" y="5016"/>
                    <a:pt x="348333" y="46474"/>
                  </a:cubicBezTo>
                  <a:cubicBezTo>
                    <a:pt x="373689" y="25973"/>
                    <a:pt x="409562" y="3613"/>
                    <a:pt x="46149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38100" y="41275"/>
              <a:ext cx="736600" cy="415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37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793220" y="8178952"/>
            <a:ext cx="2480820" cy="2181022"/>
            <a:chOff x="0" y="0"/>
            <a:chExt cx="924525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24525" cy="812800"/>
            </a:xfrm>
            <a:custGeom>
              <a:avLst/>
              <a:gdLst/>
              <a:ahLst/>
              <a:cxnLst/>
              <a:rect r="r" b="b" t="t" l="l"/>
              <a:pathLst>
                <a:path h="812800" w="924525">
                  <a:moveTo>
                    <a:pt x="924525" y="406400"/>
                  </a:moveTo>
                  <a:lnTo>
                    <a:pt x="518125" y="0"/>
                  </a:lnTo>
                  <a:lnTo>
                    <a:pt x="518125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518125" y="609600"/>
                  </a:lnTo>
                  <a:lnTo>
                    <a:pt x="518125" y="812800"/>
                  </a:lnTo>
                  <a:lnTo>
                    <a:pt x="924525" y="406400"/>
                  </a:ln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155575"/>
              <a:ext cx="822925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37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798695" y="3627311"/>
            <a:ext cx="2810076" cy="1636660"/>
          </a:xfrm>
          <a:custGeom>
            <a:avLst/>
            <a:gdLst/>
            <a:ahLst/>
            <a:cxnLst/>
            <a:rect r="r" b="b" t="t" l="l"/>
            <a:pathLst>
              <a:path h="1636660" w="2810076">
                <a:moveTo>
                  <a:pt x="0" y="0"/>
                </a:moveTo>
                <a:lnTo>
                  <a:pt x="2810076" y="0"/>
                </a:lnTo>
                <a:lnTo>
                  <a:pt x="2810076" y="1636659"/>
                </a:lnTo>
                <a:lnTo>
                  <a:pt x="0" y="163665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3381" t="-29001" r="-10478" b="-305429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4001914" y="4253903"/>
            <a:ext cx="2342623" cy="1779194"/>
          </a:xfrm>
          <a:custGeom>
            <a:avLst/>
            <a:gdLst/>
            <a:ahLst/>
            <a:cxnLst/>
            <a:rect r="r" b="b" t="t" l="l"/>
            <a:pathLst>
              <a:path h="1779194" w="2342623">
                <a:moveTo>
                  <a:pt x="0" y="0"/>
                </a:moveTo>
                <a:lnTo>
                  <a:pt x="2342623" y="0"/>
                </a:lnTo>
                <a:lnTo>
                  <a:pt x="2342623" y="1779194"/>
                </a:lnTo>
                <a:lnTo>
                  <a:pt x="0" y="177919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-9691" t="-17641" r="-12420" b="-239652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6624971" y="299747"/>
            <a:ext cx="5646848" cy="5246802"/>
          </a:xfrm>
          <a:custGeom>
            <a:avLst/>
            <a:gdLst/>
            <a:ahLst/>
            <a:cxnLst/>
            <a:rect r="r" b="b" t="t" l="l"/>
            <a:pathLst>
              <a:path h="5246802" w="5646848">
                <a:moveTo>
                  <a:pt x="0" y="0"/>
                </a:moveTo>
                <a:lnTo>
                  <a:pt x="5646848" y="0"/>
                </a:lnTo>
                <a:lnTo>
                  <a:pt x="5646848" y="5246803"/>
                </a:lnTo>
                <a:lnTo>
                  <a:pt x="0" y="524680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-21985" r="0" b="-11718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273568" y="973734"/>
            <a:ext cx="3629661" cy="2878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3"/>
              </a:lnSpc>
            </a:pPr>
            <a:r>
              <a:rPr lang="en-US" sz="2364">
                <a:solidFill>
                  <a:srgbClr val="0097B2"/>
                </a:solidFill>
                <a:latin typeface="Handy Casual"/>
                <a:ea typeface="Handy Casual"/>
                <a:cs typeface="Handy Casual"/>
                <a:sym typeface="Handy Casual"/>
              </a:rPr>
              <a:t> BASE DE CONOCIMIENTOS (BC):</a:t>
            </a:r>
            <a:r>
              <a:rPr lang="en-US" sz="2364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 CONTIENE CONOCIMIENTO MODELADO EXTRAÍDO DEL DIÁLOGO CON UN EXPERTO.</a:t>
            </a:r>
          </a:p>
          <a:p>
            <a:pPr algn="ctr">
              <a:lnSpc>
                <a:spcPts val="2293"/>
              </a:lnSpc>
            </a:pPr>
          </a:p>
          <a:p>
            <a:pPr algn="ctr">
              <a:lnSpc>
                <a:spcPts val="2293"/>
              </a:lnSpc>
            </a:pPr>
          </a:p>
          <a:p>
            <a:pPr algn="ctr">
              <a:lnSpc>
                <a:spcPts val="2293"/>
              </a:lnSpc>
            </a:pPr>
          </a:p>
          <a:p>
            <a:pPr algn="ctr">
              <a:lnSpc>
                <a:spcPts val="2293"/>
              </a:lnSpc>
            </a:pPr>
          </a:p>
          <a:p>
            <a:pPr algn="ctr">
              <a:lnSpc>
                <a:spcPts val="2293"/>
              </a:lnSpc>
            </a:pPr>
          </a:p>
          <a:p>
            <a:pPr algn="ctr" marL="0" indent="0" lvl="0">
              <a:lnSpc>
                <a:spcPts val="2293"/>
              </a:lnSpc>
            </a:pPr>
            <a:r>
              <a:rPr lang="en-US" sz="2364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740615" y="6577575"/>
            <a:ext cx="7682585" cy="1198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860"/>
              </a:lnSpc>
            </a:pPr>
            <a:r>
              <a:rPr lang="en-US" sz="9134">
                <a:solidFill>
                  <a:srgbClr val="0D0711"/>
                </a:solidFill>
                <a:latin typeface="Flatory Slab"/>
                <a:ea typeface="Flatory Slab"/>
                <a:cs typeface="Flatory Slab"/>
                <a:sym typeface="Flatory Slab"/>
              </a:rPr>
              <a:t>ESTRUCTURA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517217" y="7596268"/>
            <a:ext cx="3564493" cy="1275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93"/>
              </a:lnSpc>
            </a:pPr>
            <a:r>
              <a:rPr lang="en-US" sz="2570">
                <a:solidFill>
                  <a:srgbClr val="0097B2"/>
                </a:solidFill>
                <a:latin typeface="Handy Casual"/>
                <a:ea typeface="Handy Casual"/>
                <a:cs typeface="Handy Casual"/>
                <a:sym typeface="Handy Casual"/>
              </a:rPr>
              <a:t> INTERFAZ DE USUARIO: </a:t>
            </a:r>
            <a:r>
              <a:rPr lang="en-US" sz="2570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ES LA INTERACCIÓN ENTRE EL SE Y EL USUARIO, Y SE REALIZA MEDIANTE EL LENGUAJE NATURAL.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423200" y="1317057"/>
            <a:ext cx="3579932" cy="1745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0"/>
              </a:lnSpc>
            </a:pPr>
            <a:r>
              <a:rPr lang="en-US" sz="2031">
                <a:solidFill>
                  <a:srgbClr val="0097B2"/>
                </a:solidFill>
                <a:latin typeface="Handy Casual"/>
                <a:ea typeface="Handy Casual"/>
                <a:cs typeface="Handy Casual"/>
                <a:sym typeface="Handy Casual"/>
              </a:rPr>
              <a:t> MOTOR DE INFERENCIA: </a:t>
            </a:r>
            <a:r>
              <a:rPr lang="en-US" sz="2031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MODELA EL PROCESO DE RAZONAMIENTO HUMANO.</a:t>
            </a:r>
          </a:p>
          <a:p>
            <a:pPr algn="ctr">
              <a:lnSpc>
                <a:spcPts val="1970"/>
              </a:lnSpc>
            </a:pPr>
            <a:r>
              <a:rPr lang="en-US" sz="2031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</a:t>
            </a:r>
          </a:p>
          <a:p>
            <a:pPr algn="ctr">
              <a:lnSpc>
                <a:spcPts val="1970"/>
              </a:lnSpc>
            </a:pPr>
            <a:r>
              <a:rPr lang="en-US" sz="2031">
                <a:solidFill>
                  <a:srgbClr val="0097B2"/>
                </a:solidFill>
                <a:latin typeface="Handy Casual"/>
                <a:ea typeface="Handy Casual"/>
                <a:cs typeface="Handy Casual"/>
                <a:sym typeface="Handy Casual"/>
              </a:rPr>
              <a:t> Módulos de justificación:</a:t>
            </a:r>
            <a:r>
              <a:rPr lang="en-US" sz="2031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 Explica el razonamiento utilizado por el sistema para llegar a una determinada </a:t>
            </a:r>
          </a:p>
          <a:p>
            <a:pPr algn="ctr" marL="0" indent="0" lvl="0">
              <a:lnSpc>
                <a:spcPts val="1970"/>
              </a:lnSpc>
              <a:spcBef>
                <a:spcPct val="0"/>
              </a:spcBef>
            </a:pPr>
            <a:r>
              <a:rPr lang="en-US" sz="2031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conclusión.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624568" y="8638190"/>
            <a:ext cx="2525262" cy="1053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25"/>
              </a:lnSpc>
            </a:pPr>
            <a:r>
              <a:rPr lang="en-US" sz="6161" u="sng">
                <a:solidFill>
                  <a:srgbClr val="0097B2"/>
                </a:solidFill>
                <a:latin typeface="Open Sans"/>
                <a:ea typeface="Open Sans"/>
                <a:cs typeface="Open Sans"/>
                <a:sym typeface="Open Sans"/>
                <a:hlinkClick r:id="rId18" action="ppaction://hlinksldjump"/>
              </a:rPr>
              <a:t>INDICE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944889" y="8841645"/>
            <a:ext cx="1970051" cy="646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05"/>
              </a:lnSpc>
            </a:pPr>
            <a:r>
              <a:rPr lang="en-US" sz="3789" u="sng">
                <a:solidFill>
                  <a:srgbClr val="0097B2"/>
                </a:solidFill>
                <a:latin typeface="Open Sans"/>
                <a:ea typeface="Open Sans"/>
                <a:cs typeface="Open Sans"/>
                <a:sym typeface="Open Sans"/>
                <a:hlinkClick r:id="rId19" action="ppaction://hlinksldjump"/>
              </a:rPr>
              <a:t>Anterior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448395" y="8947516"/>
            <a:ext cx="5170469" cy="518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16"/>
              </a:lnSpc>
            </a:pPr>
            <a:r>
              <a:rPr lang="en-US" sz="3728" u="sng">
                <a:solidFill>
                  <a:srgbClr val="0097B2"/>
                </a:solidFill>
                <a:latin typeface="Poppins"/>
                <a:ea typeface="Poppins"/>
                <a:cs typeface="Poppins"/>
                <a:sym typeface="Poppins"/>
                <a:hlinkClick r:id="rId20" action="ppaction://hlinksldjump"/>
              </a:rPr>
              <a:t>Siguiente</a:t>
            </a:r>
            <a:r>
              <a:rPr lang="en-US" sz="3728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20" action="ppaction://hlinksldjump"/>
              </a:rPr>
              <a:t>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51728" y="6444225"/>
            <a:ext cx="3564493" cy="1589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3"/>
              </a:lnSpc>
            </a:pPr>
            <a:r>
              <a:rPr lang="en-US" sz="2570">
                <a:solidFill>
                  <a:srgbClr val="0097B2"/>
                </a:solidFill>
                <a:latin typeface="Handy Casual"/>
                <a:ea typeface="Handy Casual"/>
                <a:cs typeface="Handy Casual"/>
                <a:sym typeface="Handy Casual"/>
              </a:rPr>
              <a:t> BASE DE HECHOS (MEMORIA DE TRABAJO):</a:t>
            </a:r>
            <a:r>
              <a:rPr lang="en-US" sz="2570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 CONTIENE LOS HECHOS SOBRE UN PROBLEMA QUE SE HA DESCUBIERTO DURANTE EL ANÁLISIS.  </a:t>
            </a:r>
          </a:p>
          <a:p>
            <a:pPr algn="ctr" marL="0" indent="0" lvl="0">
              <a:lnSpc>
                <a:spcPts val="2493"/>
              </a:lnSpc>
            </a:pPr>
          </a:p>
        </p:txBody>
      </p:sp>
    </p:spTree>
  </p:cSld>
  <p:clrMapOvr>
    <a:masterClrMapping/>
  </p:clrMapOvr>
  <p:transition spd="fast">
    <p:cover dir="rd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843226" y="-722269"/>
            <a:ext cx="3782409" cy="5226948"/>
          </a:xfrm>
          <a:custGeom>
            <a:avLst/>
            <a:gdLst/>
            <a:ahLst/>
            <a:cxnLst/>
            <a:rect r="r" b="b" t="t" l="l"/>
            <a:pathLst>
              <a:path h="5226948" w="3782409">
                <a:moveTo>
                  <a:pt x="0" y="0"/>
                </a:moveTo>
                <a:lnTo>
                  <a:pt x="3782409" y="0"/>
                </a:lnTo>
                <a:lnTo>
                  <a:pt x="3782409" y="5226947"/>
                </a:lnTo>
                <a:lnTo>
                  <a:pt x="0" y="52269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5400000">
            <a:off x="13984253" y="-433142"/>
            <a:ext cx="3248430" cy="4489036"/>
          </a:xfrm>
          <a:custGeom>
            <a:avLst/>
            <a:gdLst/>
            <a:ahLst/>
            <a:cxnLst/>
            <a:rect r="r" b="b" t="t" l="l"/>
            <a:pathLst>
              <a:path h="4489036" w="3248430">
                <a:moveTo>
                  <a:pt x="0" y="0"/>
                </a:moveTo>
                <a:lnTo>
                  <a:pt x="3248430" y="0"/>
                </a:lnTo>
                <a:lnTo>
                  <a:pt x="3248430" y="4489037"/>
                </a:lnTo>
                <a:lnTo>
                  <a:pt x="0" y="44890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5400000">
            <a:off x="984965" y="2844138"/>
            <a:ext cx="3493005" cy="4827017"/>
          </a:xfrm>
          <a:custGeom>
            <a:avLst/>
            <a:gdLst/>
            <a:ahLst/>
            <a:cxnLst/>
            <a:rect r="r" b="b" t="t" l="l"/>
            <a:pathLst>
              <a:path h="4827017" w="3493005">
                <a:moveTo>
                  <a:pt x="0" y="0"/>
                </a:moveTo>
                <a:lnTo>
                  <a:pt x="3493005" y="0"/>
                </a:lnTo>
                <a:lnTo>
                  <a:pt x="3493005" y="4827016"/>
                </a:lnTo>
                <a:lnTo>
                  <a:pt x="0" y="482701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5400000">
            <a:off x="14015518" y="2568580"/>
            <a:ext cx="3412161" cy="4715298"/>
          </a:xfrm>
          <a:custGeom>
            <a:avLst/>
            <a:gdLst/>
            <a:ahLst/>
            <a:cxnLst/>
            <a:rect r="r" b="b" t="t" l="l"/>
            <a:pathLst>
              <a:path h="4715298" w="3412161">
                <a:moveTo>
                  <a:pt x="0" y="0"/>
                </a:moveTo>
                <a:lnTo>
                  <a:pt x="3412161" y="0"/>
                </a:lnTo>
                <a:lnTo>
                  <a:pt x="3412161" y="4715298"/>
                </a:lnTo>
                <a:lnTo>
                  <a:pt x="0" y="471529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5400000">
            <a:off x="997104" y="5953165"/>
            <a:ext cx="3556574" cy="4914864"/>
          </a:xfrm>
          <a:custGeom>
            <a:avLst/>
            <a:gdLst/>
            <a:ahLst/>
            <a:cxnLst/>
            <a:rect r="r" b="b" t="t" l="l"/>
            <a:pathLst>
              <a:path h="4914864" w="3556574">
                <a:moveTo>
                  <a:pt x="0" y="0"/>
                </a:moveTo>
                <a:lnTo>
                  <a:pt x="3556574" y="0"/>
                </a:lnTo>
                <a:lnTo>
                  <a:pt x="3556574" y="4914863"/>
                </a:lnTo>
                <a:lnTo>
                  <a:pt x="0" y="491486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5400000">
            <a:off x="14031135" y="5945971"/>
            <a:ext cx="3493944" cy="4828315"/>
          </a:xfrm>
          <a:custGeom>
            <a:avLst/>
            <a:gdLst/>
            <a:ahLst/>
            <a:cxnLst/>
            <a:rect r="r" b="b" t="t" l="l"/>
            <a:pathLst>
              <a:path h="4828315" w="3493944">
                <a:moveTo>
                  <a:pt x="0" y="0"/>
                </a:moveTo>
                <a:lnTo>
                  <a:pt x="3493944" y="0"/>
                </a:lnTo>
                <a:lnTo>
                  <a:pt x="3493944" y="4828315"/>
                </a:lnTo>
                <a:lnTo>
                  <a:pt x="0" y="482831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true" flipV="false" rot="0">
            <a:off x="6421347" y="1202787"/>
            <a:ext cx="2133509" cy="587034"/>
          </a:xfrm>
          <a:custGeom>
            <a:avLst/>
            <a:gdLst/>
            <a:ahLst/>
            <a:cxnLst/>
            <a:rect r="r" b="b" t="t" l="l"/>
            <a:pathLst>
              <a:path h="587034" w="2133509">
                <a:moveTo>
                  <a:pt x="2133509" y="0"/>
                </a:moveTo>
                <a:lnTo>
                  <a:pt x="0" y="0"/>
                </a:lnTo>
                <a:lnTo>
                  <a:pt x="0" y="587034"/>
                </a:lnTo>
                <a:lnTo>
                  <a:pt x="2133509" y="587034"/>
                </a:lnTo>
                <a:lnTo>
                  <a:pt x="2133509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5400000">
            <a:off x="7736717" y="4401717"/>
            <a:ext cx="3894458" cy="5381789"/>
          </a:xfrm>
          <a:custGeom>
            <a:avLst/>
            <a:gdLst/>
            <a:ahLst/>
            <a:cxnLst/>
            <a:rect r="r" b="b" t="t" l="l"/>
            <a:pathLst>
              <a:path h="5381789" w="3894458">
                <a:moveTo>
                  <a:pt x="0" y="0"/>
                </a:moveTo>
                <a:lnTo>
                  <a:pt x="3894458" y="0"/>
                </a:lnTo>
                <a:lnTo>
                  <a:pt x="3894458" y="5381788"/>
                </a:lnTo>
                <a:lnTo>
                  <a:pt x="0" y="538178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7893862" y="1787597"/>
            <a:ext cx="3364651" cy="1787292"/>
          </a:xfrm>
          <a:custGeom>
            <a:avLst/>
            <a:gdLst/>
            <a:ahLst/>
            <a:cxnLst/>
            <a:rect r="r" b="b" t="t" l="l"/>
            <a:pathLst>
              <a:path h="1787292" w="3364651">
                <a:moveTo>
                  <a:pt x="0" y="0"/>
                </a:moveTo>
                <a:lnTo>
                  <a:pt x="3364651" y="0"/>
                </a:lnTo>
                <a:lnTo>
                  <a:pt x="3364651" y="1787292"/>
                </a:lnTo>
                <a:lnTo>
                  <a:pt x="0" y="178729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-134726" b="-194404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573254" y="3220149"/>
            <a:ext cx="2408767" cy="1269240"/>
          </a:xfrm>
          <a:custGeom>
            <a:avLst/>
            <a:gdLst/>
            <a:ahLst/>
            <a:cxnLst/>
            <a:rect r="r" b="b" t="t" l="l"/>
            <a:pathLst>
              <a:path h="1269240" w="2408767">
                <a:moveTo>
                  <a:pt x="0" y="0"/>
                </a:moveTo>
                <a:lnTo>
                  <a:pt x="2408767" y="0"/>
                </a:lnTo>
                <a:lnTo>
                  <a:pt x="2408767" y="1269240"/>
                </a:lnTo>
                <a:lnTo>
                  <a:pt x="0" y="126924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-98331" r="-134813" b="-98755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232823" y="3449699"/>
            <a:ext cx="2065109" cy="1971469"/>
          </a:xfrm>
          <a:custGeom>
            <a:avLst/>
            <a:gdLst/>
            <a:ahLst/>
            <a:cxnLst/>
            <a:rect r="r" b="b" t="t" l="l"/>
            <a:pathLst>
              <a:path h="1971469" w="2065109">
                <a:moveTo>
                  <a:pt x="0" y="0"/>
                </a:moveTo>
                <a:lnTo>
                  <a:pt x="2065108" y="0"/>
                </a:lnTo>
                <a:lnTo>
                  <a:pt x="2065108" y="1971469"/>
                </a:lnTo>
                <a:lnTo>
                  <a:pt x="0" y="197146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-4090" t="-7028" r="0" b="-56625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144976" y="268808"/>
            <a:ext cx="3141636" cy="1693549"/>
          </a:xfrm>
          <a:custGeom>
            <a:avLst/>
            <a:gdLst/>
            <a:ahLst/>
            <a:cxnLst/>
            <a:rect r="r" b="b" t="t" l="l"/>
            <a:pathLst>
              <a:path h="1693549" w="3141636">
                <a:moveTo>
                  <a:pt x="0" y="0"/>
                </a:moveTo>
                <a:lnTo>
                  <a:pt x="3141635" y="0"/>
                </a:lnTo>
                <a:lnTo>
                  <a:pt x="3141635" y="1693548"/>
                </a:lnTo>
                <a:lnTo>
                  <a:pt x="0" y="169354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-197397" r="-140474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592202" y="187162"/>
            <a:ext cx="2877236" cy="1683077"/>
          </a:xfrm>
          <a:custGeom>
            <a:avLst/>
            <a:gdLst/>
            <a:ahLst/>
            <a:cxnLst/>
            <a:rect r="r" b="b" t="t" l="l"/>
            <a:pathLst>
              <a:path h="1683077" w="2877236">
                <a:moveTo>
                  <a:pt x="0" y="0"/>
                </a:moveTo>
                <a:lnTo>
                  <a:pt x="2877237" y="0"/>
                </a:lnTo>
                <a:lnTo>
                  <a:pt x="2877237" y="1683076"/>
                </a:lnTo>
                <a:lnTo>
                  <a:pt x="0" y="168307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-153114" t="0" r="-6267" b="-19561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4038199" y="6305783"/>
            <a:ext cx="2677595" cy="1502330"/>
          </a:xfrm>
          <a:custGeom>
            <a:avLst/>
            <a:gdLst/>
            <a:ahLst/>
            <a:cxnLst/>
            <a:rect r="r" b="b" t="t" l="l"/>
            <a:pathLst>
              <a:path h="1502330" w="2677595">
                <a:moveTo>
                  <a:pt x="0" y="0"/>
                </a:moveTo>
                <a:lnTo>
                  <a:pt x="2677595" y="0"/>
                </a:lnTo>
                <a:lnTo>
                  <a:pt x="2677595" y="1502329"/>
                </a:lnTo>
                <a:lnTo>
                  <a:pt x="0" y="150232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-168069" t="-231524" r="-10945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2586985" y="6374733"/>
            <a:ext cx="2141644" cy="1435756"/>
          </a:xfrm>
          <a:custGeom>
            <a:avLst/>
            <a:gdLst/>
            <a:ahLst/>
            <a:cxnLst/>
            <a:rect r="r" b="b" t="t" l="l"/>
            <a:pathLst>
              <a:path h="1435756" w="2141644">
                <a:moveTo>
                  <a:pt x="0" y="0"/>
                </a:moveTo>
                <a:lnTo>
                  <a:pt x="2141645" y="0"/>
                </a:lnTo>
                <a:lnTo>
                  <a:pt x="2141645" y="1435756"/>
                </a:lnTo>
                <a:lnTo>
                  <a:pt x="0" y="143575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-176318" t="-107353" r="-44436" b="-111615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5586137" y="8334956"/>
            <a:ext cx="2307725" cy="1905549"/>
            <a:chOff x="0" y="0"/>
            <a:chExt cx="984346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84346" cy="812800"/>
            </a:xfrm>
            <a:custGeom>
              <a:avLst/>
              <a:gdLst/>
              <a:ahLst/>
              <a:cxnLst/>
              <a:rect r="r" b="b" t="t" l="l"/>
              <a:pathLst>
                <a:path h="812800" w="984346">
                  <a:moveTo>
                    <a:pt x="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984346" y="203200"/>
                  </a:lnTo>
                  <a:lnTo>
                    <a:pt x="984346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0" y="406400"/>
                  </a:ln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101600" y="155575"/>
              <a:ext cx="882746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37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023339" y="8334956"/>
            <a:ext cx="2981466" cy="1821573"/>
            <a:chOff x="0" y="0"/>
            <a:chExt cx="873044" cy="533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73044" cy="533400"/>
            </a:xfrm>
            <a:custGeom>
              <a:avLst/>
              <a:gdLst/>
              <a:ahLst/>
              <a:cxnLst/>
              <a:rect r="r" b="b" t="t" l="l"/>
              <a:pathLst>
                <a:path h="533400" w="873044">
                  <a:moveTo>
                    <a:pt x="495696" y="0"/>
                  </a:moveTo>
                  <a:cubicBezTo>
                    <a:pt x="505272" y="0"/>
                    <a:pt x="514905" y="0"/>
                    <a:pt x="524462" y="0"/>
                  </a:cubicBezTo>
                  <a:cubicBezTo>
                    <a:pt x="600659" y="8909"/>
                    <a:pt x="648278" y="38564"/>
                    <a:pt x="669967" y="87090"/>
                  </a:cubicBezTo>
                  <a:cubicBezTo>
                    <a:pt x="797000" y="80618"/>
                    <a:pt x="888234" y="172373"/>
                    <a:pt x="833073" y="262426"/>
                  </a:cubicBezTo>
                  <a:cubicBezTo>
                    <a:pt x="851790" y="281349"/>
                    <a:pt x="867405" y="302517"/>
                    <a:pt x="873044" y="330926"/>
                  </a:cubicBezTo>
                  <a:cubicBezTo>
                    <a:pt x="873044" y="339065"/>
                    <a:pt x="873044" y="347184"/>
                    <a:pt x="873044" y="355321"/>
                  </a:cubicBezTo>
                  <a:cubicBezTo>
                    <a:pt x="856238" y="427627"/>
                    <a:pt x="783922" y="476486"/>
                    <a:pt x="665197" y="463333"/>
                  </a:cubicBezTo>
                  <a:cubicBezTo>
                    <a:pt x="634650" y="500459"/>
                    <a:pt x="580295" y="537638"/>
                    <a:pt x="495713" y="533008"/>
                  </a:cubicBezTo>
                  <a:cubicBezTo>
                    <a:pt x="451994" y="530570"/>
                    <a:pt x="421580" y="516453"/>
                    <a:pt x="394950" y="499302"/>
                  </a:cubicBezTo>
                  <a:cubicBezTo>
                    <a:pt x="366902" y="513559"/>
                    <a:pt x="336526" y="524747"/>
                    <a:pt x="292636" y="524871"/>
                  </a:cubicBezTo>
                  <a:cubicBezTo>
                    <a:pt x="191097" y="525082"/>
                    <a:pt x="123171" y="470155"/>
                    <a:pt x="121525" y="394815"/>
                  </a:cubicBezTo>
                  <a:cubicBezTo>
                    <a:pt x="56248" y="377190"/>
                    <a:pt x="12037" y="344291"/>
                    <a:pt x="0" y="287995"/>
                  </a:cubicBezTo>
                  <a:cubicBezTo>
                    <a:pt x="0" y="279858"/>
                    <a:pt x="0" y="271704"/>
                    <a:pt x="0" y="263601"/>
                  </a:cubicBezTo>
                  <a:cubicBezTo>
                    <a:pt x="13286" y="207816"/>
                    <a:pt x="55094" y="172776"/>
                    <a:pt x="124704" y="157922"/>
                  </a:cubicBezTo>
                  <a:cubicBezTo>
                    <a:pt x="120522" y="63818"/>
                    <a:pt x="259762" y="5016"/>
                    <a:pt x="374151" y="46474"/>
                  </a:cubicBezTo>
                  <a:cubicBezTo>
                    <a:pt x="401386" y="25973"/>
                    <a:pt x="439919" y="3613"/>
                    <a:pt x="49569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40924" y="41275"/>
              <a:ext cx="791197" cy="415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37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176580" y="8318562"/>
            <a:ext cx="2450266" cy="1938338"/>
            <a:chOff x="0" y="0"/>
            <a:chExt cx="1027466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27466" cy="812800"/>
            </a:xfrm>
            <a:custGeom>
              <a:avLst/>
              <a:gdLst/>
              <a:ahLst/>
              <a:cxnLst/>
              <a:rect r="r" b="b" t="t" l="l"/>
              <a:pathLst>
                <a:path h="812800" w="1027466">
                  <a:moveTo>
                    <a:pt x="1027466" y="406400"/>
                  </a:moveTo>
                  <a:lnTo>
                    <a:pt x="621066" y="0"/>
                  </a:lnTo>
                  <a:lnTo>
                    <a:pt x="621066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621066" y="609600"/>
                  </a:lnTo>
                  <a:lnTo>
                    <a:pt x="621066" y="812800"/>
                  </a:lnTo>
                  <a:lnTo>
                    <a:pt x="1027466" y="406400"/>
                  </a:ln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155575"/>
              <a:ext cx="925866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37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7297931" y="3801042"/>
            <a:ext cx="4909266" cy="1389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33"/>
              </a:lnSpc>
            </a:pPr>
            <a:r>
              <a:rPr lang="en-US" sz="5498">
                <a:solidFill>
                  <a:srgbClr val="000000"/>
                </a:solidFill>
                <a:latin typeface="Flatory Slab"/>
                <a:ea typeface="Flatory Slab"/>
                <a:cs typeface="Flatory Slab"/>
                <a:sym typeface="Flatory Slab"/>
              </a:rPr>
              <a:t>TAREAS</a:t>
            </a:r>
          </a:p>
          <a:p>
            <a:pPr algn="ctr" marL="0" indent="0" lvl="0">
              <a:lnSpc>
                <a:spcPts val="5333"/>
              </a:lnSpc>
            </a:pPr>
            <a:r>
              <a:rPr lang="en-US" sz="5498">
                <a:solidFill>
                  <a:srgbClr val="000000"/>
                </a:solidFill>
                <a:latin typeface="Flatory Slab"/>
                <a:ea typeface="Flatory Slab"/>
                <a:cs typeface="Flatory Slab"/>
                <a:sym typeface="Flatory Slab"/>
              </a:rPr>
              <a:t>QUE REALIZA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31898" y="838872"/>
            <a:ext cx="4613077" cy="2152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3"/>
              </a:lnSpc>
            </a:pPr>
            <a:r>
              <a:rPr lang="en-US" sz="2003">
                <a:solidFill>
                  <a:srgbClr val="0097B2"/>
                </a:solidFill>
                <a:latin typeface="Handy Casual"/>
                <a:ea typeface="Handy Casual"/>
                <a:cs typeface="Handy Casual"/>
                <a:sym typeface="Handy Casual"/>
              </a:rPr>
              <a:t>MONITORIZACIÓN</a:t>
            </a:r>
            <a:r>
              <a:rPr lang="en-US" sz="2003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:</a:t>
            </a:r>
          </a:p>
          <a:p>
            <a:pPr algn="ctr">
              <a:lnSpc>
                <a:spcPts val="1943"/>
              </a:lnSpc>
            </a:pPr>
            <a:r>
              <a:rPr lang="en-US" sz="2003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</a:t>
            </a:r>
          </a:p>
          <a:p>
            <a:pPr algn="ctr">
              <a:lnSpc>
                <a:spcPts val="1943"/>
              </a:lnSpc>
            </a:pPr>
            <a:r>
              <a:rPr lang="en-US" sz="2003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 consiste en  comparación continua de valores de señales </a:t>
            </a:r>
          </a:p>
          <a:p>
            <a:pPr algn="ctr">
              <a:lnSpc>
                <a:spcPts val="1943"/>
              </a:lnSpc>
            </a:pPr>
            <a:r>
              <a:rPr lang="en-US" sz="2003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o datos de entrada actúan como criterios de normalidad o estándares.que el programa </a:t>
            </a:r>
          </a:p>
          <a:p>
            <a:pPr algn="ctr">
              <a:lnSpc>
                <a:spcPts val="1943"/>
              </a:lnSpc>
            </a:pPr>
            <a:r>
              <a:rPr lang="en-US" sz="2003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pueda determinar en cada momento el estado de funcionamiento de sistemas complejos.</a:t>
            </a:r>
          </a:p>
          <a:p>
            <a:pPr algn="ctr" marL="0" indent="0" lvl="0">
              <a:lnSpc>
                <a:spcPts val="1943"/>
              </a:lnSpc>
              <a:spcBef>
                <a:spcPct val="0"/>
              </a:spcBef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370010" y="7143392"/>
            <a:ext cx="4936854" cy="2588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7"/>
              </a:lnSpc>
            </a:pPr>
            <a:r>
              <a:rPr lang="en-US" sz="2997">
                <a:solidFill>
                  <a:srgbClr val="0097B2"/>
                </a:solidFill>
                <a:latin typeface="Handy Casual"/>
                <a:ea typeface="Handy Casual"/>
                <a:cs typeface="Handy Casual"/>
                <a:sym typeface="Handy Casual"/>
              </a:rPr>
              <a:t>DISEÑO</a:t>
            </a:r>
          </a:p>
          <a:p>
            <a:pPr algn="ctr">
              <a:lnSpc>
                <a:spcPts val="2907"/>
              </a:lnSpc>
            </a:pPr>
            <a:r>
              <a:rPr lang="en-US" sz="2997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</a:t>
            </a:r>
          </a:p>
          <a:p>
            <a:pPr algn="ctr">
              <a:lnSpc>
                <a:spcPts val="2907"/>
              </a:lnSpc>
            </a:pPr>
            <a:r>
              <a:rPr lang="en-US" sz="2997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es el proceso de especificar una descripción de un artefacto que satisface varias características desde un número de fuentes </a:t>
            </a:r>
          </a:p>
          <a:p>
            <a:pPr algn="ctr" marL="0" indent="0" lvl="0">
              <a:lnSpc>
                <a:spcPts val="2907"/>
              </a:lnSpc>
            </a:pPr>
            <a:r>
              <a:rPr lang="en-US" sz="2997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de conocimiento.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684895" y="812436"/>
            <a:ext cx="3865316" cy="1567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1"/>
              </a:lnSpc>
            </a:pPr>
            <a:r>
              <a:rPr lang="en-US" sz="1651">
                <a:solidFill>
                  <a:srgbClr val="0097B2"/>
                </a:solidFill>
                <a:latin typeface="Handy Casual"/>
                <a:ea typeface="Handy Casual"/>
                <a:cs typeface="Handy Casual"/>
                <a:sym typeface="Handy Casual"/>
              </a:rPr>
              <a:t>CONTROL</a:t>
            </a:r>
            <a:r>
              <a:rPr lang="en-US" sz="1651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</a:t>
            </a:r>
          </a:p>
          <a:p>
            <a:pPr algn="ctr">
              <a:lnSpc>
                <a:spcPts val="1601"/>
              </a:lnSpc>
            </a:pPr>
          </a:p>
          <a:p>
            <a:pPr algn="ctr">
              <a:lnSpc>
                <a:spcPts val="1601"/>
              </a:lnSpc>
            </a:pPr>
            <a:r>
              <a:rPr lang="en-US" sz="1651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participa en  realización de tareas de interpretación, diagnóstico y reparación de forma secuencial. complejos debido al número de </a:t>
            </a:r>
          </a:p>
          <a:p>
            <a:pPr algn="ctr">
              <a:lnSpc>
                <a:spcPts val="1601"/>
              </a:lnSpc>
            </a:pPr>
            <a:r>
              <a:rPr lang="en-US" sz="1651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funciones que deben manejar, pueden ser en lazo abierto, realimentación o el paso de proceso a </a:t>
            </a:r>
          </a:p>
          <a:p>
            <a:pPr algn="ctr" marL="0" indent="0" lvl="0">
              <a:lnSpc>
                <a:spcPts val="1601"/>
              </a:lnSpc>
              <a:spcBef>
                <a:spcPct val="0"/>
              </a:spcBef>
            </a:pPr>
            <a:r>
              <a:rPr lang="en-US" sz="1651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otro lo realiza el operador.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745664" y="7422884"/>
            <a:ext cx="4249657" cy="2028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2"/>
              </a:lnSpc>
            </a:pPr>
            <a:r>
              <a:rPr lang="en-US" sz="2126">
                <a:solidFill>
                  <a:srgbClr val="0097B2"/>
                </a:solidFill>
                <a:latin typeface="Handy Casual"/>
                <a:ea typeface="Handy Casual"/>
                <a:cs typeface="Handy Casual"/>
                <a:sym typeface="Handy Casual"/>
              </a:rPr>
              <a:t>PLANIFICACIÓN</a:t>
            </a:r>
          </a:p>
          <a:p>
            <a:pPr algn="ctr">
              <a:lnSpc>
                <a:spcPts val="2062"/>
              </a:lnSpc>
            </a:pPr>
            <a:r>
              <a:rPr lang="en-US" sz="2126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</a:t>
            </a:r>
          </a:p>
          <a:p>
            <a:pPr algn="ctr">
              <a:lnSpc>
                <a:spcPts val="2062"/>
              </a:lnSpc>
            </a:pPr>
            <a:r>
              <a:rPr lang="en-US" sz="2126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realización de planes o secuencias de acciones. compuesto por </a:t>
            </a:r>
          </a:p>
          <a:p>
            <a:pPr algn="ctr">
              <a:lnSpc>
                <a:spcPts val="2062"/>
              </a:lnSpc>
            </a:pPr>
            <a:r>
              <a:rPr lang="en-US" sz="2126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un simulador y  sistema de control.efecto final es ordenación de un conjunto de acciones con el fin de conseguir un </a:t>
            </a:r>
          </a:p>
          <a:p>
            <a:pPr algn="ctr" marL="0" indent="0" lvl="0">
              <a:lnSpc>
                <a:spcPts val="2062"/>
              </a:lnSpc>
            </a:pPr>
            <a:r>
              <a:rPr lang="en-US" sz="2126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objetivo global.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776217" y="3711817"/>
            <a:ext cx="3890763" cy="2410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3"/>
              </a:lnSpc>
            </a:pPr>
            <a:r>
              <a:rPr lang="en-US" sz="1983">
                <a:solidFill>
                  <a:srgbClr val="0097B2"/>
                </a:solidFill>
                <a:latin typeface="Handy Casual"/>
                <a:ea typeface="Handy Casual"/>
                <a:cs typeface="Handy Casual"/>
                <a:sym typeface="Handy Casual"/>
              </a:rPr>
              <a:t>INSTRUCCIÓN</a:t>
            </a:r>
          </a:p>
          <a:p>
            <a:pPr algn="ctr">
              <a:lnSpc>
                <a:spcPts val="1923"/>
              </a:lnSpc>
            </a:pPr>
          </a:p>
          <a:p>
            <a:pPr algn="ctr">
              <a:lnSpc>
                <a:spcPts val="1923"/>
              </a:lnSpc>
            </a:pPr>
            <a:r>
              <a:rPr lang="en-US" sz="1983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</a:t>
            </a:r>
            <a:r>
              <a:rPr lang="en-US" sz="1983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 realizara un seguimiento del proceso de aprendizaje. detecta errores ya sea de una persona </a:t>
            </a:r>
          </a:p>
          <a:p>
            <a:pPr algn="ctr">
              <a:lnSpc>
                <a:spcPts val="1923"/>
              </a:lnSpc>
            </a:pPr>
            <a:r>
              <a:rPr lang="en-US" sz="1983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con conocimientos e identifica el remedio adecuado, desarrolla un plan de enseñanza que facilita el proceso de </a:t>
            </a:r>
          </a:p>
          <a:p>
            <a:pPr algn="ctr" marL="0" indent="0" lvl="0">
              <a:lnSpc>
                <a:spcPts val="1923"/>
              </a:lnSpc>
            </a:pPr>
            <a:r>
              <a:rPr lang="en-US" sz="1983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aprendizaje y  corrección de errores.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11697" y="4252057"/>
            <a:ext cx="4327388" cy="192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99"/>
              </a:lnSpc>
            </a:pPr>
            <a:r>
              <a:rPr lang="en-US" sz="2268">
                <a:solidFill>
                  <a:srgbClr val="0097B2"/>
                </a:solidFill>
                <a:latin typeface="Handy Casual"/>
                <a:ea typeface="Handy Casual"/>
                <a:cs typeface="Handy Casual"/>
                <a:sym typeface="Handy Casual"/>
              </a:rPr>
              <a:t>SIMULACIÓN</a:t>
            </a:r>
          </a:p>
          <a:p>
            <a:pPr algn="ctr">
              <a:lnSpc>
                <a:spcPts val="2199"/>
              </a:lnSpc>
            </a:pPr>
            <a:r>
              <a:rPr lang="en-US" sz="2268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</a:t>
            </a:r>
          </a:p>
          <a:p>
            <a:pPr algn="ctr">
              <a:lnSpc>
                <a:spcPts val="2199"/>
              </a:lnSpc>
            </a:pPr>
            <a:r>
              <a:rPr lang="en-US" sz="2268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  técnica que consistente en crear modelos basados en hechos, observaciones e interpretaciones sobre la </a:t>
            </a:r>
          </a:p>
          <a:p>
            <a:pPr algn="ctr" marL="0" indent="0" lvl="0">
              <a:lnSpc>
                <a:spcPts val="2199"/>
              </a:lnSpc>
              <a:spcBef>
                <a:spcPct val="0"/>
              </a:spcBef>
            </a:pPr>
            <a:r>
              <a:rPr lang="en-US" sz="2268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computadora, a fin de estudiar el comportamiento.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411016" y="6134956"/>
            <a:ext cx="4619804" cy="1588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0"/>
              </a:lnSpc>
            </a:pPr>
            <a:r>
              <a:rPr lang="en-US" sz="1495">
                <a:solidFill>
                  <a:srgbClr val="0097B2"/>
                </a:solidFill>
                <a:latin typeface="Handy Casual"/>
                <a:ea typeface="Handy Casual"/>
                <a:cs typeface="Handy Casual"/>
                <a:sym typeface="Handy Casual"/>
              </a:rPr>
              <a:t>     RECUPERACIÓN DE INFORMACIÓN</a:t>
            </a:r>
          </a:p>
          <a:p>
            <a:pPr algn="ctr">
              <a:lnSpc>
                <a:spcPts val="1450"/>
              </a:lnSpc>
            </a:pPr>
            <a:r>
              <a:rPr lang="en-US" sz="1495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</a:t>
            </a:r>
          </a:p>
          <a:p>
            <a:pPr algn="ctr">
              <a:lnSpc>
                <a:spcPts val="1450"/>
              </a:lnSpc>
            </a:pPr>
            <a:r>
              <a:rPr lang="en-US" sz="1495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combinar información y reglas de actuación, vistos como </a:t>
            </a:r>
          </a:p>
          <a:p>
            <a:pPr algn="ctr">
              <a:lnSpc>
                <a:spcPts val="1450"/>
              </a:lnSpc>
            </a:pPr>
            <a:r>
              <a:rPr lang="en-US" sz="1495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posibles soluciones al tratamiento y recuperación , son capaces </a:t>
            </a:r>
          </a:p>
          <a:p>
            <a:pPr algn="ctr">
              <a:lnSpc>
                <a:spcPts val="1450"/>
              </a:lnSpc>
            </a:pPr>
            <a:r>
              <a:rPr lang="en-US" sz="1495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de recuperar lo que existe explícitamente, mientras que S.E debe ser capaz de generar información no explícita, </a:t>
            </a:r>
          </a:p>
          <a:p>
            <a:pPr algn="ctr">
              <a:lnSpc>
                <a:spcPts val="1450"/>
              </a:lnSpc>
            </a:pPr>
            <a:r>
              <a:rPr lang="en-US" sz="1495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ra  Pueden utilizarse para ayudar al usuario, en selección de recursos de información, en filtrado de </a:t>
            </a:r>
          </a:p>
          <a:p>
            <a:pPr algn="ctr" marL="0" indent="0" lvl="0">
              <a:lnSpc>
                <a:spcPts val="1450"/>
              </a:lnSpc>
            </a:pPr>
            <a:r>
              <a:rPr lang="en-US" sz="1495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respuestas, etc.  guía y apoya el trabajo del usuario final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277920" y="8678554"/>
            <a:ext cx="2525262" cy="1053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25"/>
              </a:lnSpc>
            </a:pPr>
            <a:r>
              <a:rPr lang="en-US" sz="6161" u="sng">
                <a:solidFill>
                  <a:srgbClr val="0097B2"/>
                </a:solidFill>
                <a:latin typeface="Open Sans"/>
                <a:ea typeface="Open Sans"/>
                <a:cs typeface="Open Sans"/>
                <a:sym typeface="Open Sans"/>
                <a:hlinkClick r:id="rId19" action="ppaction://hlinksldjump"/>
              </a:rPr>
              <a:t>INDICE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923729" y="8895798"/>
            <a:ext cx="1970051" cy="646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05"/>
              </a:lnSpc>
            </a:pPr>
            <a:r>
              <a:rPr lang="en-US" sz="3789" u="sng">
                <a:solidFill>
                  <a:srgbClr val="0097B2"/>
                </a:solidFill>
                <a:latin typeface="Open Sans"/>
                <a:ea typeface="Open Sans"/>
                <a:cs typeface="Open Sans"/>
                <a:sym typeface="Open Sans"/>
                <a:hlinkClick r:id="rId20" action="ppaction://hlinksldjump"/>
              </a:rPr>
              <a:t>Anterior 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176580" y="8880771"/>
            <a:ext cx="2208068" cy="655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51"/>
              </a:lnSpc>
            </a:pPr>
            <a:r>
              <a:rPr lang="en-US" sz="3822" u="sng">
                <a:solidFill>
                  <a:srgbClr val="0097B2"/>
                </a:solidFill>
                <a:latin typeface="Open Sans"/>
                <a:ea typeface="Open Sans"/>
                <a:cs typeface="Open Sans"/>
                <a:sym typeface="Open Sans"/>
                <a:hlinkClick r:id="rId21" action="ppaction://hlinksldjump"/>
              </a:rPr>
              <a:t>Siguiente</a:t>
            </a:r>
          </a:p>
        </p:txBody>
      </p:sp>
    </p:spTree>
  </p:cSld>
  <p:clrMapOvr>
    <a:masterClrMapping/>
  </p:clrMapOvr>
  <p:transition spd="fast">
    <p:cover dir="rd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585" r="0" b="-1658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1095720" y="-197877"/>
            <a:ext cx="2980946" cy="4119398"/>
          </a:xfrm>
          <a:custGeom>
            <a:avLst/>
            <a:gdLst/>
            <a:ahLst/>
            <a:cxnLst/>
            <a:rect r="r" b="b" t="t" l="l"/>
            <a:pathLst>
              <a:path h="4119398" w="2980946">
                <a:moveTo>
                  <a:pt x="0" y="0"/>
                </a:moveTo>
                <a:lnTo>
                  <a:pt x="2980946" y="0"/>
                </a:lnTo>
                <a:lnTo>
                  <a:pt x="2980946" y="4119398"/>
                </a:lnTo>
                <a:lnTo>
                  <a:pt x="0" y="41193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5400000">
            <a:off x="14506633" y="-197242"/>
            <a:ext cx="2977619" cy="4114800"/>
          </a:xfrm>
          <a:custGeom>
            <a:avLst/>
            <a:gdLst/>
            <a:ahLst/>
            <a:cxnLst/>
            <a:rect r="r" b="b" t="t" l="l"/>
            <a:pathLst>
              <a:path h="4114800" w="2977619">
                <a:moveTo>
                  <a:pt x="0" y="0"/>
                </a:moveTo>
                <a:lnTo>
                  <a:pt x="2977619" y="0"/>
                </a:lnTo>
                <a:lnTo>
                  <a:pt x="29776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5400000">
            <a:off x="1095720" y="2668831"/>
            <a:ext cx="2980946" cy="4119398"/>
          </a:xfrm>
          <a:custGeom>
            <a:avLst/>
            <a:gdLst/>
            <a:ahLst/>
            <a:cxnLst/>
            <a:rect r="r" b="b" t="t" l="l"/>
            <a:pathLst>
              <a:path h="4119398" w="2980946">
                <a:moveTo>
                  <a:pt x="0" y="0"/>
                </a:moveTo>
                <a:lnTo>
                  <a:pt x="2980946" y="0"/>
                </a:lnTo>
                <a:lnTo>
                  <a:pt x="2980946" y="4119398"/>
                </a:lnTo>
                <a:lnTo>
                  <a:pt x="0" y="41193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5400000">
            <a:off x="14506633" y="2594574"/>
            <a:ext cx="2977619" cy="4114800"/>
          </a:xfrm>
          <a:custGeom>
            <a:avLst/>
            <a:gdLst/>
            <a:ahLst/>
            <a:cxnLst/>
            <a:rect r="r" b="b" t="t" l="l"/>
            <a:pathLst>
              <a:path h="4114800" w="2977619">
                <a:moveTo>
                  <a:pt x="0" y="0"/>
                </a:moveTo>
                <a:lnTo>
                  <a:pt x="2977619" y="0"/>
                </a:lnTo>
                <a:lnTo>
                  <a:pt x="29776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5400000">
            <a:off x="1017803" y="5413848"/>
            <a:ext cx="3139305" cy="4338235"/>
          </a:xfrm>
          <a:custGeom>
            <a:avLst/>
            <a:gdLst/>
            <a:ahLst/>
            <a:cxnLst/>
            <a:rect r="r" b="b" t="t" l="l"/>
            <a:pathLst>
              <a:path h="4338235" w="3139305">
                <a:moveTo>
                  <a:pt x="0" y="0"/>
                </a:moveTo>
                <a:lnTo>
                  <a:pt x="3139304" y="0"/>
                </a:lnTo>
                <a:lnTo>
                  <a:pt x="3139304" y="4338235"/>
                </a:lnTo>
                <a:lnTo>
                  <a:pt x="0" y="433823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5400000">
            <a:off x="14447604" y="5444723"/>
            <a:ext cx="2977619" cy="4114800"/>
          </a:xfrm>
          <a:custGeom>
            <a:avLst/>
            <a:gdLst/>
            <a:ahLst/>
            <a:cxnLst/>
            <a:rect r="r" b="b" t="t" l="l"/>
            <a:pathLst>
              <a:path h="4114800" w="2977619">
                <a:moveTo>
                  <a:pt x="0" y="0"/>
                </a:moveTo>
                <a:lnTo>
                  <a:pt x="2977619" y="0"/>
                </a:lnTo>
                <a:lnTo>
                  <a:pt x="29776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5400000">
            <a:off x="7974734" y="5613455"/>
            <a:ext cx="3171157" cy="4382252"/>
          </a:xfrm>
          <a:custGeom>
            <a:avLst/>
            <a:gdLst/>
            <a:ahLst/>
            <a:cxnLst/>
            <a:rect r="r" b="b" t="t" l="l"/>
            <a:pathLst>
              <a:path h="4382252" w="3171157">
                <a:moveTo>
                  <a:pt x="0" y="0"/>
                </a:moveTo>
                <a:lnTo>
                  <a:pt x="3171156" y="0"/>
                </a:lnTo>
                <a:lnTo>
                  <a:pt x="3171156" y="4382252"/>
                </a:lnTo>
                <a:lnTo>
                  <a:pt x="0" y="438225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1751438" y="6824407"/>
            <a:ext cx="2282221" cy="1355431"/>
          </a:xfrm>
          <a:custGeom>
            <a:avLst/>
            <a:gdLst/>
            <a:ahLst/>
            <a:cxnLst/>
            <a:rect r="r" b="b" t="t" l="l"/>
            <a:pathLst>
              <a:path h="1355431" w="2282221">
                <a:moveTo>
                  <a:pt x="0" y="0"/>
                </a:moveTo>
                <a:lnTo>
                  <a:pt x="2282221" y="0"/>
                </a:lnTo>
                <a:lnTo>
                  <a:pt x="2282221" y="1355431"/>
                </a:lnTo>
                <a:lnTo>
                  <a:pt x="0" y="135543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7580" t="-28033" r="-24341" b="-365574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938358" y="227413"/>
            <a:ext cx="2999684" cy="1938468"/>
          </a:xfrm>
          <a:custGeom>
            <a:avLst/>
            <a:gdLst/>
            <a:ahLst/>
            <a:cxnLst/>
            <a:rect r="r" b="b" t="t" l="l"/>
            <a:pathLst>
              <a:path h="1938468" w="2999684">
                <a:moveTo>
                  <a:pt x="0" y="0"/>
                </a:moveTo>
                <a:lnTo>
                  <a:pt x="2999684" y="0"/>
                </a:lnTo>
                <a:lnTo>
                  <a:pt x="2999684" y="1938468"/>
                </a:lnTo>
                <a:lnTo>
                  <a:pt x="0" y="1938468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-13295" r="0" b="-230582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645892" y="4110690"/>
            <a:ext cx="2820055" cy="1750671"/>
          </a:xfrm>
          <a:custGeom>
            <a:avLst/>
            <a:gdLst/>
            <a:ahLst/>
            <a:cxnLst/>
            <a:rect r="r" b="b" t="t" l="l"/>
            <a:pathLst>
              <a:path h="1750671" w="2820055">
                <a:moveTo>
                  <a:pt x="0" y="0"/>
                </a:moveTo>
                <a:lnTo>
                  <a:pt x="2820055" y="0"/>
                </a:lnTo>
                <a:lnTo>
                  <a:pt x="2820055" y="1750671"/>
                </a:lnTo>
                <a:lnTo>
                  <a:pt x="0" y="175067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-6913" t="-24621" r="-16110" b="-315761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462980" y="569023"/>
            <a:ext cx="2672589" cy="1681075"/>
          </a:xfrm>
          <a:custGeom>
            <a:avLst/>
            <a:gdLst/>
            <a:ahLst/>
            <a:cxnLst/>
            <a:rect r="r" b="b" t="t" l="l"/>
            <a:pathLst>
              <a:path h="1681075" w="2672589">
                <a:moveTo>
                  <a:pt x="0" y="0"/>
                </a:moveTo>
                <a:lnTo>
                  <a:pt x="2672589" y="0"/>
                </a:lnTo>
                <a:lnTo>
                  <a:pt x="2672589" y="1681075"/>
                </a:lnTo>
                <a:lnTo>
                  <a:pt x="0" y="168107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-8887" t="-29637" r="-6127" b="-27670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645892" y="6542904"/>
            <a:ext cx="2762250" cy="1748416"/>
          </a:xfrm>
          <a:custGeom>
            <a:avLst/>
            <a:gdLst/>
            <a:ahLst/>
            <a:cxnLst/>
            <a:rect r="r" b="b" t="t" l="l"/>
            <a:pathLst>
              <a:path h="1748416" w="2762250">
                <a:moveTo>
                  <a:pt x="0" y="0"/>
                </a:moveTo>
                <a:lnTo>
                  <a:pt x="2762250" y="0"/>
                </a:lnTo>
                <a:lnTo>
                  <a:pt x="2762250" y="1748416"/>
                </a:lnTo>
                <a:lnTo>
                  <a:pt x="0" y="174841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-16820" t="-50891" r="-15861" b="-314929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580459" y="4110690"/>
            <a:ext cx="2453200" cy="1997051"/>
          </a:xfrm>
          <a:custGeom>
            <a:avLst/>
            <a:gdLst/>
            <a:ahLst/>
            <a:cxnLst/>
            <a:rect r="r" b="b" t="t" l="l"/>
            <a:pathLst>
              <a:path h="1997051" w="2453200">
                <a:moveTo>
                  <a:pt x="0" y="0"/>
                </a:moveTo>
                <a:lnTo>
                  <a:pt x="2453200" y="0"/>
                </a:lnTo>
                <a:lnTo>
                  <a:pt x="2453200" y="1997051"/>
                </a:lnTo>
                <a:lnTo>
                  <a:pt x="0" y="1997051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-10901" t="-21862" r="-5706" b="-196454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4756573" y="8324847"/>
            <a:ext cx="2790720" cy="1909713"/>
            <a:chOff x="0" y="0"/>
            <a:chExt cx="1187768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87768" cy="812800"/>
            </a:xfrm>
            <a:custGeom>
              <a:avLst/>
              <a:gdLst/>
              <a:ahLst/>
              <a:cxnLst/>
              <a:rect r="r" b="b" t="t" l="l"/>
              <a:pathLst>
                <a:path h="812800" w="1187768">
                  <a:moveTo>
                    <a:pt x="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1187768" y="203200"/>
                  </a:lnTo>
                  <a:lnTo>
                    <a:pt x="1187768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0" y="406400"/>
                  </a:ln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101600" y="155575"/>
              <a:ext cx="1086168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37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947303" y="8555150"/>
            <a:ext cx="3226017" cy="1620884"/>
            <a:chOff x="0" y="0"/>
            <a:chExt cx="1061617" cy="533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61617" cy="533400"/>
            </a:xfrm>
            <a:custGeom>
              <a:avLst/>
              <a:gdLst/>
              <a:ahLst/>
              <a:cxnLst/>
              <a:rect r="r" b="b" t="t" l="l"/>
              <a:pathLst>
                <a:path h="533400" w="1061617">
                  <a:moveTo>
                    <a:pt x="602763" y="0"/>
                  </a:moveTo>
                  <a:cubicBezTo>
                    <a:pt x="614407" y="0"/>
                    <a:pt x="626122" y="0"/>
                    <a:pt x="637743" y="0"/>
                  </a:cubicBezTo>
                  <a:cubicBezTo>
                    <a:pt x="730397" y="8909"/>
                    <a:pt x="788302" y="38564"/>
                    <a:pt x="814676" y="87090"/>
                  </a:cubicBezTo>
                  <a:cubicBezTo>
                    <a:pt x="969147" y="80618"/>
                    <a:pt x="1076806" y="172373"/>
                    <a:pt x="1013011" y="262426"/>
                  </a:cubicBezTo>
                  <a:cubicBezTo>
                    <a:pt x="1035771" y="281349"/>
                    <a:pt x="1054759" y="302517"/>
                    <a:pt x="1061617" y="330926"/>
                  </a:cubicBezTo>
                  <a:cubicBezTo>
                    <a:pt x="1061617" y="339065"/>
                    <a:pt x="1061617" y="347184"/>
                    <a:pt x="1061617" y="355321"/>
                  </a:cubicBezTo>
                  <a:cubicBezTo>
                    <a:pt x="1041181" y="427627"/>
                    <a:pt x="953244" y="476486"/>
                    <a:pt x="808876" y="463333"/>
                  </a:cubicBezTo>
                  <a:cubicBezTo>
                    <a:pt x="771731" y="500459"/>
                    <a:pt x="705635" y="537638"/>
                    <a:pt x="602784" y="533008"/>
                  </a:cubicBezTo>
                  <a:cubicBezTo>
                    <a:pt x="549622" y="530570"/>
                    <a:pt x="512638" y="516453"/>
                    <a:pt x="480257" y="499302"/>
                  </a:cubicBezTo>
                  <a:cubicBezTo>
                    <a:pt x="446151" y="513559"/>
                    <a:pt x="409213" y="524747"/>
                    <a:pt x="355844" y="524871"/>
                  </a:cubicBezTo>
                  <a:cubicBezTo>
                    <a:pt x="232373" y="525082"/>
                    <a:pt x="149776" y="470155"/>
                    <a:pt x="147773" y="394815"/>
                  </a:cubicBezTo>
                  <a:cubicBezTo>
                    <a:pt x="68398" y="377190"/>
                    <a:pt x="14637" y="344291"/>
                    <a:pt x="0" y="287995"/>
                  </a:cubicBezTo>
                  <a:cubicBezTo>
                    <a:pt x="0" y="279858"/>
                    <a:pt x="0" y="271704"/>
                    <a:pt x="0" y="263601"/>
                  </a:cubicBezTo>
                  <a:cubicBezTo>
                    <a:pt x="16156" y="207816"/>
                    <a:pt x="66994" y="172776"/>
                    <a:pt x="151640" y="157922"/>
                  </a:cubicBezTo>
                  <a:cubicBezTo>
                    <a:pt x="146554" y="63818"/>
                    <a:pt x="315869" y="5016"/>
                    <a:pt x="454966" y="46474"/>
                  </a:cubicBezTo>
                  <a:cubicBezTo>
                    <a:pt x="488083" y="25973"/>
                    <a:pt x="534939" y="3613"/>
                    <a:pt x="60276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49763" y="41275"/>
              <a:ext cx="962090" cy="415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37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751438" y="8324847"/>
            <a:ext cx="2622987" cy="1884377"/>
            <a:chOff x="0" y="0"/>
            <a:chExt cx="1131389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31389" cy="812800"/>
            </a:xfrm>
            <a:custGeom>
              <a:avLst/>
              <a:gdLst/>
              <a:ahLst/>
              <a:cxnLst/>
              <a:rect r="r" b="b" t="t" l="l"/>
              <a:pathLst>
                <a:path h="812800" w="1131389">
                  <a:moveTo>
                    <a:pt x="1131389" y="406400"/>
                  </a:moveTo>
                  <a:lnTo>
                    <a:pt x="724989" y="0"/>
                  </a:lnTo>
                  <a:lnTo>
                    <a:pt x="724989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724989" y="609600"/>
                  </a:lnTo>
                  <a:lnTo>
                    <a:pt x="724989" y="812800"/>
                  </a:lnTo>
                  <a:lnTo>
                    <a:pt x="1131389" y="406400"/>
                  </a:ln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155575"/>
              <a:ext cx="1029789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37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5550913" y="2396148"/>
            <a:ext cx="8328100" cy="2065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35"/>
              </a:lnSpc>
            </a:pPr>
            <a:r>
              <a:rPr lang="en-US" sz="5500">
                <a:solidFill>
                  <a:srgbClr val="000000"/>
                </a:solidFill>
                <a:latin typeface="Flatory Slab"/>
                <a:ea typeface="Flatory Slab"/>
                <a:cs typeface="Flatory Slab"/>
                <a:sym typeface="Flatory Slab"/>
              </a:rPr>
              <a:t>EJEMPLOS DE SU USO EN VIDA COTIDIANA Y PROFESIONAL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40853" y="1136823"/>
            <a:ext cx="3579932" cy="1497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0"/>
              </a:lnSpc>
            </a:pPr>
            <a:r>
              <a:rPr lang="en-US" sz="2031">
                <a:solidFill>
                  <a:srgbClr val="0097B2"/>
                </a:solidFill>
                <a:latin typeface="Handy Casual"/>
                <a:ea typeface="Handy Casual"/>
                <a:cs typeface="Handy Casual"/>
                <a:sym typeface="Handy Casual"/>
              </a:rPr>
              <a:t>DIAGNÓSTICO MÉDICO:</a:t>
            </a:r>
            <a:r>
              <a:rPr lang="en-US" sz="2031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 AYUDAN A LOS MÉDICOS A IDENTIFICAR ENFERMEDADES ANALIZANDO SÍNTOMAS ESPECÍFICOS Y </a:t>
            </a:r>
          </a:p>
          <a:p>
            <a:pPr algn="ctr" marL="0" indent="0" lvl="0">
              <a:lnSpc>
                <a:spcPts val="1970"/>
              </a:lnSpc>
              <a:spcBef>
                <a:spcPct val="0"/>
              </a:spcBef>
            </a:pPr>
            <a:r>
              <a:rPr lang="en-US" sz="2031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antecedentes. Un ejemplo histórico es MYCIN, diseñado para diagnosticar infecciones bacterianas en la sangre.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07918" y="3927169"/>
            <a:ext cx="3556552" cy="149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7"/>
              </a:lnSpc>
            </a:pPr>
            <a:r>
              <a:rPr lang="en-US" sz="2018">
                <a:solidFill>
                  <a:srgbClr val="0097B2"/>
                </a:solidFill>
                <a:latin typeface="Handy Casual"/>
                <a:ea typeface="Handy Casual"/>
                <a:cs typeface="Handy Casual"/>
                <a:sym typeface="Handy Casual"/>
              </a:rPr>
              <a:t>FINANZAS Y BANCA: </a:t>
            </a:r>
            <a:r>
              <a:rPr lang="en-US" sz="2018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SE UTILIZAN PARA LA EVALUACIÓN DE CRÉDITOS, DONDE EL SISTEMA ANALIZA EL HISTORIAL Y LOS INGRESOS DEL </a:t>
            </a:r>
          </a:p>
          <a:p>
            <a:pPr algn="ctr" marL="0" indent="0" lvl="0">
              <a:lnSpc>
                <a:spcPts val="1957"/>
              </a:lnSpc>
              <a:spcBef>
                <a:spcPct val="0"/>
              </a:spcBef>
            </a:pPr>
            <a:r>
              <a:rPr lang="en-US" sz="2018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solicitante para decidir automáticamente si se otorga un préstamo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40853" y="6660180"/>
            <a:ext cx="3556552" cy="1744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7"/>
              </a:lnSpc>
            </a:pPr>
            <a:r>
              <a:rPr lang="en-US" sz="2018">
                <a:solidFill>
                  <a:srgbClr val="0097B2"/>
                </a:solidFill>
                <a:latin typeface="Handy Casual"/>
                <a:ea typeface="Handy Casual"/>
                <a:cs typeface="Handy Casual"/>
                <a:sym typeface="Handy Casual"/>
              </a:rPr>
              <a:t>ATENCIÓN AL CLIENTE (CHATBOTS COMPLEJOS): </a:t>
            </a:r>
            <a:r>
              <a:rPr lang="en-US" sz="2018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ALGUNOS BOTS DE SOPORTE UTILIZAN BASES DE CONOCIMIENTO EXPERTAS PARA </a:t>
            </a:r>
          </a:p>
          <a:p>
            <a:pPr algn="ctr" marL="0" indent="0" lvl="0">
              <a:lnSpc>
                <a:spcPts val="1957"/>
              </a:lnSpc>
              <a:spcBef>
                <a:spcPct val="0"/>
              </a:spcBef>
            </a:pPr>
            <a:r>
              <a:rPr lang="en-US" sz="2018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guiar al usuario en la resolución de problemas técnicos paso a paso, actuando como un técnico virtual.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248808" y="1076325"/>
            <a:ext cx="3579932" cy="1497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0"/>
              </a:lnSpc>
            </a:pPr>
            <a:r>
              <a:rPr lang="en-US" sz="2031">
                <a:solidFill>
                  <a:srgbClr val="0097B2"/>
                </a:solidFill>
                <a:latin typeface="Handy Casual"/>
                <a:ea typeface="Handy Casual"/>
                <a:cs typeface="Handy Casual"/>
                <a:sym typeface="Handy Casual"/>
              </a:rPr>
              <a:t>MANTENIMIENTO INDUSTRIAL: </a:t>
            </a:r>
            <a:r>
              <a:rPr lang="en-US" sz="2031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SISTEMAS QUE DETECTAN FALLAS EN MAQUINARIA O MOTORES BASÁNDOSE EN SONIDOS, </a:t>
            </a:r>
          </a:p>
          <a:p>
            <a:pPr algn="ctr" marL="0" indent="0" lvl="0">
              <a:lnSpc>
                <a:spcPts val="1970"/>
              </a:lnSpc>
              <a:spcBef>
                <a:spcPct val="0"/>
              </a:spcBef>
            </a:pPr>
            <a:r>
              <a:rPr lang="en-US" sz="2031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vibraciones o datos de sensores, indicando exactamente qué pieza necesita reparación.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205476" y="6939763"/>
            <a:ext cx="3579932" cy="1002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0"/>
              </a:lnSpc>
            </a:pPr>
            <a:r>
              <a:rPr lang="en-US" sz="2031">
                <a:solidFill>
                  <a:srgbClr val="0097B2"/>
                </a:solidFill>
                <a:latin typeface="Handy Casual"/>
                <a:ea typeface="Handy Casual"/>
                <a:cs typeface="Handy Casual"/>
                <a:sym typeface="Handy Casual"/>
              </a:rPr>
              <a:t>GEOLOGÍA Y MINERÍA: </a:t>
            </a:r>
            <a:r>
              <a:rPr lang="en-US" sz="2031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SISTEMAS COMO PROSPECTOR SE HAN USADO PARA PREDECIR LA UBICACIÓN DE YACIMIENTOS </a:t>
            </a:r>
          </a:p>
          <a:p>
            <a:pPr algn="ctr" marL="0" indent="0" lvl="0">
              <a:lnSpc>
                <a:spcPts val="1970"/>
              </a:lnSpc>
              <a:spcBef>
                <a:spcPct val="0"/>
              </a:spcBef>
            </a:pPr>
            <a:r>
              <a:rPr lang="en-US" sz="2031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minerales analizando datos geológicos.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248808" y="3926781"/>
            <a:ext cx="3579932" cy="1497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0"/>
              </a:lnSpc>
            </a:pPr>
            <a:r>
              <a:rPr lang="en-US" sz="2031">
                <a:solidFill>
                  <a:srgbClr val="0097B2"/>
                </a:solidFill>
                <a:latin typeface="Handy Casual"/>
                <a:ea typeface="Handy Casual"/>
                <a:cs typeface="Handy Casual"/>
                <a:sym typeface="Handy Casual"/>
              </a:rPr>
              <a:t>LOGÍSTICA Y PLANIFICACIÓN:</a:t>
            </a:r>
            <a:r>
              <a:rPr lang="en-US" sz="2031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 HERRAMIENTAS QUE OPTIMIZAN RUTAS DE ENTREGA O GESTIONAN INVENTARIOS COMPLEJOS BASÁNDOSE </a:t>
            </a:r>
          </a:p>
          <a:p>
            <a:pPr algn="ctr" marL="0" indent="0" lvl="0">
              <a:lnSpc>
                <a:spcPts val="1970"/>
              </a:lnSpc>
              <a:spcBef>
                <a:spcPct val="0"/>
              </a:spcBef>
            </a:pPr>
            <a:r>
              <a:rPr lang="en-US" sz="2031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en reglas de demanda y tiempos de transporte.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747317" y="6862507"/>
            <a:ext cx="3833142" cy="1616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10"/>
              </a:lnSpc>
            </a:pPr>
            <a:r>
              <a:rPr lang="en-US" sz="2175">
                <a:solidFill>
                  <a:srgbClr val="0097B2"/>
                </a:solidFill>
                <a:latin typeface="Handy Casual"/>
                <a:ea typeface="Handy Casual"/>
                <a:cs typeface="Handy Casual"/>
                <a:sym typeface="Handy Casual"/>
              </a:rPr>
              <a:t>CONFIGURACIÓN DE PRODUCTOS: </a:t>
            </a:r>
            <a:r>
              <a:rPr lang="en-US" sz="2175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UTILIZADOS POR FABRICANTES (COMO MARCAS DE COMPUTADORAS O COCHES) PARA PERMITIR </a:t>
            </a:r>
          </a:p>
          <a:p>
            <a:pPr algn="ctr" marL="0" indent="0" lvl="0">
              <a:lnSpc>
                <a:spcPts val="2110"/>
              </a:lnSpc>
              <a:spcBef>
                <a:spcPct val="0"/>
              </a:spcBef>
            </a:pPr>
            <a:r>
              <a:rPr lang="en-US" sz="2175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que el cliente personalice su compra, asegurando que todos los componentes seleccionados sean compatibles entre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297681" y="8769954"/>
            <a:ext cx="2525262" cy="1053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25"/>
              </a:lnSpc>
            </a:pPr>
            <a:r>
              <a:rPr lang="en-US" sz="6161" u="sng">
                <a:solidFill>
                  <a:srgbClr val="0097B2"/>
                </a:solidFill>
                <a:latin typeface="Open Sans"/>
                <a:ea typeface="Open Sans"/>
                <a:cs typeface="Open Sans"/>
                <a:sym typeface="Open Sans"/>
                <a:hlinkClick r:id="rId21" action="ppaction://hlinksldjump"/>
              </a:rPr>
              <a:t>INDICE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779912" y="8914732"/>
            <a:ext cx="2208068" cy="655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51"/>
              </a:lnSpc>
            </a:pPr>
            <a:r>
              <a:rPr lang="en-US" sz="3822" u="none">
                <a:solidFill>
                  <a:srgbClr val="0097B2"/>
                </a:solidFill>
                <a:latin typeface="Open Sans"/>
                <a:ea typeface="Open Sans"/>
                <a:cs typeface="Open Sans"/>
                <a:sym typeface="Open Sans"/>
              </a:rPr>
              <a:t>Siguiente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066172" y="8798529"/>
            <a:ext cx="2354245" cy="770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39"/>
              </a:lnSpc>
            </a:pPr>
            <a:r>
              <a:rPr lang="en-US" sz="4528" u="sng">
                <a:solidFill>
                  <a:srgbClr val="0097B2"/>
                </a:solidFill>
                <a:latin typeface="Open Sans"/>
                <a:ea typeface="Open Sans"/>
                <a:cs typeface="Open Sans"/>
                <a:sym typeface="Open Sans"/>
                <a:hlinkClick r:id="rId22" action="ppaction://hlinksldjump"/>
              </a:rPr>
              <a:t>Anterior </a:t>
            </a:r>
          </a:p>
        </p:txBody>
      </p:sp>
    </p:spTree>
  </p:cSld>
  <p:clrMapOvr>
    <a:masterClrMapping/>
  </p:clrMapOvr>
  <p:transition spd="fast">
    <p:cover dir="rd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828" r="0" b="-882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856859" y="634516"/>
            <a:ext cx="6574281" cy="104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76"/>
              </a:lnSpc>
              <a:spcBef>
                <a:spcPct val="0"/>
              </a:spcBef>
            </a:pPr>
            <a:r>
              <a:rPr lang="en-US" sz="7776" spc="77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SISTEMA</a:t>
            </a:r>
            <a:r>
              <a:rPr lang="en-US" sz="7776" spc="77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 EXPERTO 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9526826" y="6157482"/>
            <a:ext cx="0" cy="581876"/>
          </a:xfrm>
          <a:prstGeom prst="line">
            <a:avLst/>
          </a:prstGeom>
          <a:ln cap="flat" w="38100">
            <a:solidFill>
              <a:srgbClr val="2A2B39"/>
            </a:solidFill>
            <a:prstDash val="solid"/>
            <a:headEnd type="arrow" len="sm" w="med"/>
            <a:tailEnd type="arrow" len="sm" w="med"/>
          </a:ln>
        </p:spPr>
      </p:sp>
      <p:grpSp>
        <p:nvGrpSpPr>
          <p:cNvPr name="Group 5" id="5"/>
          <p:cNvGrpSpPr/>
          <p:nvPr/>
        </p:nvGrpSpPr>
        <p:grpSpPr>
          <a:xfrm rot="5400000">
            <a:off x="3692409" y="3941978"/>
            <a:ext cx="4927045" cy="1445052"/>
            <a:chOff x="0" y="0"/>
            <a:chExt cx="6569393" cy="1926736"/>
          </a:xfrm>
        </p:grpSpPr>
        <p:sp>
          <p:nvSpPr>
            <p:cNvPr name="AutoShape 6" id="6"/>
            <p:cNvSpPr/>
            <p:nvPr/>
          </p:nvSpPr>
          <p:spPr>
            <a:xfrm flipV="true">
              <a:off x="3289079" y="714123"/>
              <a:ext cx="0" cy="1124677"/>
            </a:xfrm>
            <a:prstGeom prst="line">
              <a:avLst/>
            </a:prstGeom>
            <a:ln cap="flat" w="55751">
              <a:solidFill>
                <a:srgbClr val="2A2B39"/>
              </a:solidFill>
              <a:prstDash val="solid"/>
              <a:headEnd type="arrow" len="sm" w="med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 flipV="true">
              <a:off x="27876" y="0"/>
              <a:ext cx="3262417" cy="1838800"/>
            </a:xfrm>
            <a:prstGeom prst="line">
              <a:avLst/>
            </a:prstGeom>
            <a:ln cap="flat" w="55751">
              <a:solidFill>
                <a:srgbClr val="2A2B39"/>
              </a:solidFill>
              <a:prstDash val="solid"/>
              <a:headEnd type="arrow" len="sm" w="med"/>
              <a:tailEnd type="none" len="sm" w="sm"/>
            </a:ln>
          </p:spPr>
        </p:sp>
        <p:sp>
          <p:nvSpPr>
            <p:cNvPr name="AutoShape 8" id="8"/>
            <p:cNvSpPr/>
            <p:nvPr/>
          </p:nvSpPr>
          <p:spPr>
            <a:xfrm flipH="true" flipV="true">
              <a:off x="3290292" y="130670"/>
              <a:ext cx="3251225" cy="1796066"/>
            </a:xfrm>
            <a:prstGeom prst="line">
              <a:avLst/>
            </a:prstGeom>
            <a:ln cap="flat" w="55751">
              <a:solidFill>
                <a:srgbClr val="2A2B39"/>
              </a:solidFill>
              <a:prstDash val="solid"/>
              <a:headEnd type="arrow" len="sm" w="med"/>
              <a:tailEnd type="none" len="sm" w="sm"/>
            </a:ln>
          </p:spPr>
        </p:sp>
      </p:grpSp>
      <p:grpSp>
        <p:nvGrpSpPr>
          <p:cNvPr name="Group 9" id="9"/>
          <p:cNvGrpSpPr/>
          <p:nvPr/>
        </p:nvGrpSpPr>
        <p:grpSpPr>
          <a:xfrm rot="-5400000">
            <a:off x="9541437" y="3921483"/>
            <a:ext cx="4927045" cy="1486042"/>
            <a:chOff x="0" y="0"/>
            <a:chExt cx="6569393" cy="1981390"/>
          </a:xfrm>
        </p:grpSpPr>
        <p:sp>
          <p:nvSpPr>
            <p:cNvPr name="AutoShape 10" id="10"/>
            <p:cNvSpPr/>
            <p:nvPr/>
          </p:nvSpPr>
          <p:spPr>
            <a:xfrm flipV="true">
              <a:off x="3289079" y="734379"/>
              <a:ext cx="0" cy="1156580"/>
            </a:xfrm>
            <a:prstGeom prst="line">
              <a:avLst/>
            </a:prstGeom>
            <a:ln cap="flat" w="55751">
              <a:solidFill>
                <a:srgbClr val="2A2B39"/>
              </a:solidFill>
              <a:prstDash val="solid"/>
              <a:headEnd type="arrow" len="sm" w="med"/>
              <a:tailEnd type="none" len="sm" w="sm"/>
            </a:ln>
          </p:spPr>
        </p:sp>
        <p:sp>
          <p:nvSpPr>
            <p:cNvPr name="AutoShape 11" id="11"/>
            <p:cNvSpPr/>
            <p:nvPr/>
          </p:nvSpPr>
          <p:spPr>
            <a:xfrm flipV="true">
              <a:off x="27876" y="0"/>
              <a:ext cx="3262417" cy="1890959"/>
            </a:xfrm>
            <a:prstGeom prst="line">
              <a:avLst/>
            </a:prstGeom>
            <a:ln cap="flat" w="55751">
              <a:solidFill>
                <a:srgbClr val="2A2B39"/>
              </a:solidFill>
              <a:prstDash val="solid"/>
              <a:headEnd type="arrow" len="sm" w="med"/>
              <a:tailEnd type="none" len="sm" w="sm"/>
            </a:ln>
          </p:spPr>
        </p:sp>
        <p:sp>
          <p:nvSpPr>
            <p:cNvPr name="AutoShape 12" id="12"/>
            <p:cNvSpPr/>
            <p:nvPr/>
          </p:nvSpPr>
          <p:spPr>
            <a:xfrm flipH="true" flipV="true">
              <a:off x="3290292" y="134376"/>
              <a:ext cx="3251225" cy="1847013"/>
            </a:xfrm>
            <a:prstGeom prst="line">
              <a:avLst/>
            </a:prstGeom>
            <a:ln cap="flat" w="55751">
              <a:solidFill>
                <a:srgbClr val="2A2B39"/>
              </a:solidFill>
              <a:prstDash val="solid"/>
              <a:headEnd type="arrow" len="sm" w="med"/>
              <a:tailEnd type="none" len="sm" w="sm"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162381" y="1330610"/>
            <a:ext cx="3832874" cy="2031985"/>
            <a:chOff x="0" y="0"/>
            <a:chExt cx="2431261" cy="128892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40005" y="45156"/>
              <a:ext cx="2391256" cy="1243064"/>
            </a:xfrm>
            <a:custGeom>
              <a:avLst/>
              <a:gdLst/>
              <a:ahLst/>
              <a:cxnLst/>
              <a:rect r="r" b="b" t="t" l="l"/>
              <a:pathLst>
                <a:path h="1243064" w="2391256">
                  <a:moveTo>
                    <a:pt x="635" y="1213289"/>
                  </a:moveTo>
                  <a:cubicBezTo>
                    <a:pt x="-1905" y="1222179"/>
                    <a:pt x="3175" y="1228529"/>
                    <a:pt x="15796" y="1229799"/>
                  </a:cubicBezTo>
                  <a:cubicBezTo>
                    <a:pt x="30306" y="1231069"/>
                    <a:pt x="43003" y="1231069"/>
                    <a:pt x="57514" y="1231069"/>
                  </a:cubicBezTo>
                  <a:cubicBezTo>
                    <a:pt x="115556" y="1232339"/>
                    <a:pt x="173598" y="1232339"/>
                    <a:pt x="233454" y="1233609"/>
                  </a:cubicBezTo>
                  <a:cubicBezTo>
                    <a:pt x="266103" y="1234879"/>
                    <a:pt x="298751" y="1236149"/>
                    <a:pt x="329586" y="1237419"/>
                  </a:cubicBezTo>
                  <a:cubicBezTo>
                    <a:pt x="384001" y="1238689"/>
                    <a:pt x="436602" y="1238689"/>
                    <a:pt x="491016" y="1239959"/>
                  </a:cubicBezTo>
                  <a:cubicBezTo>
                    <a:pt x="512782" y="1239959"/>
                    <a:pt x="532734" y="1239959"/>
                    <a:pt x="554500" y="1238689"/>
                  </a:cubicBezTo>
                  <a:cubicBezTo>
                    <a:pt x="563569" y="1238689"/>
                    <a:pt x="574452" y="1237419"/>
                    <a:pt x="583521" y="1237419"/>
                  </a:cubicBezTo>
                  <a:cubicBezTo>
                    <a:pt x="619797" y="1238689"/>
                    <a:pt x="1345325" y="1229799"/>
                    <a:pt x="1381601" y="1231069"/>
                  </a:cubicBezTo>
                  <a:cubicBezTo>
                    <a:pt x="1432388" y="1232339"/>
                    <a:pt x="1572052" y="1232339"/>
                    <a:pt x="1622839" y="1232339"/>
                  </a:cubicBezTo>
                  <a:cubicBezTo>
                    <a:pt x="1642791" y="1232339"/>
                    <a:pt x="1660929" y="1231069"/>
                    <a:pt x="1680881" y="1231069"/>
                  </a:cubicBezTo>
                  <a:lnTo>
                    <a:pt x="1778827" y="1234879"/>
                  </a:lnTo>
                  <a:cubicBezTo>
                    <a:pt x="1849566" y="1237419"/>
                    <a:pt x="1918491" y="1234879"/>
                    <a:pt x="1989230" y="1238689"/>
                  </a:cubicBezTo>
                  <a:cubicBezTo>
                    <a:pt x="2107128" y="1243769"/>
                    <a:pt x="2226840" y="1237419"/>
                    <a:pt x="2327756" y="1242499"/>
                  </a:cubicBezTo>
                  <a:cubicBezTo>
                    <a:pt x="2348076" y="1243769"/>
                    <a:pt x="2368396" y="1242499"/>
                    <a:pt x="2391256" y="1242499"/>
                  </a:cubicBezTo>
                  <a:lnTo>
                    <a:pt x="2391256" y="1182809"/>
                  </a:lnTo>
                  <a:cubicBezTo>
                    <a:pt x="2389986" y="1128287"/>
                    <a:pt x="2388716" y="1084560"/>
                    <a:pt x="2388716" y="1038101"/>
                  </a:cubicBezTo>
                  <a:cubicBezTo>
                    <a:pt x="2388716" y="984353"/>
                    <a:pt x="2392526" y="929695"/>
                    <a:pt x="2386176" y="875948"/>
                  </a:cubicBezTo>
                  <a:cubicBezTo>
                    <a:pt x="2378556" y="840420"/>
                    <a:pt x="2367126" y="139884"/>
                    <a:pt x="2367126" y="104356"/>
                  </a:cubicBezTo>
                  <a:cubicBezTo>
                    <a:pt x="2364586" y="79760"/>
                    <a:pt x="2363316" y="54253"/>
                    <a:pt x="2360776" y="29657"/>
                  </a:cubicBezTo>
                  <a:cubicBezTo>
                    <a:pt x="2360776" y="22369"/>
                    <a:pt x="2359506" y="15081"/>
                    <a:pt x="2358236" y="5644"/>
                  </a:cubicBezTo>
                  <a:cubicBezTo>
                    <a:pt x="2348076" y="3104"/>
                    <a:pt x="2339186" y="1834"/>
                    <a:pt x="2329026" y="564"/>
                  </a:cubicBezTo>
                  <a:cubicBezTo>
                    <a:pt x="2321406" y="-706"/>
                    <a:pt x="2313786" y="564"/>
                    <a:pt x="2307436" y="564"/>
                  </a:cubicBezTo>
                  <a:lnTo>
                    <a:pt x="6727" y="5644"/>
                  </a:lnTo>
                  <a:lnTo>
                    <a:pt x="635" y="1213289"/>
                  </a:lnTo>
                  <a:close/>
                </a:path>
              </a:pathLst>
            </a:custGeom>
            <a:solidFill>
              <a:srgbClr val="AE88F3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1430" y="16510"/>
              <a:ext cx="2370301" cy="1234315"/>
            </a:xfrm>
            <a:custGeom>
              <a:avLst/>
              <a:gdLst/>
              <a:ahLst/>
              <a:cxnLst/>
              <a:rect r="r" b="b" t="t" l="l"/>
              <a:pathLst>
                <a:path h="1234315" w="2370301">
                  <a:moveTo>
                    <a:pt x="2370301" y="1234315"/>
                  </a:moveTo>
                  <a:lnTo>
                    <a:pt x="0" y="1226695"/>
                  </a:lnTo>
                  <a:lnTo>
                    <a:pt x="0" y="439088"/>
                  </a:lnTo>
                  <a:lnTo>
                    <a:pt x="7620" y="20320"/>
                  </a:lnTo>
                  <a:lnTo>
                    <a:pt x="1183449" y="0"/>
                  </a:lnTo>
                  <a:lnTo>
                    <a:pt x="2348711" y="8890"/>
                  </a:lnTo>
                  <a:close/>
                </a:path>
              </a:pathLst>
            </a:custGeom>
            <a:solidFill>
              <a:srgbClr val="E8DEFC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-215" y="0"/>
              <a:ext cx="2394645" cy="1260279"/>
            </a:xfrm>
            <a:custGeom>
              <a:avLst/>
              <a:gdLst/>
              <a:ahLst/>
              <a:cxnLst/>
              <a:rect r="r" b="b" t="t" l="l"/>
              <a:pathLst>
                <a:path h="1260279" w="2394645">
                  <a:moveTo>
                    <a:pt x="2361626" y="21590"/>
                  </a:moveTo>
                  <a:cubicBezTo>
                    <a:pt x="2362896" y="34290"/>
                    <a:pt x="2362896" y="44450"/>
                    <a:pt x="2364166" y="53860"/>
                  </a:cubicBezTo>
                  <a:cubicBezTo>
                    <a:pt x="2366706" y="78456"/>
                    <a:pt x="2367976" y="103964"/>
                    <a:pt x="2370516" y="128560"/>
                  </a:cubicBezTo>
                  <a:cubicBezTo>
                    <a:pt x="2370516" y="164088"/>
                    <a:pt x="2383216" y="864624"/>
                    <a:pt x="2389566" y="900152"/>
                  </a:cubicBezTo>
                  <a:cubicBezTo>
                    <a:pt x="2395916" y="953899"/>
                    <a:pt x="2392106" y="1008557"/>
                    <a:pt x="2392106" y="1062304"/>
                  </a:cubicBezTo>
                  <a:cubicBezTo>
                    <a:pt x="2392106" y="1109675"/>
                    <a:pt x="2393376" y="1153401"/>
                    <a:pt x="2394646" y="1200025"/>
                  </a:cubicBezTo>
                  <a:lnTo>
                    <a:pt x="2394646" y="1259715"/>
                  </a:lnTo>
                  <a:cubicBezTo>
                    <a:pt x="2371786" y="1259715"/>
                    <a:pt x="2351466" y="1260985"/>
                    <a:pt x="2331146" y="1259715"/>
                  </a:cubicBezTo>
                  <a:cubicBezTo>
                    <a:pt x="2214459" y="1254635"/>
                    <a:pt x="2094747" y="1260985"/>
                    <a:pt x="1976849" y="1255905"/>
                  </a:cubicBezTo>
                  <a:cubicBezTo>
                    <a:pt x="1906110" y="1252095"/>
                    <a:pt x="1837185" y="1254635"/>
                    <a:pt x="1766446" y="1252095"/>
                  </a:cubicBezTo>
                  <a:lnTo>
                    <a:pt x="1668500" y="1248285"/>
                  </a:lnTo>
                  <a:cubicBezTo>
                    <a:pt x="1648548" y="1248285"/>
                    <a:pt x="1630410" y="1249555"/>
                    <a:pt x="1610458" y="1249555"/>
                  </a:cubicBezTo>
                  <a:cubicBezTo>
                    <a:pt x="1559671" y="1248285"/>
                    <a:pt x="1420007" y="1249555"/>
                    <a:pt x="1369220" y="1248285"/>
                  </a:cubicBezTo>
                  <a:cubicBezTo>
                    <a:pt x="1332944" y="1247015"/>
                    <a:pt x="607417" y="1255905"/>
                    <a:pt x="571140" y="1254635"/>
                  </a:cubicBezTo>
                  <a:cubicBezTo>
                    <a:pt x="562071" y="1254635"/>
                    <a:pt x="551188" y="1255905"/>
                    <a:pt x="542119" y="1255905"/>
                  </a:cubicBezTo>
                  <a:cubicBezTo>
                    <a:pt x="520353" y="1255905"/>
                    <a:pt x="500401" y="1257175"/>
                    <a:pt x="478635" y="1257175"/>
                  </a:cubicBezTo>
                  <a:cubicBezTo>
                    <a:pt x="424221" y="1257175"/>
                    <a:pt x="371620" y="1255905"/>
                    <a:pt x="317206" y="1254635"/>
                  </a:cubicBezTo>
                  <a:cubicBezTo>
                    <a:pt x="284557" y="1253365"/>
                    <a:pt x="251908" y="1252095"/>
                    <a:pt x="221073" y="1250825"/>
                  </a:cubicBezTo>
                  <a:cubicBezTo>
                    <a:pt x="163031" y="1249555"/>
                    <a:pt x="104989" y="1248285"/>
                    <a:pt x="45133" y="1248285"/>
                  </a:cubicBezTo>
                  <a:cubicBezTo>
                    <a:pt x="34505" y="1248285"/>
                    <a:pt x="25615" y="1248285"/>
                    <a:pt x="15455" y="1247015"/>
                  </a:cubicBezTo>
                  <a:cubicBezTo>
                    <a:pt x="6565" y="1245745"/>
                    <a:pt x="1485" y="1239395"/>
                    <a:pt x="4025" y="1230505"/>
                  </a:cubicBezTo>
                  <a:cubicBezTo>
                    <a:pt x="12915" y="1198950"/>
                    <a:pt x="9105" y="1176176"/>
                    <a:pt x="7835" y="1152490"/>
                  </a:cubicBezTo>
                  <a:cubicBezTo>
                    <a:pt x="6565" y="1104209"/>
                    <a:pt x="2755" y="1056838"/>
                    <a:pt x="4025" y="1008557"/>
                  </a:cubicBezTo>
                  <a:cubicBezTo>
                    <a:pt x="1485" y="948433"/>
                    <a:pt x="-3595" y="204170"/>
                    <a:pt x="4025" y="143135"/>
                  </a:cubicBezTo>
                  <a:cubicBezTo>
                    <a:pt x="5295" y="131293"/>
                    <a:pt x="4025" y="118539"/>
                    <a:pt x="5295" y="106697"/>
                  </a:cubicBezTo>
                  <a:cubicBezTo>
                    <a:pt x="6565" y="87566"/>
                    <a:pt x="9105" y="66614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9643" y="30480"/>
                    <a:pt x="88665" y="29210"/>
                  </a:cubicBezTo>
                  <a:cubicBezTo>
                    <a:pt x="137638" y="25400"/>
                    <a:pt x="186611" y="22860"/>
                    <a:pt x="237398" y="20320"/>
                  </a:cubicBezTo>
                  <a:cubicBezTo>
                    <a:pt x="271860" y="17780"/>
                    <a:pt x="306323" y="16510"/>
                    <a:pt x="338971" y="13970"/>
                  </a:cubicBezTo>
                  <a:cubicBezTo>
                    <a:pt x="371620" y="11430"/>
                    <a:pt x="406083" y="8890"/>
                    <a:pt x="438731" y="8890"/>
                  </a:cubicBezTo>
                  <a:cubicBezTo>
                    <a:pt x="475008" y="7620"/>
                    <a:pt x="511284" y="10160"/>
                    <a:pt x="547561" y="8890"/>
                  </a:cubicBezTo>
                  <a:cubicBezTo>
                    <a:pt x="592906" y="8890"/>
                    <a:pt x="1414566" y="6350"/>
                    <a:pt x="1459911" y="5080"/>
                  </a:cubicBezTo>
                  <a:cubicBezTo>
                    <a:pt x="1503443" y="3810"/>
                    <a:pt x="1546974" y="2540"/>
                    <a:pt x="1592320" y="2540"/>
                  </a:cubicBezTo>
                  <a:cubicBezTo>
                    <a:pt x="1666686" y="1270"/>
                    <a:pt x="1739239" y="0"/>
                    <a:pt x="1813606" y="0"/>
                  </a:cubicBezTo>
                  <a:cubicBezTo>
                    <a:pt x="1844441" y="0"/>
                    <a:pt x="1877089" y="2540"/>
                    <a:pt x="1907924" y="2540"/>
                  </a:cubicBezTo>
                  <a:cubicBezTo>
                    <a:pt x="1993174" y="3810"/>
                    <a:pt x="2080237" y="5080"/>
                    <a:pt x="2165486" y="7620"/>
                  </a:cubicBezTo>
                  <a:cubicBezTo>
                    <a:pt x="2210832" y="8890"/>
                    <a:pt x="2256177" y="12700"/>
                    <a:pt x="2301523" y="16510"/>
                  </a:cubicBezTo>
                  <a:lnTo>
                    <a:pt x="2331146" y="16510"/>
                  </a:lnTo>
                  <a:cubicBezTo>
                    <a:pt x="2342576" y="17780"/>
                    <a:pt x="2351466" y="20320"/>
                    <a:pt x="2361626" y="21590"/>
                  </a:cubicBezTo>
                  <a:close/>
                  <a:moveTo>
                    <a:pt x="2371786" y="1243205"/>
                  </a:moveTo>
                  <a:cubicBezTo>
                    <a:pt x="2373056" y="1226695"/>
                    <a:pt x="2374326" y="1213995"/>
                    <a:pt x="2374326" y="1201295"/>
                  </a:cubicBezTo>
                  <a:cubicBezTo>
                    <a:pt x="2373056" y="1148847"/>
                    <a:pt x="2371786" y="1100565"/>
                    <a:pt x="2371786" y="1048640"/>
                  </a:cubicBezTo>
                  <a:cubicBezTo>
                    <a:pt x="2371786" y="1024955"/>
                    <a:pt x="2374326" y="1001269"/>
                    <a:pt x="2373056" y="977584"/>
                  </a:cubicBezTo>
                  <a:cubicBezTo>
                    <a:pt x="2373056" y="955721"/>
                    <a:pt x="2371786" y="932947"/>
                    <a:pt x="2370516" y="911083"/>
                  </a:cubicBezTo>
                  <a:cubicBezTo>
                    <a:pt x="2365436" y="877377"/>
                    <a:pt x="2354006" y="179574"/>
                    <a:pt x="2354006" y="145868"/>
                  </a:cubicBezTo>
                  <a:cubicBezTo>
                    <a:pt x="2351466" y="117628"/>
                    <a:pt x="2348926" y="88477"/>
                    <a:pt x="2346386" y="60237"/>
                  </a:cubicBezTo>
                  <a:cubicBezTo>
                    <a:pt x="2345116" y="44450"/>
                    <a:pt x="2343846" y="43180"/>
                    <a:pt x="2326916" y="41910"/>
                  </a:cubicBezTo>
                  <a:cubicBezTo>
                    <a:pt x="2321475" y="41910"/>
                    <a:pt x="2317847" y="41910"/>
                    <a:pt x="2312406" y="40640"/>
                  </a:cubicBezTo>
                  <a:cubicBezTo>
                    <a:pt x="2267060" y="36830"/>
                    <a:pt x="2219901" y="31750"/>
                    <a:pt x="2174556" y="30480"/>
                  </a:cubicBezTo>
                  <a:cubicBezTo>
                    <a:pt x="2063912" y="26670"/>
                    <a:pt x="1951456" y="25400"/>
                    <a:pt x="1840813" y="22860"/>
                  </a:cubicBezTo>
                  <a:lnTo>
                    <a:pt x="1710218" y="22860"/>
                  </a:lnTo>
                  <a:cubicBezTo>
                    <a:pt x="1652176" y="22860"/>
                    <a:pt x="1594134" y="22860"/>
                    <a:pt x="1537905" y="24130"/>
                  </a:cubicBezTo>
                  <a:cubicBezTo>
                    <a:pt x="1488932" y="25400"/>
                    <a:pt x="663645" y="29210"/>
                    <a:pt x="614672" y="29210"/>
                  </a:cubicBezTo>
                  <a:cubicBezTo>
                    <a:pt x="534864" y="29210"/>
                    <a:pt x="455056" y="26670"/>
                    <a:pt x="375248" y="33020"/>
                  </a:cubicBezTo>
                  <a:cubicBezTo>
                    <a:pt x="333530" y="36830"/>
                    <a:pt x="293626" y="36830"/>
                    <a:pt x="253722" y="38100"/>
                  </a:cubicBezTo>
                  <a:cubicBezTo>
                    <a:pt x="184797" y="41910"/>
                    <a:pt x="115872" y="45720"/>
                    <a:pt x="46947" y="50800"/>
                  </a:cubicBezTo>
                  <a:cubicBezTo>
                    <a:pt x="33235" y="50800"/>
                    <a:pt x="30695" y="52949"/>
                    <a:pt x="29425" y="63881"/>
                  </a:cubicBezTo>
                  <a:cubicBezTo>
                    <a:pt x="28155" y="80278"/>
                    <a:pt x="28155" y="96676"/>
                    <a:pt x="26885" y="113073"/>
                  </a:cubicBezTo>
                  <a:cubicBezTo>
                    <a:pt x="25615" y="140402"/>
                    <a:pt x="23075" y="166821"/>
                    <a:pt x="21805" y="194150"/>
                  </a:cubicBezTo>
                  <a:cubicBezTo>
                    <a:pt x="16725" y="223301"/>
                    <a:pt x="23075" y="935680"/>
                    <a:pt x="25615" y="964831"/>
                  </a:cubicBezTo>
                  <a:cubicBezTo>
                    <a:pt x="25615" y="995804"/>
                    <a:pt x="25615" y="1027688"/>
                    <a:pt x="26885" y="1058660"/>
                  </a:cubicBezTo>
                  <a:cubicBezTo>
                    <a:pt x="26885" y="1081435"/>
                    <a:pt x="29425" y="1104209"/>
                    <a:pt x="29425" y="1126983"/>
                  </a:cubicBezTo>
                  <a:cubicBezTo>
                    <a:pt x="29425" y="1151580"/>
                    <a:pt x="29425" y="1176176"/>
                    <a:pt x="28155" y="1201295"/>
                  </a:cubicBezTo>
                  <a:lnTo>
                    <a:pt x="28155" y="1211455"/>
                  </a:lnTo>
                  <a:cubicBezTo>
                    <a:pt x="28155" y="1221615"/>
                    <a:pt x="31965" y="1225425"/>
                    <a:pt x="40855" y="1225425"/>
                  </a:cubicBezTo>
                  <a:cubicBezTo>
                    <a:pt x="63271" y="1225425"/>
                    <a:pt x="88665" y="1226695"/>
                    <a:pt x="112244" y="1226695"/>
                  </a:cubicBezTo>
                  <a:cubicBezTo>
                    <a:pt x="146707" y="1226695"/>
                    <a:pt x="182983" y="1224155"/>
                    <a:pt x="217446" y="1226695"/>
                  </a:cubicBezTo>
                  <a:cubicBezTo>
                    <a:pt x="273674" y="1230505"/>
                    <a:pt x="329902" y="1233045"/>
                    <a:pt x="386131" y="1231775"/>
                  </a:cubicBezTo>
                  <a:cubicBezTo>
                    <a:pt x="422407" y="1230505"/>
                    <a:pt x="456870" y="1233045"/>
                    <a:pt x="493146" y="1233045"/>
                  </a:cubicBezTo>
                  <a:cubicBezTo>
                    <a:pt x="545747" y="1233045"/>
                    <a:pt x="598347" y="1231775"/>
                    <a:pt x="650948" y="1233045"/>
                  </a:cubicBezTo>
                  <a:cubicBezTo>
                    <a:pt x="728942" y="1234315"/>
                    <a:pt x="1585065" y="1224155"/>
                    <a:pt x="1664872" y="1226695"/>
                  </a:cubicBezTo>
                  <a:cubicBezTo>
                    <a:pt x="1699335" y="1227965"/>
                    <a:pt x="1733798" y="1229235"/>
                    <a:pt x="1766446" y="1229235"/>
                  </a:cubicBezTo>
                  <a:cubicBezTo>
                    <a:pt x="1826302" y="1231775"/>
                    <a:pt x="1884345" y="1227965"/>
                    <a:pt x="1944201" y="1231775"/>
                  </a:cubicBezTo>
                  <a:cubicBezTo>
                    <a:pt x="1993174" y="1234315"/>
                    <a:pt x="2042147" y="1234315"/>
                    <a:pt x="2091120" y="1236855"/>
                  </a:cubicBezTo>
                  <a:cubicBezTo>
                    <a:pt x="2163672" y="1240665"/>
                    <a:pt x="2236225" y="1243205"/>
                    <a:pt x="2308778" y="1244475"/>
                  </a:cubicBezTo>
                  <a:cubicBezTo>
                    <a:pt x="2333686" y="1244475"/>
                    <a:pt x="2351466" y="1243205"/>
                    <a:pt x="2371786" y="1243205"/>
                  </a:cubicBezTo>
                  <a:close/>
                </a:path>
              </a:pathLst>
            </a:custGeom>
            <a:solidFill>
              <a:srgbClr val="2A2B39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827008" y="940410"/>
            <a:ext cx="4432292" cy="2350589"/>
            <a:chOff x="0" y="0"/>
            <a:chExt cx="2430408" cy="128892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40005" y="45156"/>
              <a:ext cx="2390404" cy="1243064"/>
            </a:xfrm>
            <a:custGeom>
              <a:avLst/>
              <a:gdLst/>
              <a:ahLst/>
              <a:cxnLst/>
              <a:rect r="r" b="b" t="t" l="l"/>
              <a:pathLst>
                <a:path h="1243064" w="2390404">
                  <a:moveTo>
                    <a:pt x="635" y="1213289"/>
                  </a:moveTo>
                  <a:cubicBezTo>
                    <a:pt x="-1905" y="1222179"/>
                    <a:pt x="3175" y="1228529"/>
                    <a:pt x="15791" y="1229799"/>
                  </a:cubicBezTo>
                  <a:cubicBezTo>
                    <a:pt x="30296" y="1231069"/>
                    <a:pt x="42988" y="1231069"/>
                    <a:pt x="57493" y="1231069"/>
                  </a:cubicBezTo>
                  <a:cubicBezTo>
                    <a:pt x="115514" y="1232339"/>
                    <a:pt x="173534" y="1232339"/>
                    <a:pt x="233368" y="1233609"/>
                  </a:cubicBezTo>
                  <a:cubicBezTo>
                    <a:pt x="266005" y="1234879"/>
                    <a:pt x="298641" y="1236149"/>
                    <a:pt x="329465" y="1237419"/>
                  </a:cubicBezTo>
                  <a:cubicBezTo>
                    <a:pt x="383859" y="1238689"/>
                    <a:pt x="436440" y="1238689"/>
                    <a:pt x="490834" y="1239959"/>
                  </a:cubicBezTo>
                  <a:cubicBezTo>
                    <a:pt x="512592" y="1239959"/>
                    <a:pt x="532536" y="1239959"/>
                    <a:pt x="554294" y="1238689"/>
                  </a:cubicBezTo>
                  <a:cubicBezTo>
                    <a:pt x="563360" y="1238689"/>
                    <a:pt x="574239" y="1237419"/>
                    <a:pt x="583304" y="1237419"/>
                  </a:cubicBezTo>
                  <a:cubicBezTo>
                    <a:pt x="619567" y="1238689"/>
                    <a:pt x="1344824" y="1229799"/>
                    <a:pt x="1381087" y="1231069"/>
                  </a:cubicBezTo>
                  <a:cubicBezTo>
                    <a:pt x="1431855" y="1232339"/>
                    <a:pt x="1571467" y="1232339"/>
                    <a:pt x="1622234" y="1232339"/>
                  </a:cubicBezTo>
                  <a:cubicBezTo>
                    <a:pt x="1642179" y="1232339"/>
                    <a:pt x="1660310" y="1231069"/>
                    <a:pt x="1680255" y="1231069"/>
                  </a:cubicBezTo>
                  <a:lnTo>
                    <a:pt x="1778165" y="1234879"/>
                  </a:lnTo>
                  <a:cubicBezTo>
                    <a:pt x="1848877" y="1237419"/>
                    <a:pt x="1917776" y="1234879"/>
                    <a:pt x="1988489" y="1238689"/>
                  </a:cubicBezTo>
                  <a:cubicBezTo>
                    <a:pt x="2106343" y="1243769"/>
                    <a:pt x="2226011" y="1237419"/>
                    <a:pt x="2326903" y="1242499"/>
                  </a:cubicBezTo>
                  <a:cubicBezTo>
                    <a:pt x="2347223" y="1243769"/>
                    <a:pt x="2367543" y="1242499"/>
                    <a:pt x="2390403" y="1242499"/>
                  </a:cubicBezTo>
                  <a:lnTo>
                    <a:pt x="2390403" y="1182809"/>
                  </a:lnTo>
                  <a:cubicBezTo>
                    <a:pt x="2389133" y="1128287"/>
                    <a:pt x="2387863" y="1084560"/>
                    <a:pt x="2387863" y="1038101"/>
                  </a:cubicBezTo>
                  <a:cubicBezTo>
                    <a:pt x="2387863" y="984353"/>
                    <a:pt x="2391673" y="929695"/>
                    <a:pt x="2385323" y="875948"/>
                  </a:cubicBezTo>
                  <a:cubicBezTo>
                    <a:pt x="2377703" y="840420"/>
                    <a:pt x="2366273" y="139884"/>
                    <a:pt x="2366273" y="104356"/>
                  </a:cubicBezTo>
                  <a:cubicBezTo>
                    <a:pt x="2363733" y="79760"/>
                    <a:pt x="2362463" y="54253"/>
                    <a:pt x="2359923" y="29657"/>
                  </a:cubicBezTo>
                  <a:cubicBezTo>
                    <a:pt x="2359923" y="22369"/>
                    <a:pt x="2358653" y="15081"/>
                    <a:pt x="2357383" y="5644"/>
                  </a:cubicBezTo>
                  <a:cubicBezTo>
                    <a:pt x="2347223" y="3104"/>
                    <a:pt x="2338333" y="1834"/>
                    <a:pt x="2328173" y="564"/>
                  </a:cubicBezTo>
                  <a:cubicBezTo>
                    <a:pt x="2320553" y="-706"/>
                    <a:pt x="2312933" y="564"/>
                    <a:pt x="2306583" y="564"/>
                  </a:cubicBezTo>
                  <a:lnTo>
                    <a:pt x="6725" y="5644"/>
                  </a:lnTo>
                  <a:lnTo>
                    <a:pt x="635" y="1213289"/>
                  </a:lnTo>
                  <a:close/>
                </a:path>
              </a:pathLst>
            </a:custGeom>
            <a:solidFill>
              <a:srgbClr val="C7D5FD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1430" y="16510"/>
              <a:ext cx="2369448" cy="1234315"/>
            </a:xfrm>
            <a:custGeom>
              <a:avLst/>
              <a:gdLst/>
              <a:ahLst/>
              <a:cxnLst/>
              <a:rect r="r" b="b" t="t" l="l"/>
              <a:pathLst>
                <a:path h="1234315" w="2369448">
                  <a:moveTo>
                    <a:pt x="2369448" y="1234315"/>
                  </a:moveTo>
                  <a:lnTo>
                    <a:pt x="0" y="1226695"/>
                  </a:lnTo>
                  <a:lnTo>
                    <a:pt x="0" y="439088"/>
                  </a:lnTo>
                  <a:lnTo>
                    <a:pt x="7620" y="20320"/>
                  </a:lnTo>
                  <a:lnTo>
                    <a:pt x="1183019" y="0"/>
                  </a:lnTo>
                  <a:lnTo>
                    <a:pt x="2347858" y="8890"/>
                  </a:lnTo>
                  <a:close/>
                </a:path>
              </a:pathLst>
            </a:custGeom>
            <a:solidFill>
              <a:srgbClr val="C7D5FD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-215" y="0"/>
              <a:ext cx="2393793" cy="1260279"/>
            </a:xfrm>
            <a:custGeom>
              <a:avLst/>
              <a:gdLst/>
              <a:ahLst/>
              <a:cxnLst/>
              <a:rect r="r" b="b" t="t" l="l"/>
              <a:pathLst>
                <a:path h="1260279" w="2393793">
                  <a:moveTo>
                    <a:pt x="2360773" y="21590"/>
                  </a:moveTo>
                  <a:cubicBezTo>
                    <a:pt x="2362043" y="34290"/>
                    <a:pt x="2362043" y="44450"/>
                    <a:pt x="2363313" y="53860"/>
                  </a:cubicBezTo>
                  <a:cubicBezTo>
                    <a:pt x="2365853" y="78456"/>
                    <a:pt x="2367123" y="103964"/>
                    <a:pt x="2369663" y="128560"/>
                  </a:cubicBezTo>
                  <a:cubicBezTo>
                    <a:pt x="2369663" y="164088"/>
                    <a:pt x="2382363" y="864624"/>
                    <a:pt x="2388713" y="900152"/>
                  </a:cubicBezTo>
                  <a:cubicBezTo>
                    <a:pt x="2395063" y="953899"/>
                    <a:pt x="2391253" y="1008557"/>
                    <a:pt x="2391253" y="1062304"/>
                  </a:cubicBezTo>
                  <a:cubicBezTo>
                    <a:pt x="2391253" y="1109675"/>
                    <a:pt x="2392523" y="1153401"/>
                    <a:pt x="2393793" y="1200025"/>
                  </a:cubicBezTo>
                  <a:lnTo>
                    <a:pt x="2393793" y="1259715"/>
                  </a:lnTo>
                  <a:cubicBezTo>
                    <a:pt x="2370933" y="1259715"/>
                    <a:pt x="2350613" y="1260985"/>
                    <a:pt x="2330293" y="1259715"/>
                  </a:cubicBezTo>
                  <a:cubicBezTo>
                    <a:pt x="2213649" y="1254635"/>
                    <a:pt x="2093982" y="1260985"/>
                    <a:pt x="1976128" y="1255905"/>
                  </a:cubicBezTo>
                  <a:cubicBezTo>
                    <a:pt x="1905415" y="1252095"/>
                    <a:pt x="1836516" y="1254635"/>
                    <a:pt x="1765804" y="1252095"/>
                  </a:cubicBezTo>
                  <a:lnTo>
                    <a:pt x="1667894" y="1248285"/>
                  </a:lnTo>
                  <a:cubicBezTo>
                    <a:pt x="1647949" y="1248285"/>
                    <a:pt x="1629818" y="1249555"/>
                    <a:pt x="1609873" y="1249555"/>
                  </a:cubicBezTo>
                  <a:cubicBezTo>
                    <a:pt x="1559105" y="1248285"/>
                    <a:pt x="1419493" y="1249555"/>
                    <a:pt x="1368726" y="1248285"/>
                  </a:cubicBezTo>
                  <a:cubicBezTo>
                    <a:pt x="1332463" y="1247015"/>
                    <a:pt x="607206" y="1255905"/>
                    <a:pt x="570943" y="1254635"/>
                  </a:cubicBezTo>
                  <a:cubicBezTo>
                    <a:pt x="561878" y="1254635"/>
                    <a:pt x="550999" y="1255905"/>
                    <a:pt x="541933" y="1255905"/>
                  </a:cubicBezTo>
                  <a:cubicBezTo>
                    <a:pt x="520175" y="1255905"/>
                    <a:pt x="500231" y="1257175"/>
                    <a:pt x="478473" y="1257175"/>
                  </a:cubicBezTo>
                  <a:cubicBezTo>
                    <a:pt x="424079" y="1257175"/>
                    <a:pt x="371498" y="1255905"/>
                    <a:pt x="317104" y="1254635"/>
                  </a:cubicBezTo>
                  <a:cubicBezTo>
                    <a:pt x="284467" y="1253365"/>
                    <a:pt x="251830" y="1252095"/>
                    <a:pt x="221007" y="1250825"/>
                  </a:cubicBezTo>
                  <a:cubicBezTo>
                    <a:pt x="162987" y="1249555"/>
                    <a:pt x="104966" y="1248285"/>
                    <a:pt x="45132" y="1248285"/>
                  </a:cubicBezTo>
                  <a:cubicBezTo>
                    <a:pt x="34505" y="1248285"/>
                    <a:pt x="25615" y="1248285"/>
                    <a:pt x="15455" y="1247015"/>
                  </a:cubicBezTo>
                  <a:cubicBezTo>
                    <a:pt x="6565" y="1245745"/>
                    <a:pt x="1485" y="1239395"/>
                    <a:pt x="4025" y="1230505"/>
                  </a:cubicBezTo>
                  <a:cubicBezTo>
                    <a:pt x="12915" y="1198950"/>
                    <a:pt x="9105" y="1176176"/>
                    <a:pt x="7835" y="1152490"/>
                  </a:cubicBezTo>
                  <a:cubicBezTo>
                    <a:pt x="6565" y="1104209"/>
                    <a:pt x="2755" y="1056838"/>
                    <a:pt x="4025" y="1008557"/>
                  </a:cubicBezTo>
                  <a:cubicBezTo>
                    <a:pt x="1485" y="948433"/>
                    <a:pt x="-3595" y="204170"/>
                    <a:pt x="4025" y="143135"/>
                  </a:cubicBezTo>
                  <a:cubicBezTo>
                    <a:pt x="5295" y="131293"/>
                    <a:pt x="4025" y="118539"/>
                    <a:pt x="5295" y="106697"/>
                  </a:cubicBezTo>
                  <a:cubicBezTo>
                    <a:pt x="6565" y="87566"/>
                    <a:pt x="9105" y="66614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9637" y="30480"/>
                    <a:pt x="88648" y="29210"/>
                  </a:cubicBezTo>
                  <a:cubicBezTo>
                    <a:pt x="137603" y="25400"/>
                    <a:pt x="186557" y="22860"/>
                    <a:pt x="237325" y="20320"/>
                  </a:cubicBezTo>
                  <a:cubicBezTo>
                    <a:pt x="271775" y="17780"/>
                    <a:pt x="306225" y="16510"/>
                    <a:pt x="338861" y="13970"/>
                  </a:cubicBezTo>
                  <a:cubicBezTo>
                    <a:pt x="371498" y="11430"/>
                    <a:pt x="405947" y="8890"/>
                    <a:pt x="438584" y="8890"/>
                  </a:cubicBezTo>
                  <a:cubicBezTo>
                    <a:pt x="474847" y="7620"/>
                    <a:pt x="511110" y="10160"/>
                    <a:pt x="547373" y="8890"/>
                  </a:cubicBezTo>
                  <a:cubicBezTo>
                    <a:pt x="592701" y="8890"/>
                    <a:pt x="1414054" y="6350"/>
                    <a:pt x="1459383" y="5080"/>
                  </a:cubicBezTo>
                  <a:cubicBezTo>
                    <a:pt x="1502898" y="3810"/>
                    <a:pt x="1546413" y="2540"/>
                    <a:pt x="1591742" y="2540"/>
                  </a:cubicBezTo>
                  <a:cubicBezTo>
                    <a:pt x="1666081" y="1270"/>
                    <a:pt x="1738606" y="0"/>
                    <a:pt x="1812945" y="0"/>
                  </a:cubicBezTo>
                  <a:cubicBezTo>
                    <a:pt x="1843769" y="0"/>
                    <a:pt x="1876405" y="2540"/>
                    <a:pt x="1907228" y="2540"/>
                  </a:cubicBezTo>
                  <a:cubicBezTo>
                    <a:pt x="1992446" y="3810"/>
                    <a:pt x="2079477" y="5080"/>
                    <a:pt x="2164695" y="7620"/>
                  </a:cubicBezTo>
                  <a:cubicBezTo>
                    <a:pt x="2210023" y="8890"/>
                    <a:pt x="2255352" y="12700"/>
                    <a:pt x="2300680" y="16510"/>
                  </a:cubicBezTo>
                  <a:lnTo>
                    <a:pt x="2330293" y="16510"/>
                  </a:lnTo>
                  <a:cubicBezTo>
                    <a:pt x="2341723" y="17780"/>
                    <a:pt x="2350613" y="20320"/>
                    <a:pt x="2360773" y="21590"/>
                  </a:cubicBezTo>
                  <a:close/>
                  <a:moveTo>
                    <a:pt x="2370933" y="1243205"/>
                  </a:moveTo>
                  <a:cubicBezTo>
                    <a:pt x="2372203" y="1226695"/>
                    <a:pt x="2373473" y="1213995"/>
                    <a:pt x="2373473" y="1201295"/>
                  </a:cubicBezTo>
                  <a:cubicBezTo>
                    <a:pt x="2372203" y="1148847"/>
                    <a:pt x="2370933" y="1100565"/>
                    <a:pt x="2370933" y="1048640"/>
                  </a:cubicBezTo>
                  <a:cubicBezTo>
                    <a:pt x="2370933" y="1024955"/>
                    <a:pt x="2373473" y="1001269"/>
                    <a:pt x="2372203" y="977584"/>
                  </a:cubicBezTo>
                  <a:cubicBezTo>
                    <a:pt x="2372203" y="955721"/>
                    <a:pt x="2370933" y="932947"/>
                    <a:pt x="2369663" y="911083"/>
                  </a:cubicBezTo>
                  <a:cubicBezTo>
                    <a:pt x="2364583" y="877377"/>
                    <a:pt x="2353153" y="179574"/>
                    <a:pt x="2353153" y="145868"/>
                  </a:cubicBezTo>
                  <a:cubicBezTo>
                    <a:pt x="2350613" y="117628"/>
                    <a:pt x="2348073" y="88477"/>
                    <a:pt x="2345533" y="60237"/>
                  </a:cubicBezTo>
                  <a:cubicBezTo>
                    <a:pt x="2344263" y="44450"/>
                    <a:pt x="2342993" y="43180"/>
                    <a:pt x="2326064" y="41910"/>
                  </a:cubicBezTo>
                  <a:cubicBezTo>
                    <a:pt x="2320625" y="41910"/>
                    <a:pt x="2316999" y="41910"/>
                    <a:pt x="2311559" y="40640"/>
                  </a:cubicBezTo>
                  <a:cubicBezTo>
                    <a:pt x="2266231" y="36830"/>
                    <a:pt x="2219089" y="31750"/>
                    <a:pt x="2173760" y="30480"/>
                  </a:cubicBezTo>
                  <a:cubicBezTo>
                    <a:pt x="2063159" y="26670"/>
                    <a:pt x="1950744" y="25400"/>
                    <a:pt x="1840142" y="22860"/>
                  </a:cubicBezTo>
                  <a:lnTo>
                    <a:pt x="1709596" y="22860"/>
                  </a:lnTo>
                  <a:cubicBezTo>
                    <a:pt x="1651576" y="22860"/>
                    <a:pt x="1593555" y="22860"/>
                    <a:pt x="1537348" y="24130"/>
                  </a:cubicBezTo>
                  <a:cubicBezTo>
                    <a:pt x="1488393" y="25400"/>
                    <a:pt x="663414" y="29210"/>
                    <a:pt x="614459" y="29210"/>
                  </a:cubicBezTo>
                  <a:cubicBezTo>
                    <a:pt x="534680" y="29210"/>
                    <a:pt x="454902" y="26670"/>
                    <a:pt x="375124" y="33020"/>
                  </a:cubicBezTo>
                  <a:cubicBezTo>
                    <a:pt x="333422" y="36830"/>
                    <a:pt x="293533" y="36830"/>
                    <a:pt x="253644" y="38100"/>
                  </a:cubicBezTo>
                  <a:cubicBezTo>
                    <a:pt x="184744" y="41910"/>
                    <a:pt x="115845" y="45720"/>
                    <a:pt x="46945" y="50800"/>
                  </a:cubicBezTo>
                  <a:cubicBezTo>
                    <a:pt x="33235" y="50800"/>
                    <a:pt x="30695" y="52949"/>
                    <a:pt x="29425" y="63881"/>
                  </a:cubicBezTo>
                  <a:cubicBezTo>
                    <a:pt x="28155" y="80278"/>
                    <a:pt x="28155" y="96676"/>
                    <a:pt x="26885" y="113073"/>
                  </a:cubicBezTo>
                  <a:cubicBezTo>
                    <a:pt x="25615" y="140402"/>
                    <a:pt x="23075" y="166821"/>
                    <a:pt x="21805" y="194150"/>
                  </a:cubicBezTo>
                  <a:cubicBezTo>
                    <a:pt x="16725" y="223301"/>
                    <a:pt x="23075" y="935680"/>
                    <a:pt x="25615" y="964831"/>
                  </a:cubicBezTo>
                  <a:cubicBezTo>
                    <a:pt x="25615" y="995804"/>
                    <a:pt x="25615" y="1027688"/>
                    <a:pt x="26885" y="1058660"/>
                  </a:cubicBezTo>
                  <a:cubicBezTo>
                    <a:pt x="26885" y="1081435"/>
                    <a:pt x="29425" y="1104209"/>
                    <a:pt x="29425" y="1126983"/>
                  </a:cubicBezTo>
                  <a:cubicBezTo>
                    <a:pt x="29425" y="1151580"/>
                    <a:pt x="29425" y="1176176"/>
                    <a:pt x="28155" y="1201295"/>
                  </a:cubicBezTo>
                  <a:lnTo>
                    <a:pt x="28155" y="1211455"/>
                  </a:lnTo>
                  <a:cubicBezTo>
                    <a:pt x="28155" y="1221615"/>
                    <a:pt x="31965" y="1225425"/>
                    <a:pt x="40855" y="1225425"/>
                  </a:cubicBezTo>
                  <a:cubicBezTo>
                    <a:pt x="63264" y="1225425"/>
                    <a:pt x="88648" y="1226695"/>
                    <a:pt x="112219" y="1226695"/>
                  </a:cubicBezTo>
                  <a:cubicBezTo>
                    <a:pt x="146668" y="1226695"/>
                    <a:pt x="182931" y="1224155"/>
                    <a:pt x="217381" y="1226695"/>
                  </a:cubicBezTo>
                  <a:cubicBezTo>
                    <a:pt x="273588" y="1230505"/>
                    <a:pt x="329796" y="1233045"/>
                    <a:pt x="386003" y="1231775"/>
                  </a:cubicBezTo>
                  <a:cubicBezTo>
                    <a:pt x="422266" y="1230505"/>
                    <a:pt x="456715" y="1233045"/>
                    <a:pt x="492978" y="1233045"/>
                  </a:cubicBezTo>
                  <a:cubicBezTo>
                    <a:pt x="545559" y="1233045"/>
                    <a:pt x="598140" y="1231775"/>
                    <a:pt x="650722" y="1233045"/>
                  </a:cubicBezTo>
                  <a:cubicBezTo>
                    <a:pt x="728687" y="1234315"/>
                    <a:pt x="1584489" y="1224155"/>
                    <a:pt x="1664268" y="1226695"/>
                  </a:cubicBezTo>
                  <a:cubicBezTo>
                    <a:pt x="1698717" y="1227965"/>
                    <a:pt x="1733167" y="1229235"/>
                    <a:pt x="1765804" y="1229235"/>
                  </a:cubicBezTo>
                  <a:cubicBezTo>
                    <a:pt x="1825637" y="1231775"/>
                    <a:pt x="1883658" y="1227965"/>
                    <a:pt x="1943492" y="1231775"/>
                  </a:cubicBezTo>
                  <a:cubicBezTo>
                    <a:pt x="1992446" y="1234315"/>
                    <a:pt x="2041401" y="1234315"/>
                    <a:pt x="2090356" y="1236855"/>
                  </a:cubicBezTo>
                  <a:cubicBezTo>
                    <a:pt x="2162882" y="1240665"/>
                    <a:pt x="2235407" y="1243205"/>
                    <a:pt x="2307933" y="1244475"/>
                  </a:cubicBezTo>
                  <a:cubicBezTo>
                    <a:pt x="2332833" y="1244475"/>
                    <a:pt x="2350613" y="1243205"/>
                    <a:pt x="2370933" y="1243205"/>
                  </a:cubicBezTo>
                  <a:close/>
                </a:path>
              </a:pathLst>
            </a:custGeom>
            <a:solidFill>
              <a:srgbClr val="282938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162381" y="3731334"/>
            <a:ext cx="4013849" cy="2370993"/>
            <a:chOff x="0" y="0"/>
            <a:chExt cx="2431261" cy="143615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40005" y="45156"/>
              <a:ext cx="2391256" cy="1390292"/>
            </a:xfrm>
            <a:custGeom>
              <a:avLst/>
              <a:gdLst/>
              <a:ahLst/>
              <a:cxnLst/>
              <a:rect r="r" b="b" t="t" l="l"/>
              <a:pathLst>
                <a:path h="1390292" w="2391256">
                  <a:moveTo>
                    <a:pt x="635" y="1360517"/>
                  </a:moveTo>
                  <a:cubicBezTo>
                    <a:pt x="-1905" y="1369407"/>
                    <a:pt x="3175" y="1375757"/>
                    <a:pt x="15796" y="1377027"/>
                  </a:cubicBezTo>
                  <a:cubicBezTo>
                    <a:pt x="30306" y="1378297"/>
                    <a:pt x="43003" y="1378297"/>
                    <a:pt x="57514" y="1378297"/>
                  </a:cubicBezTo>
                  <a:cubicBezTo>
                    <a:pt x="115556" y="1379567"/>
                    <a:pt x="173598" y="1379567"/>
                    <a:pt x="233454" y="1380837"/>
                  </a:cubicBezTo>
                  <a:cubicBezTo>
                    <a:pt x="266103" y="1382107"/>
                    <a:pt x="298751" y="1383377"/>
                    <a:pt x="329586" y="1384647"/>
                  </a:cubicBezTo>
                  <a:cubicBezTo>
                    <a:pt x="384001" y="1385917"/>
                    <a:pt x="436602" y="1385917"/>
                    <a:pt x="491016" y="1387187"/>
                  </a:cubicBezTo>
                  <a:cubicBezTo>
                    <a:pt x="512782" y="1387187"/>
                    <a:pt x="532734" y="1387187"/>
                    <a:pt x="554500" y="1385917"/>
                  </a:cubicBezTo>
                  <a:cubicBezTo>
                    <a:pt x="563569" y="1385917"/>
                    <a:pt x="574452" y="1384647"/>
                    <a:pt x="583521" y="1384647"/>
                  </a:cubicBezTo>
                  <a:cubicBezTo>
                    <a:pt x="619797" y="1385917"/>
                    <a:pt x="1345325" y="1377027"/>
                    <a:pt x="1381601" y="1378297"/>
                  </a:cubicBezTo>
                  <a:cubicBezTo>
                    <a:pt x="1432388" y="1379567"/>
                    <a:pt x="1572052" y="1379567"/>
                    <a:pt x="1622839" y="1379567"/>
                  </a:cubicBezTo>
                  <a:cubicBezTo>
                    <a:pt x="1642791" y="1379567"/>
                    <a:pt x="1660929" y="1378297"/>
                    <a:pt x="1680881" y="1378297"/>
                  </a:cubicBezTo>
                  <a:lnTo>
                    <a:pt x="1778827" y="1382107"/>
                  </a:lnTo>
                  <a:cubicBezTo>
                    <a:pt x="1849566" y="1384647"/>
                    <a:pt x="1918491" y="1382107"/>
                    <a:pt x="1989230" y="1385917"/>
                  </a:cubicBezTo>
                  <a:cubicBezTo>
                    <a:pt x="2107128" y="1390997"/>
                    <a:pt x="2226840" y="1384647"/>
                    <a:pt x="2327756" y="1389727"/>
                  </a:cubicBezTo>
                  <a:cubicBezTo>
                    <a:pt x="2348076" y="1390997"/>
                    <a:pt x="2368396" y="1389727"/>
                    <a:pt x="2391256" y="1389727"/>
                  </a:cubicBezTo>
                  <a:lnTo>
                    <a:pt x="2391256" y="1330037"/>
                  </a:lnTo>
                  <a:cubicBezTo>
                    <a:pt x="2389986" y="1272179"/>
                    <a:pt x="2388716" y="1222842"/>
                    <a:pt x="2388716" y="1170422"/>
                  </a:cubicBezTo>
                  <a:cubicBezTo>
                    <a:pt x="2388716" y="1109778"/>
                    <a:pt x="2392526" y="1048107"/>
                    <a:pt x="2386176" y="987464"/>
                  </a:cubicBezTo>
                  <a:cubicBezTo>
                    <a:pt x="2378556" y="947378"/>
                    <a:pt x="2367126" y="156959"/>
                    <a:pt x="2367126" y="116873"/>
                  </a:cubicBezTo>
                  <a:cubicBezTo>
                    <a:pt x="2364586" y="89121"/>
                    <a:pt x="2363316" y="60341"/>
                    <a:pt x="2360776" y="32589"/>
                  </a:cubicBezTo>
                  <a:cubicBezTo>
                    <a:pt x="2360776" y="24366"/>
                    <a:pt x="2359506" y="16143"/>
                    <a:pt x="2358236" y="5644"/>
                  </a:cubicBezTo>
                  <a:cubicBezTo>
                    <a:pt x="2348076" y="3104"/>
                    <a:pt x="2339186" y="1834"/>
                    <a:pt x="2329026" y="564"/>
                  </a:cubicBezTo>
                  <a:cubicBezTo>
                    <a:pt x="2321406" y="-706"/>
                    <a:pt x="2313786" y="564"/>
                    <a:pt x="2307436" y="564"/>
                  </a:cubicBezTo>
                  <a:lnTo>
                    <a:pt x="6727" y="5644"/>
                  </a:lnTo>
                  <a:lnTo>
                    <a:pt x="635" y="1360517"/>
                  </a:lnTo>
                  <a:close/>
                </a:path>
              </a:pathLst>
            </a:custGeom>
            <a:solidFill>
              <a:srgbClr val="FED9F0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1430" y="16510"/>
              <a:ext cx="2370301" cy="1381544"/>
            </a:xfrm>
            <a:custGeom>
              <a:avLst/>
              <a:gdLst/>
              <a:ahLst/>
              <a:cxnLst/>
              <a:rect r="r" b="b" t="t" l="l"/>
              <a:pathLst>
                <a:path h="1381544" w="2370301">
                  <a:moveTo>
                    <a:pt x="2370301" y="1381544"/>
                  </a:moveTo>
                  <a:lnTo>
                    <a:pt x="0" y="1373923"/>
                  </a:lnTo>
                  <a:lnTo>
                    <a:pt x="0" y="490877"/>
                  </a:lnTo>
                  <a:lnTo>
                    <a:pt x="7620" y="20320"/>
                  </a:lnTo>
                  <a:lnTo>
                    <a:pt x="1183449" y="0"/>
                  </a:lnTo>
                  <a:lnTo>
                    <a:pt x="2348711" y="8890"/>
                  </a:lnTo>
                  <a:close/>
                </a:path>
              </a:pathLst>
            </a:custGeom>
            <a:solidFill>
              <a:srgbClr val="FED9F0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-215" y="0"/>
              <a:ext cx="2394645" cy="1407508"/>
            </a:xfrm>
            <a:custGeom>
              <a:avLst/>
              <a:gdLst/>
              <a:ahLst/>
              <a:cxnLst/>
              <a:rect r="r" b="b" t="t" l="l"/>
              <a:pathLst>
                <a:path h="1407508" w="2394645">
                  <a:moveTo>
                    <a:pt x="2361626" y="21590"/>
                  </a:moveTo>
                  <a:cubicBezTo>
                    <a:pt x="2362896" y="34290"/>
                    <a:pt x="2362896" y="44450"/>
                    <a:pt x="2364166" y="54104"/>
                  </a:cubicBezTo>
                  <a:cubicBezTo>
                    <a:pt x="2366706" y="81856"/>
                    <a:pt x="2367976" y="110636"/>
                    <a:pt x="2370516" y="138388"/>
                  </a:cubicBezTo>
                  <a:cubicBezTo>
                    <a:pt x="2370516" y="178475"/>
                    <a:pt x="2383216" y="968893"/>
                    <a:pt x="2389566" y="1008979"/>
                  </a:cubicBezTo>
                  <a:cubicBezTo>
                    <a:pt x="2395916" y="1069623"/>
                    <a:pt x="2392106" y="1131294"/>
                    <a:pt x="2392106" y="1191937"/>
                  </a:cubicBezTo>
                  <a:cubicBezTo>
                    <a:pt x="2392106" y="1245386"/>
                    <a:pt x="2393376" y="1294722"/>
                    <a:pt x="2394646" y="1347253"/>
                  </a:cubicBezTo>
                  <a:lnTo>
                    <a:pt x="2394646" y="1406943"/>
                  </a:lnTo>
                  <a:cubicBezTo>
                    <a:pt x="2371786" y="1406943"/>
                    <a:pt x="2351466" y="1408213"/>
                    <a:pt x="2331146" y="1406943"/>
                  </a:cubicBezTo>
                  <a:cubicBezTo>
                    <a:pt x="2214459" y="1401863"/>
                    <a:pt x="2094747" y="1408213"/>
                    <a:pt x="1976849" y="1403133"/>
                  </a:cubicBezTo>
                  <a:cubicBezTo>
                    <a:pt x="1906110" y="1399323"/>
                    <a:pt x="1837185" y="1401863"/>
                    <a:pt x="1766446" y="1399323"/>
                  </a:cubicBezTo>
                  <a:lnTo>
                    <a:pt x="1668500" y="1395513"/>
                  </a:lnTo>
                  <a:cubicBezTo>
                    <a:pt x="1648548" y="1395513"/>
                    <a:pt x="1630410" y="1396783"/>
                    <a:pt x="1610458" y="1396783"/>
                  </a:cubicBezTo>
                  <a:cubicBezTo>
                    <a:pt x="1559671" y="1395513"/>
                    <a:pt x="1420007" y="1396783"/>
                    <a:pt x="1369220" y="1395513"/>
                  </a:cubicBezTo>
                  <a:cubicBezTo>
                    <a:pt x="1332944" y="1394243"/>
                    <a:pt x="607417" y="1403133"/>
                    <a:pt x="571140" y="1401863"/>
                  </a:cubicBezTo>
                  <a:cubicBezTo>
                    <a:pt x="562071" y="1401863"/>
                    <a:pt x="551188" y="1403133"/>
                    <a:pt x="542119" y="1403133"/>
                  </a:cubicBezTo>
                  <a:cubicBezTo>
                    <a:pt x="520353" y="1403133"/>
                    <a:pt x="500401" y="1404403"/>
                    <a:pt x="478635" y="1404403"/>
                  </a:cubicBezTo>
                  <a:cubicBezTo>
                    <a:pt x="424221" y="1404403"/>
                    <a:pt x="371620" y="1403133"/>
                    <a:pt x="317206" y="1401863"/>
                  </a:cubicBezTo>
                  <a:cubicBezTo>
                    <a:pt x="284557" y="1400593"/>
                    <a:pt x="251908" y="1399323"/>
                    <a:pt x="221073" y="1398053"/>
                  </a:cubicBezTo>
                  <a:cubicBezTo>
                    <a:pt x="163031" y="1396783"/>
                    <a:pt x="104989" y="1395513"/>
                    <a:pt x="45133" y="1395513"/>
                  </a:cubicBezTo>
                  <a:cubicBezTo>
                    <a:pt x="34505" y="1395513"/>
                    <a:pt x="25615" y="1395513"/>
                    <a:pt x="15455" y="1394243"/>
                  </a:cubicBezTo>
                  <a:cubicBezTo>
                    <a:pt x="6565" y="1392973"/>
                    <a:pt x="1485" y="1386623"/>
                    <a:pt x="4025" y="1377733"/>
                  </a:cubicBezTo>
                  <a:cubicBezTo>
                    <a:pt x="12915" y="1346115"/>
                    <a:pt x="9105" y="1320419"/>
                    <a:pt x="7835" y="1293694"/>
                  </a:cubicBezTo>
                  <a:cubicBezTo>
                    <a:pt x="6565" y="1239218"/>
                    <a:pt x="2755" y="1185770"/>
                    <a:pt x="4025" y="1131294"/>
                  </a:cubicBezTo>
                  <a:cubicBezTo>
                    <a:pt x="1485" y="1063456"/>
                    <a:pt x="-3595" y="223700"/>
                    <a:pt x="4025" y="154834"/>
                  </a:cubicBezTo>
                  <a:cubicBezTo>
                    <a:pt x="5295" y="141472"/>
                    <a:pt x="4025" y="127082"/>
                    <a:pt x="5295" y="113720"/>
                  </a:cubicBezTo>
                  <a:cubicBezTo>
                    <a:pt x="6565" y="92135"/>
                    <a:pt x="9105" y="68494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9643" y="30480"/>
                    <a:pt x="88665" y="29210"/>
                  </a:cubicBezTo>
                  <a:cubicBezTo>
                    <a:pt x="137638" y="25400"/>
                    <a:pt x="186611" y="22860"/>
                    <a:pt x="237398" y="20320"/>
                  </a:cubicBezTo>
                  <a:cubicBezTo>
                    <a:pt x="271860" y="17780"/>
                    <a:pt x="306323" y="16510"/>
                    <a:pt x="338971" y="13970"/>
                  </a:cubicBezTo>
                  <a:cubicBezTo>
                    <a:pt x="371620" y="11430"/>
                    <a:pt x="406083" y="8890"/>
                    <a:pt x="438731" y="8890"/>
                  </a:cubicBezTo>
                  <a:cubicBezTo>
                    <a:pt x="475008" y="7620"/>
                    <a:pt x="511284" y="10160"/>
                    <a:pt x="547561" y="8890"/>
                  </a:cubicBezTo>
                  <a:cubicBezTo>
                    <a:pt x="592906" y="8890"/>
                    <a:pt x="1414566" y="6350"/>
                    <a:pt x="1459911" y="5080"/>
                  </a:cubicBezTo>
                  <a:cubicBezTo>
                    <a:pt x="1503443" y="3810"/>
                    <a:pt x="1546974" y="2540"/>
                    <a:pt x="1592320" y="2540"/>
                  </a:cubicBezTo>
                  <a:cubicBezTo>
                    <a:pt x="1666686" y="1270"/>
                    <a:pt x="1739239" y="0"/>
                    <a:pt x="1813606" y="0"/>
                  </a:cubicBezTo>
                  <a:cubicBezTo>
                    <a:pt x="1844441" y="0"/>
                    <a:pt x="1877089" y="2540"/>
                    <a:pt x="1907924" y="2540"/>
                  </a:cubicBezTo>
                  <a:cubicBezTo>
                    <a:pt x="1993174" y="3810"/>
                    <a:pt x="2080237" y="5080"/>
                    <a:pt x="2165486" y="7620"/>
                  </a:cubicBezTo>
                  <a:cubicBezTo>
                    <a:pt x="2210832" y="8890"/>
                    <a:pt x="2256177" y="12700"/>
                    <a:pt x="2301523" y="16510"/>
                  </a:cubicBezTo>
                  <a:lnTo>
                    <a:pt x="2331146" y="16510"/>
                  </a:lnTo>
                  <a:cubicBezTo>
                    <a:pt x="2342576" y="17780"/>
                    <a:pt x="2351466" y="20320"/>
                    <a:pt x="2361626" y="21590"/>
                  </a:cubicBezTo>
                  <a:close/>
                  <a:moveTo>
                    <a:pt x="2371786" y="1390433"/>
                  </a:moveTo>
                  <a:cubicBezTo>
                    <a:pt x="2373056" y="1373923"/>
                    <a:pt x="2374326" y="1361223"/>
                    <a:pt x="2374326" y="1348523"/>
                  </a:cubicBezTo>
                  <a:cubicBezTo>
                    <a:pt x="2373056" y="1289583"/>
                    <a:pt x="2371786" y="1235107"/>
                    <a:pt x="2371786" y="1176519"/>
                  </a:cubicBezTo>
                  <a:cubicBezTo>
                    <a:pt x="2371786" y="1149795"/>
                    <a:pt x="2374326" y="1123071"/>
                    <a:pt x="2373056" y="1096347"/>
                  </a:cubicBezTo>
                  <a:cubicBezTo>
                    <a:pt x="2373056" y="1071678"/>
                    <a:pt x="2371786" y="1045982"/>
                    <a:pt x="2370516" y="1021314"/>
                  </a:cubicBezTo>
                  <a:cubicBezTo>
                    <a:pt x="2365436" y="983283"/>
                    <a:pt x="2354006" y="195948"/>
                    <a:pt x="2354006" y="157917"/>
                  </a:cubicBezTo>
                  <a:cubicBezTo>
                    <a:pt x="2351466" y="126054"/>
                    <a:pt x="2348926" y="93163"/>
                    <a:pt x="2346386" y="61299"/>
                  </a:cubicBezTo>
                  <a:cubicBezTo>
                    <a:pt x="2345116" y="44450"/>
                    <a:pt x="2343846" y="43180"/>
                    <a:pt x="2326916" y="41910"/>
                  </a:cubicBezTo>
                  <a:cubicBezTo>
                    <a:pt x="2321475" y="41910"/>
                    <a:pt x="2317847" y="41910"/>
                    <a:pt x="2312406" y="40640"/>
                  </a:cubicBezTo>
                  <a:cubicBezTo>
                    <a:pt x="2267060" y="36830"/>
                    <a:pt x="2219901" y="31750"/>
                    <a:pt x="2174556" y="30480"/>
                  </a:cubicBezTo>
                  <a:cubicBezTo>
                    <a:pt x="2063912" y="26670"/>
                    <a:pt x="1951456" y="25400"/>
                    <a:pt x="1840813" y="22860"/>
                  </a:cubicBezTo>
                  <a:lnTo>
                    <a:pt x="1710218" y="22860"/>
                  </a:lnTo>
                  <a:cubicBezTo>
                    <a:pt x="1652176" y="22860"/>
                    <a:pt x="1594134" y="22860"/>
                    <a:pt x="1537905" y="24130"/>
                  </a:cubicBezTo>
                  <a:cubicBezTo>
                    <a:pt x="1488932" y="25400"/>
                    <a:pt x="663645" y="29210"/>
                    <a:pt x="614672" y="29210"/>
                  </a:cubicBezTo>
                  <a:cubicBezTo>
                    <a:pt x="534864" y="29210"/>
                    <a:pt x="455056" y="26670"/>
                    <a:pt x="375248" y="33020"/>
                  </a:cubicBezTo>
                  <a:cubicBezTo>
                    <a:pt x="333530" y="36830"/>
                    <a:pt x="293626" y="36830"/>
                    <a:pt x="253722" y="38100"/>
                  </a:cubicBezTo>
                  <a:cubicBezTo>
                    <a:pt x="184797" y="41910"/>
                    <a:pt x="115872" y="45720"/>
                    <a:pt x="46947" y="50800"/>
                  </a:cubicBezTo>
                  <a:cubicBezTo>
                    <a:pt x="33235" y="50800"/>
                    <a:pt x="30695" y="53077"/>
                    <a:pt x="29425" y="65411"/>
                  </a:cubicBezTo>
                  <a:cubicBezTo>
                    <a:pt x="28155" y="83912"/>
                    <a:pt x="28155" y="102413"/>
                    <a:pt x="26885" y="120915"/>
                  </a:cubicBezTo>
                  <a:cubicBezTo>
                    <a:pt x="25615" y="151750"/>
                    <a:pt x="23075" y="181558"/>
                    <a:pt x="21805" y="212394"/>
                  </a:cubicBezTo>
                  <a:cubicBezTo>
                    <a:pt x="16725" y="245285"/>
                    <a:pt x="23075" y="1049066"/>
                    <a:pt x="25615" y="1081957"/>
                  </a:cubicBezTo>
                  <a:cubicBezTo>
                    <a:pt x="25615" y="1116904"/>
                    <a:pt x="25615" y="1152879"/>
                    <a:pt x="26885" y="1187826"/>
                  </a:cubicBezTo>
                  <a:cubicBezTo>
                    <a:pt x="26885" y="1213522"/>
                    <a:pt x="29425" y="1239218"/>
                    <a:pt x="29425" y="1264915"/>
                  </a:cubicBezTo>
                  <a:cubicBezTo>
                    <a:pt x="29425" y="1292667"/>
                    <a:pt x="29425" y="1320419"/>
                    <a:pt x="28155" y="1348523"/>
                  </a:cubicBezTo>
                  <a:lnTo>
                    <a:pt x="28155" y="1358683"/>
                  </a:lnTo>
                  <a:cubicBezTo>
                    <a:pt x="28155" y="1368843"/>
                    <a:pt x="31965" y="1372654"/>
                    <a:pt x="40855" y="1372654"/>
                  </a:cubicBezTo>
                  <a:cubicBezTo>
                    <a:pt x="63271" y="1372654"/>
                    <a:pt x="88665" y="1373923"/>
                    <a:pt x="112244" y="1373923"/>
                  </a:cubicBezTo>
                  <a:cubicBezTo>
                    <a:pt x="146707" y="1373923"/>
                    <a:pt x="182983" y="1371383"/>
                    <a:pt x="217446" y="1373923"/>
                  </a:cubicBezTo>
                  <a:cubicBezTo>
                    <a:pt x="273674" y="1377733"/>
                    <a:pt x="329902" y="1380273"/>
                    <a:pt x="386131" y="1379004"/>
                  </a:cubicBezTo>
                  <a:cubicBezTo>
                    <a:pt x="422407" y="1377733"/>
                    <a:pt x="456870" y="1380273"/>
                    <a:pt x="493146" y="1380273"/>
                  </a:cubicBezTo>
                  <a:cubicBezTo>
                    <a:pt x="545747" y="1380273"/>
                    <a:pt x="598347" y="1379004"/>
                    <a:pt x="650948" y="1380273"/>
                  </a:cubicBezTo>
                  <a:cubicBezTo>
                    <a:pt x="728942" y="1381543"/>
                    <a:pt x="1585065" y="1371383"/>
                    <a:pt x="1664872" y="1373923"/>
                  </a:cubicBezTo>
                  <a:cubicBezTo>
                    <a:pt x="1699335" y="1375193"/>
                    <a:pt x="1733798" y="1376464"/>
                    <a:pt x="1766446" y="1376464"/>
                  </a:cubicBezTo>
                  <a:cubicBezTo>
                    <a:pt x="1826302" y="1379004"/>
                    <a:pt x="1884345" y="1375193"/>
                    <a:pt x="1944201" y="1379004"/>
                  </a:cubicBezTo>
                  <a:cubicBezTo>
                    <a:pt x="1993174" y="1381543"/>
                    <a:pt x="2042147" y="1381543"/>
                    <a:pt x="2091120" y="1384083"/>
                  </a:cubicBezTo>
                  <a:cubicBezTo>
                    <a:pt x="2163672" y="1387893"/>
                    <a:pt x="2236225" y="1390433"/>
                    <a:pt x="2308778" y="1391704"/>
                  </a:cubicBezTo>
                  <a:cubicBezTo>
                    <a:pt x="2333686" y="1391704"/>
                    <a:pt x="2351466" y="1390433"/>
                    <a:pt x="2371786" y="1390433"/>
                  </a:cubicBezTo>
                  <a:close/>
                </a:path>
              </a:pathLst>
            </a:custGeom>
            <a:solidFill>
              <a:srgbClr val="282938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223942" y="572194"/>
            <a:ext cx="3709753" cy="913012"/>
            <a:chOff x="0" y="0"/>
            <a:chExt cx="2133426" cy="5250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39997" y="45156"/>
              <a:ext cx="2093429" cy="479199"/>
            </a:xfrm>
            <a:custGeom>
              <a:avLst/>
              <a:gdLst/>
              <a:ahLst/>
              <a:cxnLst/>
              <a:rect r="r" b="b" t="t" l="l"/>
              <a:pathLst>
                <a:path h="479199" w="2093429">
                  <a:moveTo>
                    <a:pt x="643" y="449424"/>
                  </a:moveTo>
                  <a:cubicBezTo>
                    <a:pt x="-1897" y="458314"/>
                    <a:pt x="3183" y="464664"/>
                    <a:pt x="14182" y="465934"/>
                  </a:cubicBezTo>
                  <a:cubicBezTo>
                    <a:pt x="26801" y="467204"/>
                    <a:pt x="37842" y="467204"/>
                    <a:pt x="50461" y="467204"/>
                  </a:cubicBezTo>
                  <a:cubicBezTo>
                    <a:pt x="100937" y="468474"/>
                    <a:pt x="151413" y="468474"/>
                    <a:pt x="203466" y="469744"/>
                  </a:cubicBezTo>
                  <a:cubicBezTo>
                    <a:pt x="231859" y="471014"/>
                    <a:pt x="260252" y="472284"/>
                    <a:pt x="287067" y="473554"/>
                  </a:cubicBezTo>
                  <a:cubicBezTo>
                    <a:pt x="334388" y="474824"/>
                    <a:pt x="380132" y="474824"/>
                    <a:pt x="427453" y="476094"/>
                  </a:cubicBezTo>
                  <a:cubicBezTo>
                    <a:pt x="446382" y="476094"/>
                    <a:pt x="463733" y="476094"/>
                    <a:pt x="482661" y="474824"/>
                  </a:cubicBezTo>
                  <a:cubicBezTo>
                    <a:pt x="490548" y="474824"/>
                    <a:pt x="500012" y="473554"/>
                    <a:pt x="507899" y="473554"/>
                  </a:cubicBezTo>
                  <a:cubicBezTo>
                    <a:pt x="539447" y="474824"/>
                    <a:pt x="1170396" y="465934"/>
                    <a:pt x="1201943" y="467204"/>
                  </a:cubicBezTo>
                  <a:cubicBezTo>
                    <a:pt x="1246110" y="468474"/>
                    <a:pt x="1367567" y="468474"/>
                    <a:pt x="1411734" y="468474"/>
                  </a:cubicBezTo>
                  <a:cubicBezTo>
                    <a:pt x="1429085" y="468474"/>
                    <a:pt x="1444859" y="467204"/>
                    <a:pt x="1462210" y="467204"/>
                  </a:cubicBezTo>
                  <a:lnTo>
                    <a:pt x="1547388" y="471014"/>
                  </a:lnTo>
                  <a:cubicBezTo>
                    <a:pt x="1608905" y="473554"/>
                    <a:pt x="1668845" y="471014"/>
                    <a:pt x="1730363" y="474824"/>
                  </a:cubicBezTo>
                  <a:cubicBezTo>
                    <a:pt x="1832892" y="479904"/>
                    <a:pt x="1936999" y="473554"/>
                    <a:pt x="2029929" y="478634"/>
                  </a:cubicBezTo>
                  <a:cubicBezTo>
                    <a:pt x="2050249" y="479904"/>
                    <a:pt x="2070569" y="478634"/>
                    <a:pt x="2093429" y="478634"/>
                  </a:cubicBezTo>
                  <a:lnTo>
                    <a:pt x="2093429" y="418944"/>
                  </a:lnTo>
                  <a:cubicBezTo>
                    <a:pt x="2092159" y="381732"/>
                    <a:pt x="2090889" y="367113"/>
                    <a:pt x="2090889" y="351581"/>
                  </a:cubicBezTo>
                  <a:cubicBezTo>
                    <a:pt x="2090889" y="333612"/>
                    <a:pt x="2094699" y="315339"/>
                    <a:pt x="2088349" y="297371"/>
                  </a:cubicBezTo>
                  <a:cubicBezTo>
                    <a:pt x="2080729" y="285493"/>
                    <a:pt x="2069299" y="51293"/>
                    <a:pt x="2069299" y="39416"/>
                  </a:cubicBezTo>
                  <a:cubicBezTo>
                    <a:pt x="2066759" y="31193"/>
                    <a:pt x="2065489" y="22666"/>
                    <a:pt x="2062949" y="14443"/>
                  </a:cubicBezTo>
                  <a:cubicBezTo>
                    <a:pt x="2062949" y="12006"/>
                    <a:pt x="2061679" y="9570"/>
                    <a:pt x="2060409" y="5644"/>
                  </a:cubicBezTo>
                  <a:cubicBezTo>
                    <a:pt x="2050249" y="3104"/>
                    <a:pt x="2041359" y="1834"/>
                    <a:pt x="2031199" y="564"/>
                  </a:cubicBezTo>
                  <a:cubicBezTo>
                    <a:pt x="2023579" y="-706"/>
                    <a:pt x="2015959" y="564"/>
                    <a:pt x="2009609" y="564"/>
                  </a:cubicBezTo>
                  <a:lnTo>
                    <a:pt x="6295" y="5644"/>
                  </a:lnTo>
                  <a:lnTo>
                    <a:pt x="643" y="449424"/>
                  </a:lnTo>
                  <a:close/>
                </a:path>
              </a:pathLst>
            </a:custGeom>
            <a:solidFill>
              <a:srgbClr val="AE88F3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11430" y="16510"/>
              <a:ext cx="2072466" cy="470450"/>
            </a:xfrm>
            <a:custGeom>
              <a:avLst/>
              <a:gdLst/>
              <a:ahLst/>
              <a:cxnLst/>
              <a:rect r="r" b="b" t="t" l="l"/>
              <a:pathLst>
                <a:path h="470450" w="2072466">
                  <a:moveTo>
                    <a:pt x="2072466" y="470450"/>
                  </a:moveTo>
                  <a:lnTo>
                    <a:pt x="0" y="462830"/>
                  </a:lnTo>
                  <a:lnTo>
                    <a:pt x="0" y="170391"/>
                  </a:lnTo>
                  <a:lnTo>
                    <a:pt x="7620" y="20320"/>
                  </a:lnTo>
                  <a:lnTo>
                    <a:pt x="1033339" y="0"/>
                  </a:lnTo>
                  <a:lnTo>
                    <a:pt x="2050876" y="8890"/>
                  </a:ln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-215" y="0"/>
              <a:ext cx="2096811" cy="496415"/>
            </a:xfrm>
            <a:custGeom>
              <a:avLst/>
              <a:gdLst/>
              <a:ahLst/>
              <a:cxnLst/>
              <a:rect r="r" b="b" t="t" l="l"/>
              <a:pathLst>
                <a:path h="496415" w="2096811">
                  <a:moveTo>
                    <a:pt x="2063791" y="21590"/>
                  </a:moveTo>
                  <a:cubicBezTo>
                    <a:pt x="2065061" y="34290"/>
                    <a:pt x="2065061" y="44450"/>
                    <a:pt x="2066331" y="52594"/>
                  </a:cubicBezTo>
                  <a:cubicBezTo>
                    <a:pt x="2068871" y="60817"/>
                    <a:pt x="2070141" y="69344"/>
                    <a:pt x="2072681" y="77567"/>
                  </a:cubicBezTo>
                  <a:cubicBezTo>
                    <a:pt x="2072681" y="89445"/>
                    <a:pt x="2085381" y="323645"/>
                    <a:pt x="2091731" y="335522"/>
                  </a:cubicBezTo>
                  <a:cubicBezTo>
                    <a:pt x="2098081" y="353491"/>
                    <a:pt x="2094271" y="371764"/>
                    <a:pt x="2094271" y="389732"/>
                  </a:cubicBezTo>
                  <a:cubicBezTo>
                    <a:pt x="2094271" y="405569"/>
                    <a:pt x="2095541" y="420187"/>
                    <a:pt x="2096811" y="436160"/>
                  </a:cubicBezTo>
                  <a:lnTo>
                    <a:pt x="2096811" y="495850"/>
                  </a:lnTo>
                  <a:cubicBezTo>
                    <a:pt x="2073951" y="495850"/>
                    <a:pt x="2053631" y="497120"/>
                    <a:pt x="2033311" y="495850"/>
                  </a:cubicBezTo>
                  <a:cubicBezTo>
                    <a:pt x="1931467" y="490770"/>
                    <a:pt x="1827360" y="497120"/>
                    <a:pt x="1724831" y="492040"/>
                  </a:cubicBezTo>
                  <a:cubicBezTo>
                    <a:pt x="1663314" y="488230"/>
                    <a:pt x="1603374" y="490770"/>
                    <a:pt x="1541856" y="488230"/>
                  </a:cubicBezTo>
                  <a:lnTo>
                    <a:pt x="1456678" y="484420"/>
                  </a:lnTo>
                  <a:cubicBezTo>
                    <a:pt x="1439327" y="484420"/>
                    <a:pt x="1423553" y="485690"/>
                    <a:pt x="1406202" y="485690"/>
                  </a:cubicBezTo>
                  <a:cubicBezTo>
                    <a:pt x="1362035" y="484420"/>
                    <a:pt x="1240578" y="485690"/>
                    <a:pt x="1196411" y="484420"/>
                  </a:cubicBezTo>
                  <a:cubicBezTo>
                    <a:pt x="1164864" y="483150"/>
                    <a:pt x="533915" y="492040"/>
                    <a:pt x="502367" y="490770"/>
                  </a:cubicBezTo>
                  <a:cubicBezTo>
                    <a:pt x="494481" y="490770"/>
                    <a:pt x="485016" y="492040"/>
                    <a:pt x="477130" y="492040"/>
                  </a:cubicBezTo>
                  <a:cubicBezTo>
                    <a:pt x="458201" y="492040"/>
                    <a:pt x="440850" y="493310"/>
                    <a:pt x="421921" y="493310"/>
                  </a:cubicBezTo>
                  <a:cubicBezTo>
                    <a:pt x="374600" y="493310"/>
                    <a:pt x="328856" y="492040"/>
                    <a:pt x="281535" y="490770"/>
                  </a:cubicBezTo>
                  <a:cubicBezTo>
                    <a:pt x="253143" y="489500"/>
                    <a:pt x="224750" y="488230"/>
                    <a:pt x="197935" y="486960"/>
                  </a:cubicBezTo>
                  <a:cubicBezTo>
                    <a:pt x="147459" y="485690"/>
                    <a:pt x="96983" y="484420"/>
                    <a:pt x="44929" y="484420"/>
                  </a:cubicBezTo>
                  <a:cubicBezTo>
                    <a:pt x="34505" y="484420"/>
                    <a:pt x="25615" y="484420"/>
                    <a:pt x="15455" y="483150"/>
                  </a:cubicBezTo>
                  <a:cubicBezTo>
                    <a:pt x="6565" y="481880"/>
                    <a:pt x="1485" y="475530"/>
                    <a:pt x="4025" y="466640"/>
                  </a:cubicBezTo>
                  <a:cubicBezTo>
                    <a:pt x="12915" y="435415"/>
                    <a:pt x="9105" y="427801"/>
                    <a:pt x="7835" y="419883"/>
                  </a:cubicBezTo>
                  <a:cubicBezTo>
                    <a:pt x="6565" y="403742"/>
                    <a:pt x="2755" y="387905"/>
                    <a:pt x="4025" y="371764"/>
                  </a:cubicBezTo>
                  <a:cubicBezTo>
                    <a:pt x="1485" y="351663"/>
                    <a:pt x="-3595" y="102845"/>
                    <a:pt x="4025" y="82440"/>
                  </a:cubicBezTo>
                  <a:cubicBezTo>
                    <a:pt x="5295" y="78481"/>
                    <a:pt x="4025" y="74217"/>
                    <a:pt x="5295" y="70258"/>
                  </a:cubicBezTo>
                  <a:cubicBezTo>
                    <a:pt x="6565" y="63862"/>
                    <a:pt x="9105" y="56858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7548" y="30480"/>
                    <a:pt x="82786" y="29210"/>
                  </a:cubicBezTo>
                  <a:cubicBezTo>
                    <a:pt x="125375" y="25400"/>
                    <a:pt x="167965" y="22860"/>
                    <a:pt x="212131" y="20320"/>
                  </a:cubicBezTo>
                  <a:cubicBezTo>
                    <a:pt x="242101" y="17780"/>
                    <a:pt x="272071" y="16510"/>
                    <a:pt x="300464" y="13970"/>
                  </a:cubicBezTo>
                  <a:cubicBezTo>
                    <a:pt x="328857" y="11430"/>
                    <a:pt x="358827" y="8890"/>
                    <a:pt x="387219" y="8890"/>
                  </a:cubicBezTo>
                  <a:cubicBezTo>
                    <a:pt x="418767" y="7620"/>
                    <a:pt x="450314" y="10160"/>
                    <a:pt x="481862" y="8890"/>
                  </a:cubicBezTo>
                  <a:cubicBezTo>
                    <a:pt x="521296" y="8890"/>
                    <a:pt x="1235846" y="6350"/>
                    <a:pt x="1275280" y="5080"/>
                  </a:cubicBezTo>
                  <a:cubicBezTo>
                    <a:pt x="1313137" y="3810"/>
                    <a:pt x="1350994" y="2540"/>
                    <a:pt x="1390428" y="2540"/>
                  </a:cubicBezTo>
                  <a:cubicBezTo>
                    <a:pt x="1455101" y="1270"/>
                    <a:pt x="1518195" y="0"/>
                    <a:pt x="1582868" y="0"/>
                  </a:cubicBezTo>
                  <a:cubicBezTo>
                    <a:pt x="1609683" y="0"/>
                    <a:pt x="1638076" y="2540"/>
                    <a:pt x="1664891" y="2540"/>
                  </a:cubicBezTo>
                  <a:cubicBezTo>
                    <a:pt x="1739027" y="3810"/>
                    <a:pt x="1814741" y="5080"/>
                    <a:pt x="1888878" y="7620"/>
                  </a:cubicBezTo>
                  <a:cubicBezTo>
                    <a:pt x="1928312" y="8890"/>
                    <a:pt x="1967746" y="12700"/>
                    <a:pt x="2007181" y="16510"/>
                  </a:cubicBezTo>
                  <a:lnTo>
                    <a:pt x="2033311" y="16510"/>
                  </a:lnTo>
                  <a:cubicBezTo>
                    <a:pt x="2044741" y="17780"/>
                    <a:pt x="2053631" y="20320"/>
                    <a:pt x="2063791" y="21590"/>
                  </a:cubicBezTo>
                  <a:close/>
                  <a:moveTo>
                    <a:pt x="2073951" y="479340"/>
                  </a:moveTo>
                  <a:cubicBezTo>
                    <a:pt x="2075221" y="462830"/>
                    <a:pt x="2076491" y="450130"/>
                    <a:pt x="2076491" y="437430"/>
                  </a:cubicBezTo>
                  <a:cubicBezTo>
                    <a:pt x="2075221" y="418665"/>
                    <a:pt x="2073951" y="402524"/>
                    <a:pt x="2073951" y="385164"/>
                  </a:cubicBezTo>
                  <a:cubicBezTo>
                    <a:pt x="2073951" y="377246"/>
                    <a:pt x="2076491" y="369327"/>
                    <a:pt x="2075221" y="361409"/>
                  </a:cubicBezTo>
                  <a:cubicBezTo>
                    <a:pt x="2075221" y="354100"/>
                    <a:pt x="2073951" y="346486"/>
                    <a:pt x="2072681" y="339177"/>
                  </a:cubicBezTo>
                  <a:cubicBezTo>
                    <a:pt x="2067601" y="327908"/>
                    <a:pt x="2056171" y="94622"/>
                    <a:pt x="2056171" y="83354"/>
                  </a:cubicBezTo>
                  <a:cubicBezTo>
                    <a:pt x="2053631" y="73913"/>
                    <a:pt x="2051091" y="64167"/>
                    <a:pt x="2048551" y="54726"/>
                  </a:cubicBezTo>
                  <a:cubicBezTo>
                    <a:pt x="2047281" y="44450"/>
                    <a:pt x="2046011" y="43180"/>
                    <a:pt x="2029264" y="41910"/>
                  </a:cubicBezTo>
                  <a:cubicBezTo>
                    <a:pt x="2024532" y="41910"/>
                    <a:pt x="2021377" y="41910"/>
                    <a:pt x="2016645" y="40640"/>
                  </a:cubicBezTo>
                  <a:cubicBezTo>
                    <a:pt x="1977211" y="36830"/>
                    <a:pt x="1936199" y="31750"/>
                    <a:pt x="1896765" y="30480"/>
                  </a:cubicBezTo>
                  <a:cubicBezTo>
                    <a:pt x="1800545" y="26670"/>
                    <a:pt x="1702748" y="25400"/>
                    <a:pt x="1606528" y="22860"/>
                  </a:cubicBezTo>
                  <a:lnTo>
                    <a:pt x="1492957" y="22860"/>
                  </a:lnTo>
                  <a:cubicBezTo>
                    <a:pt x="1442481" y="22860"/>
                    <a:pt x="1392006" y="22860"/>
                    <a:pt x="1343107" y="24130"/>
                  </a:cubicBezTo>
                  <a:cubicBezTo>
                    <a:pt x="1300518" y="25400"/>
                    <a:pt x="582813" y="29210"/>
                    <a:pt x="540224" y="29210"/>
                  </a:cubicBezTo>
                  <a:cubicBezTo>
                    <a:pt x="470820" y="29210"/>
                    <a:pt x="401416" y="26670"/>
                    <a:pt x="332011" y="33020"/>
                  </a:cubicBezTo>
                  <a:cubicBezTo>
                    <a:pt x="295732" y="36830"/>
                    <a:pt x="261029" y="36830"/>
                    <a:pt x="226327" y="38100"/>
                  </a:cubicBezTo>
                  <a:cubicBezTo>
                    <a:pt x="166387" y="41910"/>
                    <a:pt x="106447" y="45720"/>
                    <a:pt x="46507" y="50800"/>
                  </a:cubicBezTo>
                  <a:cubicBezTo>
                    <a:pt x="33235" y="50800"/>
                    <a:pt x="30695" y="52289"/>
                    <a:pt x="29425" y="55944"/>
                  </a:cubicBezTo>
                  <a:cubicBezTo>
                    <a:pt x="28155" y="61426"/>
                    <a:pt x="28155" y="66908"/>
                    <a:pt x="26885" y="72390"/>
                  </a:cubicBezTo>
                  <a:cubicBezTo>
                    <a:pt x="25615" y="81526"/>
                    <a:pt x="23075" y="90358"/>
                    <a:pt x="21805" y="99495"/>
                  </a:cubicBezTo>
                  <a:cubicBezTo>
                    <a:pt x="16725" y="109241"/>
                    <a:pt x="23075" y="347400"/>
                    <a:pt x="25615" y="357145"/>
                  </a:cubicBezTo>
                  <a:cubicBezTo>
                    <a:pt x="25615" y="367500"/>
                    <a:pt x="25615" y="378159"/>
                    <a:pt x="26885" y="388514"/>
                  </a:cubicBezTo>
                  <a:cubicBezTo>
                    <a:pt x="26885" y="396128"/>
                    <a:pt x="29425" y="403742"/>
                    <a:pt x="29425" y="411356"/>
                  </a:cubicBezTo>
                  <a:cubicBezTo>
                    <a:pt x="29425" y="419578"/>
                    <a:pt x="29425" y="427801"/>
                    <a:pt x="28155" y="437430"/>
                  </a:cubicBezTo>
                  <a:lnTo>
                    <a:pt x="28155" y="447590"/>
                  </a:lnTo>
                  <a:cubicBezTo>
                    <a:pt x="28155" y="457750"/>
                    <a:pt x="31965" y="461560"/>
                    <a:pt x="40855" y="461560"/>
                  </a:cubicBezTo>
                  <a:cubicBezTo>
                    <a:pt x="60703" y="461560"/>
                    <a:pt x="82786" y="462830"/>
                    <a:pt x="103292" y="462830"/>
                  </a:cubicBezTo>
                  <a:cubicBezTo>
                    <a:pt x="133262" y="462830"/>
                    <a:pt x="164810" y="460290"/>
                    <a:pt x="194780" y="462830"/>
                  </a:cubicBezTo>
                  <a:cubicBezTo>
                    <a:pt x="243678" y="466640"/>
                    <a:pt x="292577" y="469180"/>
                    <a:pt x="341476" y="467910"/>
                  </a:cubicBezTo>
                  <a:cubicBezTo>
                    <a:pt x="373023" y="466640"/>
                    <a:pt x="402993" y="469180"/>
                    <a:pt x="434540" y="469180"/>
                  </a:cubicBezTo>
                  <a:cubicBezTo>
                    <a:pt x="480284" y="469180"/>
                    <a:pt x="526028" y="467910"/>
                    <a:pt x="571772" y="469180"/>
                  </a:cubicBezTo>
                  <a:cubicBezTo>
                    <a:pt x="639599" y="470450"/>
                    <a:pt x="1384119" y="460290"/>
                    <a:pt x="1453523" y="462830"/>
                  </a:cubicBezTo>
                  <a:cubicBezTo>
                    <a:pt x="1483493" y="464100"/>
                    <a:pt x="1513463" y="465370"/>
                    <a:pt x="1541856" y="465370"/>
                  </a:cubicBezTo>
                  <a:cubicBezTo>
                    <a:pt x="1593909" y="467910"/>
                    <a:pt x="1644385" y="464100"/>
                    <a:pt x="1696439" y="467910"/>
                  </a:cubicBezTo>
                  <a:cubicBezTo>
                    <a:pt x="1739027" y="470450"/>
                    <a:pt x="1781617" y="470450"/>
                    <a:pt x="1824206" y="472990"/>
                  </a:cubicBezTo>
                  <a:cubicBezTo>
                    <a:pt x="1887301" y="476800"/>
                    <a:pt x="1950395" y="479340"/>
                    <a:pt x="2013490" y="480610"/>
                  </a:cubicBezTo>
                  <a:cubicBezTo>
                    <a:pt x="2035851" y="480610"/>
                    <a:pt x="2053631" y="479340"/>
                    <a:pt x="2073951" y="479340"/>
                  </a:cubicBezTo>
                  <a:close/>
                </a:path>
              </a:pathLst>
            </a:custGeom>
            <a:solidFill>
              <a:srgbClr val="2A2B39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3678570" y="704042"/>
            <a:ext cx="3020174" cy="526358"/>
            <a:chOff x="0" y="0"/>
            <a:chExt cx="2132678" cy="37168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39997" y="45156"/>
              <a:ext cx="2092681" cy="325824"/>
            </a:xfrm>
            <a:custGeom>
              <a:avLst/>
              <a:gdLst/>
              <a:ahLst/>
              <a:cxnLst/>
              <a:rect r="r" b="b" t="t" l="l"/>
              <a:pathLst>
                <a:path h="325824" w="2092681">
                  <a:moveTo>
                    <a:pt x="643" y="296049"/>
                  </a:moveTo>
                  <a:cubicBezTo>
                    <a:pt x="-1897" y="304939"/>
                    <a:pt x="3183" y="311289"/>
                    <a:pt x="14178" y="312559"/>
                  </a:cubicBezTo>
                  <a:cubicBezTo>
                    <a:pt x="26792" y="313829"/>
                    <a:pt x="37829" y="313829"/>
                    <a:pt x="50444" y="313829"/>
                  </a:cubicBezTo>
                  <a:cubicBezTo>
                    <a:pt x="100900" y="315099"/>
                    <a:pt x="151357" y="315099"/>
                    <a:pt x="203391" y="316369"/>
                  </a:cubicBezTo>
                  <a:cubicBezTo>
                    <a:pt x="231773" y="317639"/>
                    <a:pt x="260155" y="318909"/>
                    <a:pt x="286960" y="320179"/>
                  </a:cubicBezTo>
                  <a:cubicBezTo>
                    <a:pt x="334264" y="321449"/>
                    <a:pt x="379990" y="321449"/>
                    <a:pt x="427294" y="322719"/>
                  </a:cubicBezTo>
                  <a:cubicBezTo>
                    <a:pt x="446215" y="322719"/>
                    <a:pt x="463560" y="322719"/>
                    <a:pt x="482481" y="321449"/>
                  </a:cubicBezTo>
                  <a:cubicBezTo>
                    <a:pt x="490365" y="321449"/>
                    <a:pt x="499825" y="320179"/>
                    <a:pt x="507709" y="320179"/>
                  </a:cubicBezTo>
                  <a:cubicBezTo>
                    <a:pt x="539245" y="321449"/>
                    <a:pt x="1169956" y="312559"/>
                    <a:pt x="1201492" y="313829"/>
                  </a:cubicBezTo>
                  <a:cubicBezTo>
                    <a:pt x="1245642" y="315099"/>
                    <a:pt x="1367054" y="315099"/>
                    <a:pt x="1411203" y="315099"/>
                  </a:cubicBezTo>
                  <a:cubicBezTo>
                    <a:pt x="1428548" y="315099"/>
                    <a:pt x="1444316" y="313829"/>
                    <a:pt x="1461660" y="313829"/>
                  </a:cubicBezTo>
                  <a:lnTo>
                    <a:pt x="1546806" y="317639"/>
                  </a:lnTo>
                  <a:cubicBezTo>
                    <a:pt x="1608301" y="320179"/>
                    <a:pt x="1668218" y="317639"/>
                    <a:pt x="1729713" y="321449"/>
                  </a:cubicBezTo>
                  <a:cubicBezTo>
                    <a:pt x="1832203" y="326529"/>
                    <a:pt x="1936271" y="320179"/>
                    <a:pt x="2029181" y="325259"/>
                  </a:cubicBezTo>
                  <a:cubicBezTo>
                    <a:pt x="2049501" y="326529"/>
                    <a:pt x="2069821" y="325259"/>
                    <a:pt x="2092681" y="325259"/>
                  </a:cubicBezTo>
                  <a:lnTo>
                    <a:pt x="2092681" y="265569"/>
                  </a:lnTo>
                  <a:cubicBezTo>
                    <a:pt x="2091411" y="231832"/>
                    <a:pt x="2090141" y="223058"/>
                    <a:pt x="2090141" y="213736"/>
                  </a:cubicBezTo>
                  <a:cubicBezTo>
                    <a:pt x="2090141" y="202951"/>
                    <a:pt x="2093951" y="191984"/>
                    <a:pt x="2087601" y="181199"/>
                  </a:cubicBezTo>
                  <a:cubicBezTo>
                    <a:pt x="2079981" y="174070"/>
                    <a:pt x="2068551" y="33505"/>
                    <a:pt x="2068551" y="26377"/>
                  </a:cubicBezTo>
                  <a:cubicBezTo>
                    <a:pt x="2066011" y="21441"/>
                    <a:pt x="2064741" y="16323"/>
                    <a:pt x="2062201" y="11388"/>
                  </a:cubicBezTo>
                  <a:cubicBezTo>
                    <a:pt x="2062201" y="9926"/>
                    <a:pt x="2060931" y="8463"/>
                    <a:pt x="2059661" y="5644"/>
                  </a:cubicBezTo>
                  <a:cubicBezTo>
                    <a:pt x="2049501" y="3104"/>
                    <a:pt x="2040611" y="1834"/>
                    <a:pt x="2030451" y="564"/>
                  </a:cubicBezTo>
                  <a:cubicBezTo>
                    <a:pt x="2022831" y="-706"/>
                    <a:pt x="2015211" y="564"/>
                    <a:pt x="2008861" y="564"/>
                  </a:cubicBezTo>
                  <a:lnTo>
                    <a:pt x="6294" y="5644"/>
                  </a:lnTo>
                  <a:lnTo>
                    <a:pt x="643" y="296049"/>
                  </a:lnTo>
                  <a:close/>
                </a:path>
              </a:pathLst>
            </a:custGeom>
            <a:solidFill>
              <a:srgbClr val="678AEA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11430" y="16510"/>
              <a:ext cx="2071718" cy="317075"/>
            </a:xfrm>
            <a:custGeom>
              <a:avLst/>
              <a:gdLst/>
              <a:ahLst/>
              <a:cxnLst/>
              <a:rect r="r" b="b" t="t" l="l"/>
              <a:pathLst>
                <a:path h="317075" w="2071718">
                  <a:moveTo>
                    <a:pt x="2071718" y="317075"/>
                  </a:moveTo>
                  <a:lnTo>
                    <a:pt x="0" y="309455"/>
                  </a:lnTo>
                  <a:lnTo>
                    <a:pt x="0" y="116440"/>
                  </a:lnTo>
                  <a:lnTo>
                    <a:pt x="7620" y="20320"/>
                  </a:lnTo>
                  <a:lnTo>
                    <a:pt x="1032962" y="0"/>
                  </a:lnTo>
                  <a:lnTo>
                    <a:pt x="2050128" y="8890"/>
                  </a:ln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-215" y="0"/>
              <a:ext cx="2096063" cy="343039"/>
            </a:xfrm>
            <a:custGeom>
              <a:avLst/>
              <a:gdLst/>
              <a:ahLst/>
              <a:cxnLst/>
              <a:rect r="r" b="b" t="t" l="l"/>
              <a:pathLst>
                <a:path h="343039" w="2096063">
                  <a:moveTo>
                    <a:pt x="2063043" y="21590"/>
                  </a:moveTo>
                  <a:cubicBezTo>
                    <a:pt x="2064313" y="34290"/>
                    <a:pt x="2064313" y="44450"/>
                    <a:pt x="2065583" y="52340"/>
                  </a:cubicBezTo>
                  <a:cubicBezTo>
                    <a:pt x="2068123" y="57275"/>
                    <a:pt x="2069393" y="62393"/>
                    <a:pt x="2071933" y="67328"/>
                  </a:cubicBezTo>
                  <a:cubicBezTo>
                    <a:pt x="2071933" y="74457"/>
                    <a:pt x="2084633" y="215022"/>
                    <a:pt x="2090983" y="222151"/>
                  </a:cubicBezTo>
                  <a:cubicBezTo>
                    <a:pt x="2097333" y="232936"/>
                    <a:pt x="2093523" y="243903"/>
                    <a:pt x="2093523" y="254687"/>
                  </a:cubicBezTo>
                  <a:cubicBezTo>
                    <a:pt x="2093523" y="264192"/>
                    <a:pt x="2094793" y="272966"/>
                    <a:pt x="2096063" y="282785"/>
                  </a:cubicBezTo>
                  <a:lnTo>
                    <a:pt x="2096063" y="342475"/>
                  </a:lnTo>
                  <a:cubicBezTo>
                    <a:pt x="2073203" y="342475"/>
                    <a:pt x="2052883" y="343745"/>
                    <a:pt x="2032563" y="342475"/>
                  </a:cubicBezTo>
                  <a:cubicBezTo>
                    <a:pt x="1930756" y="337395"/>
                    <a:pt x="1826689" y="343745"/>
                    <a:pt x="1724198" y="338665"/>
                  </a:cubicBezTo>
                  <a:cubicBezTo>
                    <a:pt x="1662704" y="334855"/>
                    <a:pt x="1602786" y="337395"/>
                    <a:pt x="1541292" y="334855"/>
                  </a:cubicBezTo>
                  <a:lnTo>
                    <a:pt x="1456146" y="331045"/>
                  </a:lnTo>
                  <a:cubicBezTo>
                    <a:pt x="1438801" y="331045"/>
                    <a:pt x="1423033" y="332315"/>
                    <a:pt x="1405689" y="332315"/>
                  </a:cubicBezTo>
                  <a:cubicBezTo>
                    <a:pt x="1361539" y="331045"/>
                    <a:pt x="1240127" y="332315"/>
                    <a:pt x="1195977" y="331045"/>
                  </a:cubicBezTo>
                  <a:cubicBezTo>
                    <a:pt x="1164442" y="329775"/>
                    <a:pt x="533730" y="338665"/>
                    <a:pt x="502195" y="337395"/>
                  </a:cubicBezTo>
                  <a:cubicBezTo>
                    <a:pt x="494311" y="337395"/>
                    <a:pt x="484850" y="338665"/>
                    <a:pt x="476966" y="338665"/>
                  </a:cubicBezTo>
                  <a:cubicBezTo>
                    <a:pt x="458045" y="338665"/>
                    <a:pt x="440700" y="339935"/>
                    <a:pt x="421779" y="339935"/>
                  </a:cubicBezTo>
                  <a:cubicBezTo>
                    <a:pt x="374476" y="339935"/>
                    <a:pt x="328749" y="338665"/>
                    <a:pt x="281446" y="337395"/>
                  </a:cubicBezTo>
                  <a:cubicBezTo>
                    <a:pt x="253064" y="336125"/>
                    <a:pt x="224682" y="334855"/>
                    <a:pt x="197876" y="333585"/>
                  </a:cubicBezTo>
                  <a:cubicBezTo>
                    <a:pt x="147420" y="332315"/>
                    <a:pt x="96963" y="331045"/>
                    <a:pt x="44929" y="331045"/>
                  </a:cubicBezTo>
                  <a:cubicBezTo>
                    <a:pt x="34505" y="331045"/>
                    <a:pt x="25615" y="331045"/>
                    <a:pt x="15455" y="329775"/>
                  </a:cubicBezTo>
                  <a:cubicBezTo>
                    <a:pt x="6565" y="328505"/>
                    <a:pt x="1485" y="322155"/>
                    <a:pt x="4025" y="313265"/>
                  </a:cubicBezTo>
                  <a:cubicBezTo>
                    <a:pt x="12915" y="282106"/>
                    <a:pt x="9105" y="277536"/>
                    <a:pt x="7835" y="272784"/>
                  </a:cubicBezTo>
                  <a:cubicBezTo>
                    <a:pt x="6565" y="263096"/>
                    <a:pt x="2755" y="253591"/>
                    <a:pt x="4025" y="243903"/>
                  </a:cubicBezTo>
                  <a:cubicBezTo>
                    <a:pt x="1485" y="231839"/>
                    <a:pt x="-3595" y="82500"/>
                    <a:pt x="4025" y="70253"/>
                  </a:cubicBezTo>
                  <a:cubicBezTo>
                    <a:pt x="5295" y="67877"/>
                    <a:pt x="4025" y="65318"/>
                    <a:pt x="5295" y="62941"/>
                  </a:cubicBezTo>
                  <a:cubicBezTo>
                    <a:pt x="6565" y="59103"/>
                    <a:pt x="9105" y="54899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7543" y="30480"/>
                    <a:pt x="82772" y="29210"/>
                  </a:cubicBezTo>
                  <a:cubicBezTo>
                    <a:pt x="125345" y="25400"/>
                    <a:pt x="167918" y="22860"/>
                    <a:pt x="212067" y="20320"/>
                  </a:cubicBezTo>
                  <a:cubicBezTo>
                    <a:pt x="242026" y="17780"/>
                    <a:pt x="271985" y="16510"/>
                    <a:pt x="300367" y="13970"/>
                  </a:cubicBezTo>
                  <a:cubicBezTo>
                    <a:pt x="328749" y="11430"/>
                    <a:pt x="358708" y="8890"/>
                    <a:pt x="387090" y="8890"/>
                  </a:cubicBezTo>
                  <a:cubicBezTo>
                    <a:pt x="418626" y="7620"/>
                    <a:pt x="450161" y="10160"/>
                    <a:pt x="481697" y="8890"/>
                  </a:cubicBezTo>
                  <a:cubicBezTo>
                    <a:pt x="521116" y="8890"/>
                    <a:pt x="1235397" y="6350"/>
                    <a:pt x="1274816" y="5080"/>
                  </a:cubicBezTo>
                  <a:cubicBezTo>
                    <a:pt x="1312659" y="3810"/>
                    <a:pt x="1350502" y="2540"/>
                    <a:pt x="1389921" y="2540"/>
                  </a:cubicBezTo>
                  <a:cubicBezTo>
                    <a:pt x="1454569" y="1270"/>
                    <a:pt x="1517640" y="0"/>
                    <a:pt x="1582288" y="0"/>
                  </a:cubicBezTo>
                  <a:cubicBezTo>
                    <a:pt x="1609093" y="0"/>
                    <a:pt x="1637475" y="2540"/>
                    <a:pt x="1664280" y="2540"/>
                  </a:cubicBezTo>
                  <a:cubicBezTo>
                    <a:pt x="1738389" y="3810"/>
                    <a:pt x="1814074" y="5080"/>
                    <a:pt x="1888183" y="7620"/>
                  </a:cubicBezTo>
                  <a:cubicBezTo>
                    <a:pt x="1927603" y="8890"/>
                    <a:pt x="1967022" y="12700"/>
                    <a:pt x="2006442" y="16510"/>
                  </a:cubicBezTo>
                  <a:lnTo>
                    <a:pt x="2032563" y="16510"/>
                  </a:lnTo>
                  <a:cubicBezTo>
                    <a:pt x="2043993" y="17780"/>
                    <a:pt x="2052883" y="20320"/>
                    <a:pt x="2063043" y="21590"/>
                  </a:cubicBezTo>
                  <a:close/>
                  <a:moveTo>
                    <a:pt x="2073203" y="325965"/>
                  </a:moveTo>
                  <a:cubicBezTo>
                    <a:pt x="2074473" y="309455"/>
                    <a:pt x="2075743" y="296755"/>
                    <a:pt x="2075743" y="284055"/>
                  </a:cubicBezTo>
                  <a:cubicBezTo>
                    <a:pt x="2074473" y="272052"/>
                    <a:pt x="2073203" y="262365"/>
                    <a:pt x="2073203" y="251946"/>
                  </a:cubicBezTo>
                  <a:cubicBezTo>
                    <a:pt x="2073203" y="247193"/>
                    <a:pt x="2075743" y="242441"/>
                    <a:pt x="2074473" y="237688"/>
                  </a:cubicBezTo>
                  <a:cubicBezTo>
                    <a:pt x="2074473" y="233301"/>
                    <a:pt x="2073203" y="228731"/>
                    <a:pt x="2071933" y="224344"/>
                  </a:cubicBezTo>
                  <a:cubicBezTo>
                    <a:pt x="2066853" y="217581"/>
                    <a:pt x="2055423" y="77565"/>
                    <a:pt x="2055423" y="70801"/>
                  </a:cubicBezTo>
                  <a:cubicBezTo>
                    <a:pt x="2052883" y="65135"/>
                    <a:pt x="2050343" y="59286"/>
                    <a:pt x="2047803" y="53619"/>
                  </a:cubicBezTo>
                  <a:cubicBezTo>
                    <a:pt x="2046533" y="44450"/>
                    <a:pt x="2045263" y="43180"/>
                    <a:pt x="2028516" y="41910"/>
                  </a:cubicBezTo>
                  <a:cubicBezTo>
                    <a:pt x="2023786" y="41910"/>
                    <a:pt x="2020633" y="41910"/>
                    <a:pt x="2015902" y="40640"/>
                  </a:cubicBezTo>
                  <a:cubicBezTo>
                    <a:pt x="1976483" y="36830"/>
                    <a:pt x="1935487" y="31750"/>
                    <a:pt x="1896067" y="30480"/>
                  </a:cubicBezTo>
                  <a:cubicBezTo>
                    <a:pt x="1799884" y="26670"/>
                    <a:pt x="1702123" y="25400"/>
                    <a:pt x="1605940" y="22860"/>
                  </a:cubicBezTo>
                  <a:lnTo>
                    <a:pt x="1492412" y="22860"/>
                  </a:lnTo>
                  <a:cubicBezTo>
                    <a:pt x="1441955" y="22860"/>
                    <a:pt x="1391498" y="22860"/>
                    <a:pt x="1342618" y="24130"/>
                  </a:cubicBezTo>
                  <a:cubicBezTo>
                    <a:pt x="1300045" y="25400"/>
                    <a:pt x="582610" y="29210"/>
                    <a:pt x="540037" y="29210"/>
                  </a:cubicBezTo>
                  <a:cubicBezTo>
                    <a:pt x="470659" y="29210"/>
                    <a:pt x="401281" y="26670"/>
                    <a:pt x="331903" y="33020"/>
                  </a:cubicBezTo>
                  <a:cubicBezTo>
                    <a:pt x="295637" y="36830"/>
                    <a:pt x="260948" y="36830"/>
                    <a:pt x="226258" y="38100"/>
                  </a:cubicBezTo>
                  <a:cubicBezTo>
                    <a:pt x="166341" y="41910"/>
                    <a:pt x="106423" y="45720"/>
                    <a:pt x="46506" y="50800"/>
                  </a:cubicBezTo>
                  <a:cubicBezTo>
                    <a:pt x="33235" y="50800"/>
                    <a:pt x="30695" y="52157"/>
                    <a:pt x="29425" y="54350"/>
                  </a:cubicBezTo>
                  <a:cubicBezTo>
                    <a:pt x="28155" y="57641"/>
                    <a:pt x="28155" y="60931"/>
                    <a:pt x="26885" y="64221"/>
                  </a:cubicBezTo>
                  <a:cubicBezTo>
                    <a:pt x="25615" y="69705"/>
                    <a:pt x="23075" y="75006"/>
                    <a:pt x="21805" y="80489"/>
                  </a:cubicBezTo>
                  <a:cubicBezTo>
                    <a:pt x="16725" y="86339"/>
                    <a:pt x="23075" y="229280"/>
                    <a:pt x="25615" y="235129"/>
                  </a:cubicBezTo>
                  <a:cubicBezTo>
                    <a:pt x="25615" y="241344"/>
                    <a:pt x="25615" y="247741"/>
                    <a:pt x="26885" y="253956"/>
                  </a:cubicBezTo>
                  <a:cubicBezTo>
                    <a:pt x="26885" y="258526"/>
                    <a:pt x="29425" y="263096"/>
                    <a:pt x="29425" y="267666"/>
                  </a:cubicBezTo>
                  <a:cubicBezTo>
                    <a:pt x="29425" y="272601"/>
                    <a:pt x="29425" y="277536"/>
                    <a:pt x="28155" y="284055"/>
                  </a:cubicBezTo>
                  <a:lnTo>
                    <a:pt x="28155" y="294215"/>
                  </a:lnTo>
                  <a:cubicBezTo>
                    <a:pt x="28155" y="304375"/>
                    <a:pt x="31965" y="308185"/>
                    <a:pt x="40855" y="308185"/>
                  </a:cubicBezTo>
                  <a:cubicBezTo>
                    <a:pt x="60697" y="308185"/>
                    <a:pt x="82772" y="309455"/>
                    <a:pt x="103270" y="309455"/>
                  </a:cubicBezTo>
                  <a:cubicBezTo>
                    <a:pt x="133229" y="309455"/>
                    <a:pt x="164764" y="306915"/>
                    <a:pt x="194723" y="309455"/>
                  </a:cubicBezTo>
                  <a:cubicBezTo>
                    <a:pt x="243603" y="313265"/>
                    <a:pt x="292483" y="315805"/>
                    <a:pt x="341363" y="314535"/>
                  </a:cubicBezTo>
                  <a:cubicBezTo>
                    <a:pt x="372899" y="313265"/>
                    <a:pt x="402858" y="315805"/>
                    <a:pt x="434393" y="315805"/>
                  </a:cubicBezTo>
                  <a:cubicBezTo>
                    <a:pt x="480120" y="315805"/>
                    <a:pt x="525846" y="314535"/>
                    <a:pt x="571573" y="315805"/>
                  </a:cubicBezTo>
                  <a:cubicBezTo>
                    <a:pt x="639374" y="317075"/>
                    <a:pt x="1383614" y="306915"/>
                    <a:pt x="1452992" y="309455"/>
                  </a:cubicBezTo>
                  <a:cubicBezTo>
                    <a:pt x="1482951" y="310725"/>
                    <a:pt x="1512910" y="311995"/>
                    <a:pt x="1541292" y="311995"/>
                  </a:cubicBezTo>
                  <a:cubicBezTo>
                    <a:pt x="1593326" y="314535"/>
                    <a:pt x="1643783" y="310725"/>
                    <a:pt x="1695816" y="314535"/>
                  </a:cubicBezTo>
                  <a:cubicBezTo>
                    <a:pt x="1738389" y="317075"/>
                    <a:pt x="1780962" y="317075"/>
                    <a:pt x="1823535" y="319615"/>
                  </a:cubicBezTo>
                  <a:cubicBezTo>
                    <a:pt x="1886606" y="323425"/>
                    <a:pt x="1949678" y="325965"/>
                    <a:pt x="2012749" y="327235"/>
                  </a:cubicBezTo>
                  <a:cubicBezTo>
                    <a:pt x="2035103" y="327235"/>
                    <a:pt x="2052883" y="325965"/>
                    <a:pt x="2073203" y="325965"/>
                  </a:cubicBezTo>
                  <a:close/>
                </a:path>
              </a:pathLst>
            </a:custGeom>
            <a:solidFill>
              <a:srgbClr val="2A2B39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23653" y="3492616"/>
            <a:ext cx="2710331" cy="472193"/>
            <a:chOff x="0" y="0"/>
            <a:chExt cx="2133426" cy="37168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39997" y="45156"/>
              <a:ext cx="2093429" cy="325824"/>
            </a:xfrm>
            <a:custGeom>
              <a:avLst/>
              <a:gdLst/>
              <a:ahLst/>
              <a:cxnLst/>
              <a:rect r="r" b="b" t="t" l="l"/>
              <a:pathLst>
                <a:path h="325824" w="2093429">
                  <a:moveTo>
                    <a:pt x="643" y="296049"/>
                  </a:moveTo>
                  <a:cubicBezTo>
                    <a:pt x="-1897" y="304939"/>
                    <a:pt x="3183" y="311289"/>
                    <a:pt x="14182" y="312559"/>
                  </a:cubicBezTo>
                  <a:cubicBezTo>
                    <a:pt x="26801" y="313829"/>
                    <a:pt x="37842" y="313829"/>
                    <a:pt x="50461" y="313829"/>
                  </a:cubicBezTo>
                  <a:cubicBezTo>
                    <a:pt x="100937" y="315099"/>
                    <a:pt x="151413" y="315099"/>
                    <a:pt x="203466" y="316369"/>
                  </a:cubicBezTo>
                  <a:cubicBezTo>
                    <a:pt x="231859" y="317639"/>
                    <a:pt x="260252" y="318909"/>
                    <a:pt x="287067" y="320179"/>
                  </a:cubicBezTo>
                  <a:cubicBezTo>
                    <a:pt x="334388" y="321449"/>
                    <a:pt x="380132" y="321449"/>
                    <a:pt x="427453" y="322719"/>
                  </a:cubicBezTo>
                  <a:cubicBezTo>
                    <a:pt x="446382" y="322719"/>
                    <a:pt x="463733" y="322719"/>
                    <a:pt x="482661" y="321449"/>
                  </a:cubicBezTo>
                  <a:cubicBezTo>
                    <a:pt x="490548" y="321449"/>
                    <a:pt x="500012" y="320179"/>
                    <a:pt x="507899" y="320179"/>
                  </a:cubicBezTo>
                  <a:cubicBezTo>
                    <a:pt x="539447" y="321449"/>
                    <a:pt x="1170396" y="312559"/>
                    <a:pt x="1201943" y="313829"/>
                  </a:cubicBezTo>
                  <a:cubicBezTo>
                    <a:pt x="1246110" y="315099"/>
                    <a:pt x="1367567" y="315099"/>
                    <a:pt x="1411734" y="315099"/>
                  </a:cubicBezTo>
                  <a:cubicBezTo>
                    <a:pt x="1429085" y="315099"/>
                    <a:pt x="1444859" y="313829"/>
                    <a:pt x="1462210" y="313829"/>
                  </a:cubicBezTo>
                  <a:lnTo>
                    <a:pt x="1547388" y="317639"/>
                  </a:lnTo>
                  <a:cubicBezTo>
                    <a:pt x="1608905" y="320179"/>
                    <a:pt x="1668845" y="317639"/>
                    <a:pt x="1730363" y="321449"/>
                  </a:cubicBezTo>
                  <a:cubicBezTo>
                    <a:pt x="1832892" y="326529"/>
                    <a:pt x="1936999" y="320179"/>
                    <a:pt x="2029929" y="325259"/>
                  </a:cubicBezTo>
                  <a:cubicBezTo>
                    <a:pt x="2050249" y="326529"/>
                    <a:pt x="2070569" y="325259"/>
                    <a:pt x="2093429" y="325259"/>
                  </a:cubicBezTo>
                  <a:lnTo>
                    <a:pt x="2093429" y="265569"/>
                  </a:lnTo>
                  <a:cubicBezTo>
                    <a:pt x="2092159" y="231832"/>
                    <a:pt x="2090889" y="223058"/>
                    <a:pt x="2090889" y="213736"/>
                  </a:cubicBezTo>
                  <a:cubicBezTo>
                    <a:pt x="2090889" y="202951"/>
                    <a:pt x="2094699" y="191984"/>
                    <a:pt x="2088349" y="181199"/>
                  </a:cubicBezTo>
                  <a:cubicBezTo>
                    <a:pt x="2080729" y="174070"/>
                    <a:pt x="2069299" y="33505"/>
                    <a:pt x="2069299" y="26377"/>
                  </a:cubicBezTo>
                  <a:cubicBezTo>
                    <a:pt x="2066759" y="21441"/>
                    <a:pt x="2065489" y="16323"/>
                    <a:pt x="2062949" y="11388"/>
                  </a:cubicBezTo>
                  <a:cubicBezTo>
                    <a:pt x="2062949" y="9926"/>
                    <a:pt x="2061679" y="8463"/>
                    <a:pt x="2060409" y="5644"/>
                  </a:cubicBezTo>
                  <a:cubicBezTo>
                    <a:pt x="2050249" y="3104"/>
                    <a:pt x="2041359" y="1834"/>
                    <a:pt x="2031199" y="564"/>
                  </a:cubicBezTo>
                  <a:cubicBezTo>
                    <a:pt x="2023579" y="-706"/>
                    <a:pt x="2015959" y="564"/>
                    <a:pt x="2009609" y="564"/>
                  </a:cubicBezTo>
                  <a:lnTo>
                    <a:pt x="6295" y="5644"/>
                  </a:lnTo>
                  <a:lnTo>
                    <a:pt x="643" y="296049"/>
                  </a:lnTo>
                  <a:close/>
                </a:path>
              </a:pathLst>
            </a:custGeom>
            <a:solidFill>
              <a:srgbClr val="FFAADF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11430" y="16510"/>
              <a:ext cx="2072466" cy="317075"/>
            </a:xfrm>
            <a:custGeom>
              <a:avLst/>
              <a:gdLst/>
              <a:ahLst/>
              <a:cxnLst/>
              <a:rect r="r" b="b" t="t" l="l"/>
              <a:pathLst>
                <a:path h="317075" w="2072466">
                  <a:moveTo>
                    <a:pt x="2072466" y="317075"/>
                  </a:moveTo>
                  <a:lnTo>
                    <a:pt x="0" y="309455"/>
                  </a:lnTo>
                  <a:lnTo>
                    <a:pt x="0" y="116440"/>
                  </a:lnTo>
                  <a:lnTo>
                    <a:pt x="7620" y="20320"/>
                  </a:lnTo>
                  <a:lnTo>
                    <a:pt x="1033339" y="0"/>
                  </a:lnTo>
                  <a:lnTo>
                    <a:pt x="2050876" y="8890"/>
                  </a:ln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-215" y="0"/>
              <a:ext cx="2096811" cy="343039"/>
            </a:xfrm>
            <a:custGeom>
              <a:avLst/>
              <a:gdLst/>
              <a:ahLst/>
              <a:cxnLst/>
              <a:rect r="r" b="b" t="t" l="l"/>
              <a:pathLst>
                <a:path h="343039" w="2096811">
                  <a:moveTo>
                    <a:pt x="2063791" y="21590"/>
                  </a:moveTo>
                  <a:cubicBezTo>
                    <a:pt x="2065061" y="34290"/>
                    <a:pt x="2065061" y="44450"/>
                    <a:pt x="2066331" y="52340"/>
                  </a:cubicBezTo>
                  <a:cubicBezTo>
                    <a:pt x="2068871" y="57275"/>
                    <a:pt x="2070141" y="62393"/>
                    <a:pt x="2072681" y="67328"/>
                  </a:cubicBezTo>
                  <a:cubicBezTo>
                    <a:pt x="2072681" y="74457"/>
                    <a:pt x="2085381" y="215022"/>
                    <a:pt x="2091731" y="222151"/>
                  </a:cubicBezTo>
                  <a:cubicBezTo>
                    <a:pt x="2098081" y="232936"/>
                    <a:pt x="2094271" y="243903"/>
                    <a:pt x="2094271" y="254687"/>
                  </a:cubicBezTo>
                  <a:cubicBezTo>
                    <a:pt x="2094271" y="264192"/>
                    <a:pt x="2095541" y="272966"/>
                    <a:pt x="2096811" y="282785"/>
                  </a:cubicBezTo>
                  <a:lnTo>
                    <a:pt x="2096811" y="342475"/>
                  </a:lnTo>
                  <a:cubicBezTo>
                    <a:pt x="2073951" y="342475"/>
                    <a:pt x="2053631" y="343745"/>
                    <a:pt x="2033311" y="342475"/>
                  </a:cubicBezTo>
                  <a:cubicBezTo>
                    <a:pt x="1931467" y="337395"/>
                    <a:pt x="1827360" y="343745"/>
                    <a:pt x="1724831" y="338665"/>
                  </a:cubicBezTo>
                  <a:cubicBezTo>
                    <a:pt x="1663314" y="334855"/>
                    <a:pt x="1603374" y="337395"/>
                    <a:pt x="1541856" y="334855"/>
                  </a:cubicBezTo>
                  <a:lnTo>
                    <a:pt x="1456678" y="331045"/>
                  </a:lnTo>
                  <a:cubicBezTo>
                    <a:pt x="1439327" y="331045"/>
                    <a:pt x="1423553" y="332315"/>
                    <a:pt x="1406202" y="332315"/>
                  </a:cubicBezTo>
                  <a:cubicBezTo>
                    <a:pt x="1362035" y="331045"/>
                    <a:pt x="1240578" y="332315"/>
                    <a:pt x="1196411" y="331045"/>
                  </a:cubicBezTo>
                  <a:cubicBezTo>
                    <a:pt x="1164864" y="329775"/>
                    <a:pt x="533915" y="338665"/>
                    <a:pt x="502367" y="337395"/>
                  </a:cubicBezTo>
                  <a:cubicBezTo>
                    <a:pt x="494481" y="337395"/>
                    <a:pt x="485016" y="338665"/>
                    <a:pt x="477130" y="338665"/>
                  </a:cubicBezTo>
                  <a:cubicBezTo>
                    <a:pt x="458201" y="338665"/>
                    <a:pt x="440850" y="339935"/>
                    <a:pt x="421921" y="339935"/>
                  </a:cubicBezTo>
                  <a:cubicBezTo>
                    <a:pt x="374600" y="339935"/>
                    <a:pt x="328856" y="338665"/>
                    <a:pt x="281535" y="337395"/>
                  </a:cubicBezTo>
                  <a:cubicBezTo>
                    <a:pt x="253143" y="336125"/>
                    <a:pt x="224750" y="334855"/>
                    <a:pt x="197935" y="333585"/>
                  </a:cubicBezTo>
                  <a:cubicBezTo>
                    <a:pt x="147459" y="332315"/>
                    <a:pt x="96983" y="331045"/>
                    <a:pt x="44929" y="331045"/>
                  </a:cubicBezTo>
                  <a:cubicBezTo>
                    <a:pt x="34505" y="331045"/>
                    <a:pt x="25615" y="331045"/>
                    <a:pt x="15455" y="329775"/>
                  </a:cubicBezTo>
                  <a:cubicBezTo>
                    <a:pt x="6565" y="328505"/>
                    <a:pt x="1485" y="322155"/>
                    <a:pt x="4025" y="313265"/>
                  </a:cubicBezTo>
                  <a:cubicBezTo>
                    <a:pt x="12915" y="282106"/>
                    <a:pt x="9105" y="277536"/>
                    <a:pt x="7835" y="272784"/>
                  </a:cubicBezTo>
                  <a:cubicBezTo>
                    <a:pt x="6565" y="263096"/>
                    <a:pt x="2755" y="253591"/>
                    <a:pt x="4025" y="243903"/>
                  </a:cubicBezTo>
                  <a:cubicBezTo>
                    <a:pt x="1485" y="231839"/>
                    <a:pt x="-3595" y="82500"/>
                    <a:pt x="4025" y="70253"/>
                  </a:cubicBezTo>
                  <a:cubicBezTo>
                    <a:pt x="5295" y="67877"/>
                    <a:pt x="4025" y="65318"/>
                    <a:pt x="5295" y="62941"/>
                  </a:cubicBezTo>
                  <a:cubicBezTo>
                    <a:pt x="6565" y="59103"/>
                    <a:pt x="9105" y="54899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7548" y="30480"/>
                    <a:pt x="82786" y="29210"/>
                  </a:cubicBezTo>
                  <a:cubicBezTo>
                    <a:pt x="125375" y="25400"/>
                    <a:pt x="167965" y="22860"/>
                    <a:pt x="212131" y="20320"/>
                  </a:cubicBezTo>
                  <a:cubicBezTo>
                    <a:pt x="242101" y="17780"/>
                    <a:pt x="272071" y="16510"/>
                    <a:pt x="300464" y="13970"/>
                  </a:cubicBezTo>
                  <a:cubicBezTo>
                    <a:pt x="328857" y="11430"/>
                    <a:pt x="358827" y="8890"/>
                    <a:pt x="387219" y="8890"/>
                  </a:cubicBezTo>
                  <a:cubicBezTo>
                    <a:pt x="418767" y="7620"/>
                    <a:pt x="450314" y="10160"/>
                    <a:pt x="481862" y="8890"/>
                  </a:cubicBezTo>
                  <a:cubicBezTo>
                    <a:pt x="521296" y="8890"/>
                    <a:pt x="1235846" y="6350"/>
                    <a:pt x="1275280" y="5080"/>
                  </a:cubicBezTo>
                  <a:cubicBezTo>
                    <a:pt x="1313137" y="3810"/>
                    <a:pt x="1350994" y="2540"/>
                    <a:pt x="1390428" y="2540"/>
                  </a:cubicBezTo>
                  <a:cubicBezTo>
                    <a:pt x="1455101" y="1270"/>
                    <a:pt x="1518195" y="0"/>
                    <a:pt x="1582868" y="0"/>
                  </a:cubicBezTo>
                  <a:cubicBezTo>
                    <a:pt x="1609683" y="0"/>
                    <a:pt x="1638076" y="2540"/>
                    <a:pt x="1664891" y="2540"/>
                  </a:cubicBezTo>
                  <a:cubicBezTo>
                    <a:pt x="1739027" y="3810"/>
                    <a:pt x="1814741" y="5080"/>
                    <a:pt x="1888878" y="7620"/>
                  </a:cubicBezTo>
                  <a:cubicBezTo>
                    <a:pt x="1928312" y="8890"/>
                    <a:pt x="1967746" y="12700"/>
                    <a:pt x="2007181" y="16510"/>
                  </a:cubicBezTo>
                  <a:lnTo>
                    <a:pt x="2033311" y="16510"/>
                  </a:lnTo>
                  <a:cubicBezTo>
                    <a:pt x="2044741" y="17780"/>
                    <a:pt x="2053631" y="20320"/>
                    <a:pt x="2063791" y="21590"/>
                  </a:cubicBezTo>
                  <a:close/>
                  <a:moveTo>
                    <a:pt x="2073951" y="325965"/>
                  </a:moveTo>
                  <a:cubicBezTo>
                    <a:pt x="2075221" y="309455"/>
                    <a:pt x="2076491" y="296755"/>
                    <a:pt x="2076491" y="284055"/>
                  </a:cubicBezTo>
                  <a:cubicBezTo>
                    <a:pt x="2075221" y="272052"/>
                    <a:pt x="2073951" y="262365"/>
                    <a:pt x="2073951" y="251946"/>
                  </a:cubicBezTo>
                  <a:cubicBezTo>
                    <a:pt x="2073951" y="247193"/>
                    <a:pt x="2076491" y="242441"/>
                    <a:pt x="2075221" y="237688"/>
                  </a:cubicBezTo>
                  <a:cubicBezTo>
                    <a:pt x="2075221" y="233301"/>
                    <a:pt x="2073951" y="228731"/>
                    <a:pt x="2072681" y="224344"/>
                  </a:cubicBezTo>
                  <a:cubicBezTo>
                    <a:pt x="2067601" y="217581"/>
                    <a:pt x="2056171" y="77565"/>
                    <a:pt x="2056171" y="70801"/>
                  </a:cubicBezTo>
                  <a:cubicBezTo>
                    <a:pt x="2053631" y="65135"/>
                    <a:pt x="2051091" y="59286"/>
                    <a:pt x="2048551" y="53619"/>
                  </a:cubicBezTo>
                  <a:cubicBezTo>
                    <a:pt x="2047281" y="44450"/>
                    <a:pt x="2046011" y="43180"/>
                    <a:pt x="2029264" y="41910"/>
                  </a:cubicBezTo>
                  <a:cubicBezTo>
                    <a:pt x="2024532" y="41910"/>
                    <a:pt x="2021377" y="41910"/>
                    <a:pt x="2016645" y="40640"/>
                  </a:cubicBezTo>
                  <a:cubicBezTo>
                    <a:pt x="1977211" y="36830"/>
                    <a:pt x="1936199" y="31750"/>
                    <a:pt x="1896765" y="30480"/>
                  </a:cubicBezTo>
                  <a:cubicBezTo>
                    <a:pt x="1800545" y="26670"/>
                    <a:pt x="1702748" y="25400"/>
                    <a:pt x="1606528" y="22860"/>
                  </a:cubicBezTo>
                  <a:lnTo>
                    <a:pt x="1492957" y="22860"/>
                  </a:lnTo>
                  <a:cubicBezTo>
                    <a:pt x="1442481" y="22860"/>
                    <a:pt x="1392006" y="22860"/>
                    <a:pt x="1343107" y="24130"/>
                  </a:cubicBezTo>
                  <a:cubicBezTo>
                    <a:pt x="1300518" y="25400"/>
                    <a:pt x="582813" y="29210"/>
                    <a:pt x="540224" y="29210"/>
                  </a:cubicBezTo>
                  <a:cubicBezTo>
                    <a:pt x="470820" y="29210"/>
                    <a:pt x="401416" y="26670"/>
                    <a:pt x="332011" y="33020"/>
                  </a:cubicBezTo>
                  <a:cubicBezTo>
                    <a:pt x="295732" y="36830"/>
                    <a:pt x="261029" y="36830"/>
                    <a:pt x="226327" y="38100"/>
                  </a:cubicBezTo>
                  <a:cubicBezTo>
                    <a:pt x="166387" y="41910"/>
                    <a:pt x="106447" y="45720"/>
                    <a:pt x="46507" y="50800"/>
                  </a:cubicBezTo>
                  <a:cubicBezTo>
                    <a:pt x="33235" y="50800"/>
                    <a:pt x="30695" y="52157"/>
                    <a:pt x="29425" y="54350"/>
                  </a:cubicBezTo>
                  <a:cubicBezTo>
                    <a:pt x="28155" y="57641"/>
                    <a:pt x="28155" y="60931"/>
                    <a:pt x="26885" y="64221"/>
                  </a:cubicBezTo>
                  <a:cubicBezTo>
                    <a:pt x="25615" y="69705"/>
                    <a:pt x="23075" y="75006"/>
                    <a:pt x="21805" y="80489"/>
                  </a:cubicBezTo>
                  <a:cubicBezTo>
                    <a:pt x="16725" y="86339"/>
                    <a:pt x="23075" y="229280"/>
                    <a:pt x="25615" y="235129"/>
                  </a:cubicBezTo>
                  <a:cubicBezTo>
                    <a:pt x="25615" y="241344"/>
                    <a:pt x="25615" y="247741"/>
                    <a:pt x="26885" y="253956"/>
                  </a:cubicBezTo>
                  <a:cubicBezTo>
                    <a:pt x="26885" y="258526"/>
                    <a:pt x="29425" y="263096"/>
                    <a:pt x="29425" y="267666"/>
                  </a:cubicBezTo>
                  <a:cubicBezTo>
                    <a:pt x="29425" y="272601"/>
                    <a:pt x="29425" y="277536"/>
                    <a:pt x="28155" y="284055"/>
                  </a:cubicBezTo>
                  <a:lnTo>
                    <a:pt x="28155" y="294215"/>
                  </a:lnTo>
                  <a:cubicBezTo>
                    <a:pt x="28155" y="304375"/>
                    <a:pt x="31965" y="308185"/>
                    <a:pt x="40855" y="308185"/>
                  </a:cubicBezTo>
                  <a:cubicBezTo>
                    <a:pt x="60703" y="308185"/>
                    <a:pt x="82786" y="309455"/>
                    <a:pt x="103292" y="309455"/>
                  </a:cubicBezTo>
                  <a:cubicBezTo>
                    <a:pt x="133262" y="309455"/>
                    <a:pt x="164810" y="306915"/>
                    <a:pt x="194780" y="309455"/>
                  </a:cubicBezTo>
                  <a:cubicBezTo>
                    <a:pt x="243678" y="313265"/>
                    <a:pt x="292577" y="315805"/>
                    <a:pt x="341476" y="314535"/>
                  </a:cubicBezTo>
                  <a:cubicBezTo>
                    <a:pt x="373023" y="313265"/>
                    <a:pt x="402993" y="315805"/>
                    <a:pt x="434540" y="315805"/>
                  </a:cubicBezTo>
                  <a:cubicBezTo>
                    <a:pt x="480284" y="315805"/>
                    <a:pt x="526028" y="314535"/>
                    <a:pt x="571772" y="315805"/>
                  </a:cubicBezTo>
                  <a:cubicBezTo>
                    <a:pt x="639599" y="317075"/>
                    <a:pt x="1384119" y="306915"/>
                    <a:pt x="1453523" y="309455"/>
                  </a:cubicBezTo>
                  <a:cubicBezTo>
                    <a:pt x="1483493" y="310725"/>
                    <a:pt x="1513463" y="311995"/>
                    <a:pt x="1541856" y="311995"/>
                  </a:cubicBezTo>
                  <a:cubicBezTo>
                    <a:pt x="1593909" y="314535"/>
                    <a:pt x="1644385" y="310725"/>
                    <a:pt x="1696439" y="314535"/>
                  </a:cubicBezTo>
                  <a:cubicBezTo>
                    <a:pt x="1739027" y="317075"/>
                    <a:pt x="1781617" y="317075"/>
                    <a:pt x="1824206" y="319615"/>
                  </a:cubicBezTo>
                  <a:cubicBezTo>
                    <a:pt x="1887301" y="323425"/>
                    <a:pt x="1950395" y="325965"/>
                    <a:pt x="2013490" y="327235"/>
                  </a:cubicBezTo>
                  <a:cubicBezTo>
                    <a:pt x="2035851" y="327235"/>
                    <a:pt x="2053631" y="325965"/>
                    <a:pt x="2073951" y="325965"/>
                  </a:cubicBezTo>
                  <a:close/>
                </a:path>
              </a:pathLst>
            </a:custGeom>
            <a:solidFill>
              <a:srgbClr val="2A2B39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628501" y="490218"/>
            <a:ext cx="2900636" cy="948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82"/>
              </a:lnSpc>
              <a:spcBef>
                <a:spcPct val="0"/>
              </a:spcBef>
            </a:pPr>
            <a:r>
              <a:rPr lang="en-US" sz="263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Ejemplos</a:t>
            </a:r>
            <a:r>
              <a:rPr lang="en-US" sz="263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 de uso de la vida cotidiana y profesional 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037732" y="3398717"/>
            <a:ext cx="2082173" cy="488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82"/>
              </a:lnSpc>
              <a:spcBef>
                <a:spcPct val="0"/>
              </a:spcBef>
            </a:pPr>
            <a:r>
              <a:rPr lang="en-US" sz="263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Limitaciones 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446565" y="902310"/>
            <a:ext cx="4476395" cy="2288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02"/>
              </a:lnSpc>
            </a:pPr>
          </a:p>
          <a:p>
            <a:pPr algn="just">
              <a:lnSpc>
                <a:spcPts val="2002"/>
              </a:lnSpc>
            </a:pPr>
          </a:p>
          <a:p>
            <a:pPr algn="just">
              <a:lnSpc>
                <a:spcPts val="2002"/>
              </a:lnSpc>
            </a:pPr>
            <a:r>
              <a:rPr lang="en-US" sz="1528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Diagnóstico médico.</a:t>
            </a:r>
          </a:p>
          <a:p>
            <a:pPr algn="just">
              <a:lnSpc>
                <a:spcPts val="2002"/>
              </a:lnSpc>
            </a:pPr>
            <a:r>
              <a:rPr lang="en-US" sz="1528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Finanzas y banca.</a:t>
            </a:r>
          </a:p>
          <a:p>
            <a:pPr algn="just">
              <a:lnSpc>
                <a:spcPts val="2002"/>
              </a:lnSpc>
            </a:pPr>
            <a:r>
              <a:rPr lang="en-US" sz="1528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Atención al cliente (Chatbots complejos).</a:t>
            </a:r>
          </a:p>
          <a:p>
            <a:pPr algn="just">
              <a:lnSpc>
                <a:spcPts val="2002"/>
              </a:lnSpc>
            </a:pPr>
            <a:r>
              <a:rPr lang="en-US" sz="1528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Mantenimiento industrial.</a:t>
            </a:r>
          </a:p>
          <a:p>
            <a:pPr algn="just">
              <a:lnSpc>
                <a:spcPts val="2002"/>
              </a:lnSpc>
            </a:pPr>
            <a:r>
              <a:rPr lang="en-US" sz="1528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Logística y planificación.</a:t>
            </a:r>
          </a:p>
          <a:p>
            <a:pPr algn="just">
              <a:lnSpc>
                <a:spcPts val="2002"/>
              </a:lnSpc>
            </a:pPr>
            <a:r>
              <a:rPr lang="en-US" sz="1528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Geología y minería.</a:t>
            </a:r>
          </a:p>
          <a:p>
            <a:pPr algn="just" marL="0" indent="0" lvl="0">
              <a:lnSpc>
                <a:spcPts val="2002"/>
              </a:lnSpc>
            </a:pPr>
            <a:r>
              <a:rPr lang="en-US" sz="1528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Configuración de productos.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16739" y="3428939"/>
            <a:ext cx="4123443" cy="2452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63"/>
              </a:lnSpc>
            </a:pPr>
          </a:p>
          <a:p>
            <a:pPr algn="just">
              <a:lnSpc>
                <a:spcPts val="2463"/>
              </a:lnSpc>
            </a:pPr>
          </a:p>
          <a:p>
            <a:pPr algn="just">
              <a:lnSpc>
                <a:spcPts val="2463"/>
              </a:lnSpc>
            </a:pPr>
            <a:r>
              <a:rPr lang="en-US" sz="1880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Sentido común</a:t>
            </a:r>
          </a:p>
          <a:p>
            <a:pPr algn="just">
              <a:lnSpc>
                <a:spcPts val="2463"/>
              </a:lnSpc>
            </a:pPr>
            <a:r>
              <a:rPr lang="en-US" sz="1880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Lenguaje natural</a:t>
            </a:r>
          </a:p>
          <a:p>
            <a:pPr algn="just" marL="0" indent="0" lvl="0">
              <a:lnSpc>
                <a:spcPts val="2463"/>
              </a:lnSpc>
            </a:pPr>
            <a:r>
              <a:rPr lang="en-US" sz="1880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Capacidad de aprendizaje.</a:t>
            </a:r>
          </a:p>
          <a:p>
            <a:pPr algn="just" marL="0" indent="0" lvl="0">
              <a:lnSpc>
                <a:spcPts val="2463"/>
              </a:lnSpc>
            </a:pPr>
            <a:r>
              <a:rPr lang="en-US" sz="1880" strike="noStrike" u="none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Perspectiva global</a:t>
            </a:r>
          </a:p>
          <a:p>
            <a:pPr algn="just" marL="0" indent="0" lvl="0">
              <a:lnSpc>
                <a:spcPts val="2463"/>
              </a:lnSpc>
            </a:pPr>
            <a:r>
              <a:rPr lang="en-US" sz="1880" strike="noStrike" u="none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Capacidad sensorial</a:t>
            </a:r>
          </a:p>
          <a:p>
            <a:pPr algn="just" marL="0" indent="0" lvl="0">
              <a:lnSpc>
                <a:spcPts val="2463"/>
              </a:lnSpc>
            </a:pPr>
            <a:r>
              <a:rPr lang="en-US" sz="1880" strike="noStrike" u="none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Flexibilidad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6878458" y="2801765"/>
            <a:ext cx="4534367" cy="3451213"/>
            <a:chOff x="0" y="0"/>
            <a:chExt cx="2359259" cy="179568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40003" y="45156"/>
              <a:ext cx="2319257" cy="1749827"/>
            </a:xfrm>
            <a:custGeom>
              <a:avLst/>
              <a:gdLst/>
              <a:ahLst/>
              <a:cxnLst/>
              <a:rect r="r" b="b" t="t" l="l"/>
              <a:pathLst>
                <a:path h="1749827" w="2319257">
                  <a:moveTo>
                    <a:pt x="637" y="1720052"/>
                  </a:moveTo>
                  <a:cubicBezTo>
                    <a:pt x="-1903" y="1728942"/>
                    <a:pt x="3177" y="1735292"/>
                    <a:pt x="15406" y="1736562"/>
                  </a:cubicBezTo>
                  <a:cubicBezTo>
                    <a:pt x="29459" y="1737832"/>
                    <a:pt x="41756" y="1737832"/>
                    <a:pt x="55809" y="1737832"/>
                  </a:cubicBezTo>
                  <a:cubicBezTo>
                    <a:pt x="112022" y="1739102"/>
                    <a:pt x="168235" y="1739102"/>
                    <a:pt x="226205" y="1740372"/>
                  </a:cubicBezTo>
                  <a:cubicBezTo>
                    <a:pt x="257824" y="1741642"/>
                    <a:pt x="289444" y="1742912"/>
                    <a:pt x="319307" y="1744182"/>
                  </a:cubicBezTo>
                  <a:cubicBezTo>
                    <a:pt x="372007" y="1745452"/>
                    <a:pt x="422950" y="1745452"/>
                    <a:pt x="475650" y="1746722"/>
                  </a:cubicBezTo>
                  <a:cubicBezTo>
                    <a:pt x="496730" y="1746722"/>
                    <a:pt x="516053" y="1746722"/>
                    <a:pt x="537133" y="1745452"/>
                  </a:cubicBezTo>
                  <a:cubicBezTo>
                    <a:pt x="545916" y="1745452"/>
                    <a:pt x="556456" y="1744182"/>
                    <a:pt x="565240" y="1744182"/>
                  </a:cubicBezTo>
                  <a:cubicBezTo>
                    <a:pt x="600373" y="1745452"/>
                    <a:pt x="1303036" y="1736562"/>
                    <a:pt x="1338169" y="1737832"/>
                  </a:cubicBezTo>
                  <a:cubicBezTo>
                    <a:pt x="1387355" y="1739102"/>
                    <a:pt x="1522618" y="1739102"/>
                    <a:pt x="1571804" y="1739102"/>
                  </a:cubicBezTo>
                  <a:cubicBezTo>
                    <a:pt x="1591128" y="1739102"/>
                    <a:pt x="1608694" y="1737832"/>
                    <a:pt x="1628017" y="1737832"/>
                  </a:cubicBezTo>
                  <a:lnTo>
                    <a:pt x="1722877" y="1741642"/>
                  </a:lnTo>
                  <a:cubicBezTo>
                    <a:pt x="1791387" y="1744182"/>
                    <a:pt x="1858139" y="1741642"/>
                    <a:pt x="1926649" y="1745452"/>
                  </a:cubicBezTo>
                  <a:cubicBezTo>
                    <a:pt x="2040832" y="1750532"/>
                    <a:pt x="2156771" y="1744182"/>
                    <a:pt x="2255756" y="1749262"/>
                  </a:cubicBezTo>
                  <a:cubicBezTo>
                    <a:pt x="2276077" y="1750532"/>
                    <a:pt x="2296396" y="1749262"/>
                    <a:pt x="2319256" y="1749262"/>
                  </a:cubicBezTo>
                  <a:lnTo>
                    <a:pt x="2319256" y="1689572"/>
                  </a:lnTo>
                  <a:cubicBezTo>
                    <a:pt x="2317986" y="1623567"/>
                    <a:pt x="2316717" y="1560529"/>
                    <a:pt x="2316717" y="1493552"/>
                  </a:cubicBezTo>
                  <a:cubicBezTo>
                    <a:pt x="2316717" y="1416068"/>
                    <a:pt x="2320527" y="1337271"/>
                    <a:pt x="2314177" y="1259788"/>
                  </a:cubicBezTo>
                  <a:cubicBezTo>
                    <a:pt x="2306556" y="1208570"/>
                    <a:pt x="2295127" y="198657"/>
                    <a:pt x="2295127" y="147439"/>
                  </a:cubicBezTo>
                  <a:cubicBezTo>
                    <a:pt x="2292586" y="111980"/>
                    <a:pt x="2291317" y="75208"/>
                    <a:pt x="2288777" y="39750"/>
                  </a:cubicBezTo>
                  <a:cubicBezTo>
                    <a:pt x="2288777" y="29244"/>
                    <a:pt x="2287506" y="18737"/>
                    <a:pt x="2286236" y="5644"/>
                  </a:cubicBezTo>
                  <a:cubicBezTo>
                    <a:pt x="2276077" y="3104"/>
                    <a:pt x="2267186" y="1834"/>
                    <a:pt x="2257027" y="564"/>
                  </a:cubicBezTo>
                  <a:cubicBezTo>
                    <a:pt x="2249406" y="-706"/>
                    <a:pt x="2241786" y="564"/>
                    <a:pt x="2235436" y="564"/>
                  </a:cubicBezTo>
                  <a:lnTo>
                    <a:pt x="6622" y="5644"/>
                  </a:lnTo>
                  <a:lnTo>
                    <a:pt x="637" y="1720052"/>
                  </a:lnTo>
                  <a:close/>
                </a:path>
              </a:pathLst>
            </a:custGeom>
            <a:solidFill>
              <a:srgbClr val="FFDA68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11430" y="16510"/>
              <a:ext cx="2298300" cy="1741078"/>
            </a:xfrm>
            <a:custGeom>
              <a:avLst/>
              <a:gdLst/>
              <a:ahLst/>
              <a:cxnLst/>
              <a:rect r="r" b="b" t="t" l="l"/>
              <a:pathLst>
                <a:path h="1741078" w="2298300">
                  <a:moveTo>
                    <a:pt x="2298300" y="1741078"/>
                  </a:moveTo>
                  <a:lnTo>
                    <a:pt x="0" y="1733458"/>
                  </a:lnTo>
                  <a:lnTo>
                    <a:pt x="0" y="617347"/>
                  </a:lnTo>
                  <a:lnTo>
                    <a:pt x="7620" y="20320"/>
                  </a:lnTo>
                  <a:lnTo>
                    <a:pt x="1147160" y="0"/>
                  </a:lnTo>
                  <a:lnTo>
                    <a:pt x="2276710" y="8890"/>
                  </a:lnTo>
                  <a:close/>
                </a:path>
              </a:pathLst>
            </a:custGeom>
            <a:solidFill>
              <a:srgbClr val="FFE492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-215" y="0"/>
              <a:ext cx="2322644" cy="1767042"/>
            </a:xfrm>
            <a:custGeom>
              <a:avLst/>
              <a:gdLst/>
              <a:ahLst/>
              <a:cxnLst/>
              <a:rect r="r" b="b" t="t" l="l"/>
              <a:pathLst>
                <a:path h="1767042" w="2322644">
                  <a:moveTo>
                    <a:pt x="2289624" y="21590"/>
                  </a:moveTo>
                  <a:cubicBezTo>
                    <a:pt x="2290895" y="34290"/>
                    <a:pt x="2290895" y="44450"/>
                    <a:pt x="2292164" y="54700"/>
                  </a:cubicBezTo>
                  <a:cubicBezTo>
                    <a:pt x="2294704" y="90159"/>
                    <a:pt x="2295974" y="126931"/>
                    <a:pt x="2298514" y="162389"/>
                  </a:cubicBezTo>
                  <a:cubicBezTo>
                    <a:pt x="2298514" y="213607"/>
                    <a:pt x="2311214" y="1223520"/>
                    <a:pt x="2317564" y="1274738"/>
                  </a:cubicBezTo>
                  <a:cubicBezTo>
                    <a:pt x="2323914" y="1352222"/>
                    <a:pt x="2320104" y="1431019"/>
                    <a:pt x="2320104" y="1508502"/>
                  </a:cubicBezTo>
                  <a:cubicBezTo>
                    <a:pt x="2320104" y="1576793"/>
                    <a:pt x="2321374" y="1639830"/>
                    <a:pt x="2322645" y="1706788"/>
                  </a:cubicBezTo>
                  <a:lnTo>
                    <a:pt x="2322645" y="1766478"/>
                  </a:lnTo>
                  <a:cubicBezTo>
                    <a:pt x="2299785" y="1766478"/>
                    <a:pt x="2279464" y="1767748"/>
                    <a:pt x="2259145" y="1766478"/>
                  </a:cubicBezTo>
                  <a:cubicBezTo>
                    <a:pt x="2146046" y="1761398"/>
                    <a:pt x="2030107" y="1767748"/>
                    <a:pt x="1915924" y="1762668"/>
                  </a:cubicBezTo>
                  <a:cubicBezTo>
                    <a:pt x="1847414" y="1758858"/>
                    <a:pt x="1780662" y="1761398"/>
                    <a:pt x="1712152" y="1758858"/>
                  </a:cubicBezTo>
                  <a:lnTo>
                    <a:pt x="1617292" y="1755048"/>
                  </a:lnTo>
                  <a:cubicBezTo>
                    <a:pt x="1597969" y="1755048"/>
                    <a:pt x="1580403" y="1756318"/>
                    <a:pt x="1561079" y="1756318"/>
                  </a:cubicBezTo>
                  <a:cubicBezTo>
                    <a:pt x="1511893" y="1755048"/>
                    <a:pt x="1376630" y="1756318"/>
                    <a:pt x="1327444" y="1755048"/>
                  </a:cubicBezTo>
                  <a:cubicBezTo>
                    <a:pt x="1292311" y="1753778"/>
                    <a:pt x="589648" y="1762668"/>
                    <a:pt x="554514" y="1761398"/>
                  </a:cubicBezTo>
                  <a:cubicBezTo>
                    <a:pt x="545731" y="1761398"/>
                    <a:pt x="535191" y="1762668"/>
                    <a:pt x="526408" y="1762668"/>
                  </a:cubicBezTo>
                  <a:cubicBezTo>
                    <a:pt x="505328" y="1762668"/>
                    <a:pt x="486005" y="1763938"/>
                    <a:pt x="464925" y="1763938"/>
                  </a:cubicBezTo>
                  <a:cubicBezTo>
                    <a:pt x="412225" y="1763938"/>
                    <a:pt x="361282" y="1762668"/>
                    <a:pt x="308582" y="1761398"/>
                  </a:cubicBezTo>
                  <a:cubicBezTo>
                    <a:pt x="276963" y="1760128"/>
                    <a:pt x="245343" y="1758858"/>
                    <a:pt x="215480" y="1757588"/>
                  </a:cubicBezTo>
                  <a:cubicBezTo>
                    <a:pt x="159266" y="1756318"/>
                    <a:pt x="103053" y="1755048"/>
                    <a:pt x="45084" y="1755048"/>
                  </a:cubicBezTo>
                  <a:cubicBezTo>
                    <a:pt x="34505" y="1755048"/>
                    <a:pt x="25615" y="1755048"/>
                    <a:pt x="15455" y="1753778"/>
                  </a:cubicBezTo>
                  <a:cubicBezTo>
                    <a:pt x="6565" y="1752508"/>
                    <a:pt x="1485" y="1746158"/>
                    <a:pt x="4025" y="1737268"/>
                  </a:cubicBezTo>
                  <a:cubicBezTo>
                    <a:pt x="12915" y="1705494"/>
                    <a:pt x="9105" y="1672662"/>
                    <a:pt x="7835" y="1638517"/>
                  </a:cubicBezTo>
                  <a:cubicBezTo>
                    <a:pt x="6565" y="1568913"/>
                    <a:pt x="2755" y="1500622"/>
                    <a:pt x="4025" y="1431019"/>
                  </a:cubicBezTo>
                  <a:cubicBezTo>
                    <a:pt x="1485" y="1344342"/>
                    <a:pt x="-3595" y="271392"/>
                    <a:pt x="4025" y="183402"/>
                  </a:cubicBezTo>
                  <a:cubicBezTo>
                    <a:pt x="5295" y="166329"/>
                    <a:pt x="4025" y="147943"/>
                    <a:pt x="5295" y="130871"/>
                  </a:cubicBezTo>
                  <a:cubicBezTo>
                    <a:pt x="6565" y="103292"/>
                    <a:pt x="9105" y="73086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9137" y="30480"/>
                    <a:pt x="87244" y="29210"/>
                  </a:cubicBezTo>
                  <a:cubicBezTo>
                    <a:pt x="134673" y="25400"/>
                    <a:pt x="182103" y="22860"/>
                    <a:pt x="231289" y="20320"/>
                  </a:cubicBezTo>
                  <a:cubicBezTo>
                    <a:pt x="264666" y="17780"/>
                    <a:pt x="298042" y="16510"/>
                    <a:pt x="329662" y="13970"/>
                  </a:cubicBezTo>
                  <a:cubicBezTo>
                    <a:pt x="361282" y="11430"/>
                    <a:pt x="394659" y="8890"/>
                    <a:pt x="426278" y="8890"/>
                  </a:cubicBezTo>
                  <a:cubicBezTo>
                    <a:pt x="461412" y="7620"/>
                    <a:pt x="496545" y="10160"/>
                    <a:pt x="531678" y="8890"/>
                  </a:cubicBezTo>
                  <a:cubicBezTo>
                    <a:pt x="575594" y="8890"/>
                    <a:pt x="1371360" y="6350"/>
                    <a:pt x="1415277" y="5080"/>
                  </a:cubicBezTo>
                  <a:cubicBezTo>
                    <a:pt x="1457437" y="3810"/>
                    <a:pt x="1499596" y="2540"/>
                    <a:pt x="1543513" y="2540"/>
                  </a:cubicBezTo>
                  <a:cubicBezTo>
                    <a:pt x="1615536" y="1270"/>
                    <a:pt x="1685802" y="0"/>
                    <a:pt x="1757825" y="0"/>
                  </a:cubicBezTo>
                  <a:cubicBezTo>
                    <a:pt x="1787688" y="0"/>
                    <a:pt x="1819308" y="2540"/>
                    <a:pt x="1849171" y="2540"/>
                  </a:cubicBezTo>
                  <a:cubicBezTo>
                    <a:pt x="1931734" y="3810"/>
                    <a:pt x="2016054" y="5080"/>
                    <a:pt x="2098617" y="7620"/>
                  </a:cubicBezTo>
                  <a:cubicBezTo>
                    <a:pt x="2142533" y="8890"/>
                    <a:pt x="2186449" y="12700"/>
                    <a:pt x="2230366" y="16510"/>
                  </a:cubicBezTo>
                  <a:lnTo>
                    <a:pt x="2259145" y="16510"/>
                  </a:lnTo>
                  <a:cubicBezTo>
                    <a:pt x="2270574" y="17780"/>
                    <a:pt x="2279464" y="20320"/>
                    <a:pt x="2289624" y="21590"/>
                  </a:cubicBezTo>
                  <a:close/>
                  <a:moveTo>
                    <a:pt x="2299785" y="1749968"/>
                  </a:moveTo>
                  <a:cubicBezTo>
                    <a:pt x="2301054" y="1733458"/>
                    <a:pt x="2302324" y="1720758"/>
                    <a:pt x="2302324" y="1708058"/>
                  </a:cubicBezTo>
                  <a:cubicBezTo>
                    <a:pt x="2301054" y="1633264"/>
                    <a:pt x="2299785" y="1563660"/>
                    <a:pt x="2299785" y="1488803"/>
                  </a:cubicBezTo>
                  <a:cubicBezTo>
                    <a:pt x="2299785" y="1454658"/>
                    <a:pt x="2302324" y="1420513"/>
                    <a:pt x="2301054" y="1386367"/>
                  </a:cubicBezTo>
                  <a:cubicBezTo>
                    <a:pt x="2301054" y="1354848"/>
                    <a:pt x="2299785" y="1322016"/>
                    <a:pt x="2298514" y="1290498"/>
                  </a:cubicBezTo>
                  <a:cubicBezTo>
                    <a:pt x="2293435" y="1241906"/>
                    <a:pt x="2282004" y="235933"/>
                    <a:pt x="2282004" y="187342"/>
                  </a:cubicBezTo>
                  <a:cubicBezTo>
                    <a:pt x="2279464" y="146630"/>
                    <a:pt x="2276924" y="104605"/>
                    <a:pt x="2274385" y="63893"/>
                  </a:cubicBezTo>
                  <a:cubicBezTo>
                    <a:pt x="2273114" y="44450"/>
                    <a:pt x="2271845" y="43180"/>
                    <a:pt x="2254959" y="41910"/>
                  </a:cubicBezTo>
                  <a:cubicBezTo>
                    <a:pt x="2249689" y="41910"/>
                    <a:pt x="2246176" y="41910"/>
                    <a:pt x="2240906" y="40640"/>
                  </a:cubicBezTo>
                  <a:cubicBezTo>
                    <a:pt x="2196989" y="36830"/>
                    <a:pt x="2151316" y="31750"/>
                    <a:pt x="2107400" y="30480"/>
                  </a:cubicBezTo>
                  <a:cubicBezTo>
                    <a:pt x="2000244" y="26670"/>
                    <a:pt x="1891331" y="25400"/>
                    <a:pt x="1784175" y="22860"/>
                  </a:cubicBezTo>
                  <a:lnTo>
                    <a:pt x="1657695" y="22860"/>
                  </a:lnTo>
                  <a:cubicBezTo>
                    <a:pt x="1601482" y="22860"/>
                    <a:pt x="1545269" y="22860"/>
                    <a:pt x="1490813" y="24130"/>
                  </a:cubicBezTo>
                  <a:cubicBezTo>
                    <a:pt x="1443383" y="25400"/>
                    <a:pt x="644104" y="29210"/>
                    <a:pt x="596674" y="29210"/>
                  </a:cubicBezTo>
                  <a:cubicBezTo>
                    <a:pt x="519381" y="29210"/>
                    <a:pt x="442088" y="26670"/>
                    <a:pt x="364795" y="33020"/>
                  </a:cubicBezTo>
                  <a:cubicBezTo>
                    <a:pt x="324392" y="36830"/>
                    <a:pt x="285746" y="36830"/>
                    <a:pt x="247099" y="38100"/>
                  </a:cubicBezTo>
                  <a:cubicBezTo>
                    <a:pt x="180346" y="41910"/>
                    <a:pt x="113593" y="45720"/>
                    <a:pt x="46840" y="50800"/>
                  </a:cubicBezTo>
                  <a:cubicBezTo>
                    <a:pt x="33235" y="50800"/>
                    <a:pt x="30695" y="53387"/>
                    <a:pt x="29425" y="69147"/>
                  </a:cubicBezTo>
                  <a:cubicBezTo>
                    <a:pt x="28155" y="92786"/>
                    <a:pt x="28155" y="116425"/>
                    <a:pt x="26885" y="140064"/>
                  </a:cubicBezTo>
                  <a:cubicBezTo>
                    <a:pt x="25615" y="179462"/>
                    <a:pt x="23075" y="217547"/>
                    <a:pt x="21805" y="256946"/>
                  </a:cubicBezTo>
                  <a:cubicBezTo>
                    <a:pt x="16725" y="298971"/>
                    <a:pt x="23075" y="1325956"/>
                    <a:pt x="25615" y="1367981"/>
                  </a:cubicBezTo>
                  <a:cubicBezTo>
                    <a:pt x="25615" y="1412633"/>
                    <a:pt x="25615" y="1458598"/>
                    <a:pt x="26885" y="1503249"/>
                  </a:cubicBezTo>
                  <a:cubicBezTo>
                    <a:pt x="26885" y="1536081"/>
                    <a:pt x="29425" y="1568913"/>
                    <a:pt x="29425" y="1601745"/>
                  </a:cubicBezTo>
                  <a:cubicBezTo>
                    <a:pt x="29425" y="1637204"/>
                    <a:pt x="29425" y="1672662"/>
                    <a:pt x="28155" y="1708058"/>
                  </a:cubicBezTo>
                  <a:lnTo>
                    <a:pt x="28155" y="1718218"/>
                  </a:lnTo>
                  <a:cubicBezTo>
                    <a:pt x="28155" y="1728378"/>
                    <a:pt x="31965" y="1732188"/>
                    <a:pt x="40855" y="1732188"/>
                  </a:cubicBezTo>
                  <a:cubicBezTo>
                    <a:pt x="62650" y="1732188"/>
                    <a:pt x="87244" y="1733458"/>
                    <a:pt x="110080" y="1733458"/>
                  </a:cubicBezTo>
                  <a:cubicBezTo>
                    <a:pt x="143457" y="1733458"/>
                    <a:pt x="178590" y="1730918"/>
                    <a:pt x="211966" y="1733458"/>
                  </a:cubicBezTo>
                  <a:cubicBezTo>
                    <a:pt x="266423" y="1737268"/>
                    <a:pt x="320879" y="1739808"/>
                    <a:pt x="375335" y="1738538"/>
                  </a:cubicBezTo>
                  <a:cubicBezTo>
                    <a:pt x="410469" y="1737268"/>
                    <a:pt x="443845" y="1739808"/>
                    <a:pt x="478978" y="1739808"/>
                  </a:cubicBezTo>
                  <a:cubicBezTo>
                    <a:pt x="529921" y="1739808"/>
                    <a:pt x="580864" y="1738538"/>
                    <a:pt x="631807" y="1739808"/>
                  </a:cubicBezTo>
                  <a:cubicBezTo>
                    <a:pt x="707344" y="1741078"/>
                    <a:pt x="1536486" y="1730918"/>
                    <a:pt x="1613779" y="1733458"/>
                  </a:cubicBezTo>
                  <a:cubicBezTo>
                    <a:pt x="1647156" y="1734728"/>
                    <a:pt x="1680532" y="1735998"/>
                    <a:pt x="1712152" y="1735998"/>
                  </a:cubicBezTo>
                  <a:cubicBezTo>
                    <a:pt x="1770122" y="1738538"/>
                    <a:pt x="1826335" y="1734728"/>
                    <a:pt x="1884304" y="1738538"/>
                  </a:cubicBezTo>
                  <a:cubicBezTo>
                    <a:pt x="1931734" y="1741078"/>
                    <a:pt x="1979164" y="1741078"/>
                    <a:pt x="2026594" y="1743618"/>
                  </a:cubicBezTo>
                  <a:cubicBezTo>
                    <a:pt x="2096860" y="1747428"/>
                    <a:pt x="2167126" y="1749968"/>
                    <a:pt x="2237393" y="1751238"/>
                  </a:cubicBezTo>
                  <a:cubicBezTo>
                    <a:pt x="2261685" y="1751238"/>
                    <a:pt x="2279464" y="1749968"/>
                    <a:pt x="2299785" y="1749968"/>
                  </a:cubicBezTo>
                  <a:close/>
                </a:path>
              </a:pathLst>
            </a:custGeom>
            <a:solidFill>
              <a:srgbClr val="2A2B39"/>
            </a:solid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7477796" y="3489899"/>
            <a:ext cx="3552319" cy="549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65"/>
              </a:lnSpc>
              <a:spcBef>
                <a:spcPct val="0"/>
              </a:spcBef>
            </a:pPr>
            <a:r>
              <a:rPr lang="en-US" sz="4104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Qué es ? </a:t>
            </a:r>
          </a:p>
        </p:txBody>
      </p:sp>
      <p:sp>
        <p:nvSpPr>
          <p:cNvPr name="Freeform 46" id="46"/>
          <p:cNvSpPr/>
          <p:nvPr/>
        </p:nvSpPr>
        <p:spPr>
          <a:xfrm flipH="false" flipV="false" rot="0">
            <a:off x="8515379" y="2044534"/>
            <a:ext cx="1200316" cy="1441427"/>
          </a:xfrm>
          <a:custGeom>
            <a:avLst/>
            <a:gdLst/>
            <a:ahLst/>
            <a:cxnLst/>
            <a:rect r="r" b="b" t="t" l="l"/>
            <a:pathLst>
              <a:path h="1441427" w="1200316">
                <a:moveTo>
                  <a:pt x="0" y="0"/>
                </a:moveTo>
                <a:lnTo>
                  <a:pt x="1200316" y="0"/>
                </a:lnTo>
                <a:lnTo>
                  <a:pt x="1200316" y="1441427"/>
                </a:lnTo>
                <a:lnTo>
                  <a:pt x="0" y="14414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7" id="47"/>
          <p:cNvGrpSpPr/>
          <p:nvPr/>
        </p:nvGrpSpPr>
        <p:grpSpPr>
          <a:xfrm rot="0">
            <a:off x="952831" y="6530093"/>
            <a:ext cx="4573758" cy="3358346"/>
            <a:chOff x="0" y="0"/>
            <a:chExt cx="2431261" cy="1785187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40005" y="45156"/>
              <a:ext cx="2391256" cy="1739326"/>
            </a:xfrm>
            <a:custGeom>
              <a:avLst/>
              <a:gdLst/>
              <a:ahLst/>
              <a:cxnLst/>
              <a:rect r="r" b="b" t="t" l="l"/>
              <a:pathLst>
                <a:path h="1739326" w="2391256">
                  <a:moveTo>
                    <a:pt x="635" y="1709551"/>
                  </a:moveTo>
                  <a:cubicBezTo>
                    <a:pt x="-1905" y="1718441"/>
                    <a:pt x="3175" y="1724791"/>
                    <a:pt x="15796" y="1726061"/>
                  </a:cubicBezTo>
                  <a:cubicBezTo>
                    <a:pt x="30306" y="1727331"/>
                    <a:pt x="43003" y="1727331"/>
                    <a:pt x="57514" y="1727331"/>
                  </a:cubicBezTo>
                  <a:cubicBezTo>
                    <a:pt x="115556" y="1728601"/>
                    <a:pt x="173598" y="1728601"/>
                    <a:pt x="233454" y="1729871"/>
                  </a:cubicBezTo>
                  <a:cubicBezTo>
                    <a:pt x="266103" y="1731141"/>
                    <a:pt x="298751" y="1732411"/>
                    <a:pt x="329586" y="1733681"/>
                  </a:cubicBezTo>
                  <a:cubicBezTo>
                    <a:pt x="384001" y="1734951"/>
                    <a:pt x="436602" y="1734951"/>
                    <a:pt x="491016" y="1736221"/>
                  </a:cubicBezTo>
                  <a:cubicBezTo>
                    <a:pt x="512782" y="1736221"/>
                    <a:pt x="532734" y="1736221"/>
                    <a:pt x="554500" y="1734951"/>
                  </a:cubicBezTo>
                  <a:cubicBezTo>
                    <a:pt x="563569" y="1734951"/>
                    <a:pt x="574452" y="1733681"/>
                    <a:pt x="583521" y="1733681"/>
                  </a:cubicBezTo>
                  <a:cubicBezTo>
                    <a:pt x="619797" y="1734951"/>
                    <a:pt x="1345325" y="1726061"/>
                    <a:pt x="1381601" y="1727331"/>
                  </a:cubicBezTo>
                  <a:cubicBezTo>
                    <a:pt x="1432388" y="1728601"/>
                    <a:pt x="1572052" y="1728601"/>
                    <a:pt x="1622839" y="1728601"/>
                  </a:cubicBezTo>
                  <a:cubicBezTo>
                    <a:pt x="1642791" y="1728601"/>
                    <a:pt x="1660929" y="1727331"/>
                    <a:pt x="1680881" y="1727331"/>
                  </a:cubicBezTo>
                  <a:lnTo>
                    <a:pt x="1778827" y="1731141"/>
                  </a:lnTo>
                  <a:cubicBezTo>
                    <a:pt x="1849566" y="1733681"/>
                    <a:pt x="1918491" y="1731141"/>
                    <a:pt x="1989230" y="1734951"/>
                  </a:cubicBezTo>
                  <a:cubicBezTo>
                    <a:pt x="2107128" y="1740031"/>
                    <a:pt x="2226840" y="1733681"/>
                    <a:pt x="2327756" y="1738761"/>
                  </a:cubicBezTo>
                  <a:cubicBezTo>
                    <a:pt x="2348076" y="1740031"/>
                    <a:pt x="2368396" y="1738761"/>
                    <a:pt x="2391256" y="1738761"/>
                  </a:cubicBezTo>
                  <a:lnTo>
                    <a:pt x="2391256" y="1679071"/>
                  </a:lnTo>
                  <a:cubicBezTo>
                    <a:pt x="2389986" y="1613304"/>
                    <a:pt x="2388716" y="1550666"/>
                    <a:pt x="2388716" y="1484114"/>
                  </a:cubicBezTo>
                  <a:cubicBezTo>
                    <a:pt x="2388716" y="1407122"/>
                    <a:pt x="2392526" y="1328826"/>
                    <a:pt x="2386176" y="1251834"/>
                  </a:cubicBezTo>
                  <a:cubicBezTo>
                    <a:pt x="2378556" y="1200941"/>
                    <a:pt x="2367126" y="197439"/>
                    <a:pt x="2367126" y="146546"/>
                  </a:cubicBezTo>
                  <a:cubicBezTo>
                    <a:pt x="2364586" y="111313"/>
                    <a:pt x="2363316" y="74774"/>
                    <a:pt x="2360776" y="39541"/>
                  </a:cubicBezTo>
                  <a:cubicBezTo>
                    <a:pt x="2360776" y="29101"/>
                    <a:pt x="2359506" y="18662"/>
                    <a:pt x="2358236" y="5644"/>
                  </a:cubicBezTo>
                  <a:cubicBezTo>
                    <a:pt x="2348076" y="3104"/>
                    <a:pt x="2339186" y="1834"/>
                    <a:pt x="2329026" y="564"/>
                  </a:cubicBezTo>
                  <a:cubicBezTo>
                    <a:pt x="2321406" y="-706"/>
                    <a:pt x="2313786" y="564"/>
                    <a:pt x="2307436" y="564"/>
                  </a:cubicBezTo>
                  <a:lnTo>
                    <a:pt x="6727" y="5644"/>
                  </a:lnTo>
                  <a:lnTo>
                    <a:pt x="635" y="1709551"/>
                  </a:lnTo>
                  <a:close/>
                </a:path>
              </a:pathLst>
            </a:custGeom>
            <a:solidFill>
              <a:srgbClr val="FFC4AA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11430" y="16510"/>
              <a:ext cx="2370301" cy="1730577"/>
            </a:xfrm>
            <a:custGeom>
              <a:avLst/>
              <a:gdLst/>
              <a:ahLst/>
              <a:cxnLst/>
              <a:rect r="r" b="b" t="t" l="l"/>
              <a:pathLst>
                <a:path h="1730577" w="2370301">
                  <a:moveTo>
                    <a:pt x="2370301" y="1730577"/>
                  </a:moveTo>
                  <a:lnTo>
                    <a:pt x="0" y="1722957"/>
                  </a:lnTo>
                  <a:lnTo>
                    <a:pt x="0" y="613653"/>
                  </a:lnTo>
                  <a:lnTo>
                    <a:pt x="7620" y="20320"/>
                  </a:lnTo>
                  <a:lnTo>
                    <a:pt x="1183449" y="0"/>
                  </a:lnTo>
                  <a:lnTo>
                    <a:pt x="2348711" y="8890"/>
                  </a:lnTo>
                  <a:close/>
                </a:path>
              </a:pathLst>
            </a:custGeom>
            <a:solidFill>
              <a:srgbClr val="FFD6C5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-215" y="0"/>
              <a:ext cx="2394645" cy="1756542"/>
            </a:xfrm>
            <a:custGeom>
              <a:avLst/>
              <a:gdLst/>
              <a:ahLst/>
              <a:cxnLst/>
              <a:rect r="r" b="b" t="t" l="l"/>
              <a:pathLst>
                <a:path h="1756542" w="2394645">
                  <a:moveTo>
                    <a:pt x="2361626" y="21590"/>
                  </a:moveTo>
                  <a:cubicBezTo>
                    <a:pt x="2362896" y="34290"/>
                    <a:pt x="2362896" y="44450"/>
                    <a:pt x="2364166" y="54683"/>
                  </a:cubicBezTo>
                  <a:cubicBezTo>
                    <a:pt x="2366706" y="89916"/>
                    <a:pt x="2367976" y="126455"/>
                    <a:pt x="2370516" y="161688"/>
                  </a:cubicBezTo>
                  <a:cubicBezTo>
                    <a:pt x="2370516" y="212581"/>
                    <a:pt x="2383216" y="1216084"/>
                    <a:pt x="2389566" y="1266976"/>
                  </a:cubicBezTo>
                  <a:cubicBezTo>
                    <a:pt x="2395916" y="1343968"/>
                    <a:pt x="2392106" y="1422265"/>
                    <a:pt x="2392106" y="1499256"/>
                  </a:cubicBezTo>
                  <a:cubicBezTo>
                    <a:pt x="2392106" y="1567113"/>
                    <a:pt x="2393376" y="1629751"/>
                    <a:pt x="2394646" y="1696287"/>
                  </a:cubicBezTo>
                  <a:lnTo>
                    <a:pt x="2394646" y="1755977"/>
                  </a:lnTo>
                  <a:cubicBezTo>
                    <a:pt x="2371786" y="1755977"/>
                    <a:pt x="2351466" y="1757247"/>
                    <a:pt x="2331146" y="1755977"/>
                  </a:cubicBezTo>
                  <a:cubicBezTo>
                    <a:pt x="2214459" y="1750897"/>
                    <a:pt x="2094747" y="1757247"/>
                    <a:pt x="1976849" y="1752167"/>
                  </a:cubicBezTo>
                  <a:cubicBezTo>
                    <a:pt x="1906110" y="1748357"/>
                    <a:pt x="1837185" y="1750897"/>
                    <a:pt x="1766446" y="1748357"/>
                  </a:cubicBezTo>
                  <a:lnTo>
                    <a:pt x="1668500" y="1744547"/>
                  </a:lnTo>
                  <a:cubicBezTo>
                    <a:pt x="1648548" y="1744547"/>
                    <a:pt x="1630410" y="1745817"/>
                    <a:pt x="1610458" y="1745817"/>
                  </a:cubicBezTo>
                  <a:cubicBezTo>
                    <a:pt x="1559671" y="1744547"/>
                    <a:pt x="1420007" y="1745817"/>
                    <a:pt x="1369220" y="1744547"/>
                  </a:cubicBezTo>
                  <a:cubicBezTo>
                    <a:pt x="1332944" y="1743277"/>
                    <a:pt x="607417" y="1752167"/>
                    <a:pt x="571140" y="1750897"/>
                  </a:cubicBezTo>
                  <a:cubicBezTo>
                    <a:pt x="562071" y="1750897"/>
                    <a:pt x="551188" y="1752167"/>
                    <a:pt x="542119" y="1752167"/>
                  </a:cubicBezTo>
                  <a:cubicBezTo>
                    <a:pt x="520353" y="1752167"/>
                    <a:pt x="500401" y="1753437"/>
                    <a:pt x="478635" y="1753437"/>
                  </a:cubicBezTo>
                  <a:cubicBezTo>
                    <a:pt x="424221" y="1753437"/>
                    <a:pt x="371620" y="1752167"/>
                    <a:pt x="317206" y="1750897"/>
                  </a:cubicBezTo>
                  <a:cubicBezTo>
                    <a:pt x="284557" y="1749627"/>
                    <a:pt x="251908" y="1748357"/>
                    <a:pt x="221073" y="1747087"/>
                  </a:cubicBezTo>
                  <a:cubicBezTo>
                    <a:pt x="163031" y="1745817"/>
                    <a:pt x="104989" y="1744547"/>
                    <a:pt x="45133" y="1744547"/>
                  </a:cubicBezTo>
                  <a:cubicBezTo>
                    <a:pt x="34505" y="1744547"/>
                    <a:pt x="25615" y="1744547"/>
                    <a:pt x="15455" y="1743277"/>
                  </a:cubicBezTo>
                  <a:cubicBezTo>
                    <a:pt x="6565" y="1742007"/>
                    <a:pt x="1485" y="1735657"/>
                    <a:pt x="4025" y="1726767"/>
                  </a:cubicBezTo>
                  <a:cubicBezTo>
                    <a:pt x="12915" y="1694998"/>
                    <a:pt x="9105" y="1662374"/>
                    <a:pt x="7835" y="1628446"/>
                  </a:cubicBezTo>
                  <a:cubicBezTo>
                    <a:pt x="6565" y="1559284"/>
                    <a:pt x="2755" y="1491427"/>
                    <a:pt x="4025" y="1422265"/>
                  </a:cubicBezTo>
                  <a:cubicBezTo>
                    <a:pt x="1485" y="1336138"/>
                    <a:pt x="-3595" y="269999"/>
                    <a:pt x="4025" y="182567"/>
                  </a:cubicBezTo>
                  <a:cubicBezTo>
                    <a:pt x="5295" y="165603"/>
                    <a:pt x="4025" y="147334"/>
                    <a:pt x="5295" y="130370"/>
                  </a:cubicBezTo>
                  <a:cubicBezTo>
                    <a:pt x="6565" y="102966"/>
                    <a:pt x="9105" y="72952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9643" y="30480"/>
                    <a:pt x="88665" y="29210"/>
                  </a:cubicBezTo>
                  <a:cubicBezTo>
                    <a:pt x="137638" y="25400"/>
                    <a:pt x="186611" y="22860"/>
                    <a:pt x="237398" y="20320"/>
                  </a:cubicBezTo>
                  <a:cubicBezTo>
                    <a:pt x="271860" y="17780"/>
                    <a:pt x="306323" y="16510"/>
                    <a:pt x="338971" y="13970"/>
                  </a:cubicBezTo>
                  <a:cubicBezTo>
                    <a:pt x="371620" y="11430"/>
                    <a:pt x="406083" y="8890"/>
                    <a:pt x="438731" y="8890"/>
                  </a:cubicBezTo>
                  <a:cubicBezTo>
                    <a:pt x="475008" y="7620"/>
                    <a:pt x="511284" y="10160"/>
                    <a:pt x="547561" y="8890"/>
                  </a:cubicBezTo>
                  <a:cubicBezTo>
                    <a:pt x="592906" y="8890"/>
                    <a:pt x="1414566" y="6350"/>
                    <a:pt x="1459911" y="5080"/>
                  </a:cubicBezTo>
                  <a:cubicBezTo>
                    <a:pt x="1503443" y="3810"/>
                    <a:pt x="1546974" y="2540"/>
                    <a:pt x="1592320" y="2540"/>
                  </a:cubicBezTo>
                  <a:cubicBezTo>
                    <a:pt x="1666686" y="1270"/>
                    <a:pt x="1739239" y="0"/>
                    <a:pt x="1813606" y="0"/>
                  </a:cubicBezTo>
                  <a:cubicBezTo>
                    <a:pt x="1844441" y="0"/>
                    <a:pt x="1877089" y="2540"/>
                    <a:pt x="1907924" y="2540"/>
                  </a:cubicBezTo>
                  <a:cubicBezTo>
                    <a:pt x="1993174" y="3810"/>
                    <a:pt x="2080237" y="5080"/>
                    <a:pt x="2165486" y="7620"/>
                  </a:cubicBezTo>
                  <a:cubicBezTo>
                    <a:pt x="2210832" y="8890"/>
                    <a:pt x="2256177" y="12700"/>
                    <a:pt x="2301523" y="16510"/>
                  </a:cubicBezTo>
                  <a:lnTo>
                    <a:pt x="2331146" y="16510"/>
                  </a:lnTo>
                  <a:cubicBezTo>
                    <a:pt x="2342576" y="17780"/>
                    <a:pt x="2351466" y="20320"/>
                    <a:pt x="2361626" y="21590"/>
                  </a:cubicBezTo>
                  <a:close/>
                  <a:moveTo>
                    <a:pt x="2371786" y="1739467"/>
                  </a:moveTo>
                  <a:cubicBezTo>
                    <a:pt x="2373056" y="1722957"/>
                    <a:pt x="2374326" y="1710257"/>
                    <a:pt x="2374326" y="1697557"/>
                  </a:cubicBezTo>
                  <a:cubicBezTo>
                    <a:pt x="2373056" y="1623226"/>
                    <a:pt x="2371786" y="1554064"/>
                    <a:pt x="2371786" y="1479682"/>
                  </a:cubicBezTo>
                  <a:cubicBezTo>
                    <a:pt x="2371786" y="1445754"/>
                    <a:pt x="2374326" y="1411825"/>
                    <a:pt x="2373056" y="1377897"/>
                  </a:cubicBezTo>
                  <a:cubicBezTo>
                    <a:pt x="2373056" y="1346578"/>
                    <a:pt x="2371786" y="1313954"/>
                    <a:pt x="2370516" y="1282636"/>
                  </a:cubicBezTo>
                  <a:cubicBezTo>
                    <a:pt x="2365436" y="1234353"/>
                    <a:pt x="2354006" y="234765"/>
                    <a:pt x="2354006" y="186482"/>
                  </a:cubicBezTo>
                  <a:cubicBezTo>
                    <a:pt x="2351466" y="146029"/>
                    <a:pt x="2348926" y="104271"/>
                    <a:pt x="2346386" y="63818"/>
                  </a:cubicBezTo>
                  <a:cubicBezTo>
                    <a:pt x="2345116" y="44450"/>
                    <a:pt x="2343846" y="43180"/>
                    <a:pt x="2326916" y="41910"/>
                  </a:cubicBezTo>
                  <a:cubicBezTo>
                    <a:pt x="2321475" y="41910"/>
                    <a:pt x="2317847" y="41910"/>
                    <a:pt x="2312406" y="40640"/>
                  </a:cubicBezTo>
                  <a:cubicBezTo>
                    <a:pt x="2267060" y="36830"/>
                    <a:pt x="2219901" y="31750"/>
                    <a:pt x="2174556" y="30480"/>
                  </a:cubicBezTo>
                  <a:cubicBezTo>
                    <a:pt x="2063912" y="26670"/>
                    <a:pt x="1951456" y="25400"/>
                    <a:pt x="1840813" y="22860"/>
                  </a:cubicBezTo>
                  <a:lnTo>
                    <a:pt x="1710218" y="22860"/>
                  </a:lnTo>
                  <a:cubicBezTo>
                    <a:pt x="1652176" y="22860"/>
                    <a:pt x="1594134" y="22860"/>
                    <a:pt x="1537905" y="24130"/>
                  </a:cubicBezTo>
                  <a:cubicBezTo>
                    <a:pt x="1488932" y="25400"/>
                    <a:pt x="663645" y="29210"/>
                    <a:pt x="614672" y="29210"/>
                  </a:cubicBezTo>
                  <a:cubicBezTo>
                    <a:pt x="534864" y="29210"/>
                    <a:pt x="455056" y="26670"/>
                    <a:pt x="375248" y="33020"/>
                  </a:cubicBezTo>
                  <a:cubicBezTo>
                    <a:pt x="333530" y="36830"/>
                    <a:pt x="293626" y="36830"/>
                    <a:pt x="253722" y="38100"/>
                  </a:cubicBezTo>
                  <a:cubicBezTo>
                    <a:pt x="184797" y="41910"/>
                    <a:pt x="115872" y="45720"/>
                    <a:pt x="46947" y="50800"/>
                  </a:cubicBezTo>
                  <a:cubicBezTo>
                    <a:pt x="33235" y="50800"/>
                    <a:pt x="30695" y="53378"/>
                    <a:pt x="29425" y="69037"/>
                  </a:cubicBezTo>
                  <a:cubicBezTo>
                    <a:pt x="28155" y="92526"/>
                    <a:pt x="28155" y="116015"/>
                    <a:pt x="26885" y="139504"/>
                  </a:cubicBezTo>
                  <a:cubicBezTo>
                    <a:pt x="25615" y="178653"/>
                    <a:pt x="23075" y="216496"/>
                    <a:pt x="21805" y="255644"/>
                  </a:cubicBezTo>
                  <a:cubicBezTo>
                    <a:pt x="16725" y="297403"/>
                    <a:pt x="23075" y="1317869"/>
                    <a:pt x="25615" y="1359627"/>
                  </a:cubicBezTo>
                  <a:cubicBezTo>
                    <a:pt x="25615" y="1403996"/>
                    <a:pt x="25615" y="1449669"/>
                    <a:pt x="26885" y="1494037"/>
                  </a:cubicBezTo>
                  <a:cubicBezTo>
                    <a:pt x="26885" y="1526660"/>
                    <a:pt x="29425" y="1559284"/>
                    <a:pt x="29425" y="1591907"/>
                  </a:cubicBezTo>
                  <a:cubicBezTo>
                    <a:pt x="29425" y="1627141"/>
                    <a:pt x="29425" y="1662374"/>
                    <a:pt x="28155" y="1697557"/>
                  </a:cubicBezTo>
                  <a:lnTo>
                    <a:pt x="28155" y="1707717"/>
                  </a:lnTo>
                  <a:cubicBezTo>
                    <a:pt x="28155" y="1717877"/>
                    <a:pt x="31965" y="1721687"/>
                    <a:pt x="40855" y="1721687"/>
                  </a:cubicBezTo>
                  <a:cubicBezTo>
                    <a:pt x="63271" y="1721687"/>
                    <a:pt x="88665" y="1722957"/>
                    <a:pt x="112244" y="1722957"/>
                  </a:cubicBezTo>
                  <a:cubicBezTo>
                    <a:pt x="146707" y="1722957"/>
                    <a:pt x="182983" y="1720417"/>
                    <a:pt x="217446" y="1722957"/>
                  </a:cubicBezTo>
                  <a:cubicBezTo>
                    <a:pt x="273674" y="1726767"/>
                    <a:pt x="329902" y="1729307"/>
                    <a:pt x="386131" y="1728037"/>
                  </a:cubicBezTo>
                  <a:cubicBezTo>
                    <a:pt x="422407" y="1726767"/>
                    <a:pt x="456870" y="1729307"/>
                    <a:pt x="493146" y="1729307"/>
                  </a:cubicBezTo>
                  <a:cubicBezTo>
                    <a:pt x="545747" y="1729307"/>
                    <a:pt x="598347" y="1728037"/>
                    <a:pt x="650948" y="1729307"/>
                  </a:cubicBezTo>
                  <a:cubicBezTo>
                    <a:pt x="728942" y="1730577"/>
                    <a:pt x="1585065" y="1720417"/>
                    <a:pt x="1664872" y="1722957"/>
                  </a:cubicBezTo>
                  <a:cubicBezTo>
                    <a:pt x="1699335" y="1724227"/>
                    <a:pt x="1733798" y="1725497"/>
                    <a:pt x="1766446" y="1725497"/>
                  </a:cubicBezTo>
                  <a:cubicBezTo>
                    <a:pt x="1826302" y="1728037"/>
                    <a:pt x="1884345" y="1724227"/>
                    <a:pt x="1944201" y="1728037"/>
                  </a:cubicBezTo>
                  <a:cubicBezTo>
                    <a:pt x="1993174" y="1730577"/>
                    <a:pt x="2042147" y="1730577"/>
                    <a:pt x="2091120" y="1733117"/>
                  </a:cubicBezTo>
                  <a:cubicBezTo>
                    <a:pt x="2163672" y="1736927"/>
                    <a:pt x="2236225" y="1739467"/>
                    <a:pt x="2308778" y="1740737"/>
                  </a:cubicBezTo>
                  <a:cubicBezTo>
                    <a:pt x="2333686" y="1740737"/>
                    <a:pt x="2351466" y="1739467"/>
                    <a:pt x="2371786" y="1739467"/>
                  </a:cubicBezTo>
                  <a:close/>
                </a:path>
              </a:pathLst>
            </a:custGeom>
            <a:solidFill>
              <a:srgbClr val="2A2B39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2747981" y="6466575"/>
            <a:ext cx="4918693" cy="2608543"/>
            <a:chOff x="0" y="0"/>
            <a:chExt cx="2430408" cy="1288925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40005" y="45156"/>
              <a:ext cx="2390404" cy="1243064"/>
            </a:xfrm>
            <a:custGeom>
              <a:avLst/>
              <a:gdLst/>
              <a:ahLst/>
              <a:cxnLst/>
              <a:rect r="r" b="b" t="t" l="l"/>
              <a:pathLst>
                <a:path h="1243064" w="2390404">
                  <a:moveTo>
                    <a:pt x="635" y="1213289"/>
                  </a:moveTo>
                  <a:cubicBezTo>
                    <a:pt x="-1905" y="1222179"/>
                    <a:pt x="3175" y="1228529"/>
                    <a:pt x="15791" y="1229799"/>
                  </a:cubicBezTo>
                  <a:cubicBezTo>
                    <a:pt x="30296" y="1231069"/>
                    <a:pt x="42988" y="1231069"/>
                    <a:pt x="57493" y="1231069"/>
                  </a:cubicBezTo>
                  <a:cubicBezTo>
                    <a:pt x="115514" y="1232339"/>
                    <a:pt x="173534" y="1232339"/>
                    <a:pt x="233368" y="1233609"/>
                  </a:cubicBezTo>
                  <a:cubicBezTo>
                    <a:pt x="266005" y="1234879"/>
                    <a:pt x="298641" y="1236149"/>
                    <a:pt x="329465" y="1237419"/>
                  </a:cubicBezTo>
                  <a:cubicBezTo>
                    <a:pt x="383859" y="1238689"/>
                    <a:pt x="436440" y="1238689"/>
                    <a:pt x="490834" y="1239959"/>
                  </a:cubicBezTo>
                  <a:cubicBezTo>
                    <a:pt x="512592" y="1239959"/>
                    <a:pt x="532536" y="1239959"/>
                    <a:pt x="554294" y="1238689"/>
                  </a:cubicBezTo>
                  <a:cubicBezTo>
                    <a:pt x="563360" y="1238689"/>
                    <a:pt x="574239" y="1237419"/>
                    <a:pt x="583304" y="1237419"/>
                  </a:cubicBezTo>
                  <a:cubicBezTo>
                    <a:pt x="619567" y="1238689"/>
                    <a:pt x="1344824" y="1229799"/>
                    <a:pt x="1381087" y="1231069"/>
                  </a:cubicBezTo>
                  <a:cubicBezTo>
                    <a:pt x="1431855" y="1232339"/>
                    <a:pt x="1571467" y="1232339"/>
                    <a:pt x="1622234" y="1232339"/>
                  </a:cubicBezTo>
                  <a:cubicBezTo>
                    <a:pt x="1642179" y="1232339"/>
                    <a:pt x="1660310" y="1231069"/>
                    <a:pt x="1680255" y="1231069"/>
                  </a:cubicBezTo>
                  <a:lnTo>
                    <a:pt x="1778165" y="1234879"/>
                  </a:lnTo>
                  <a:cubicBezTo>
                    <a:pt x="1848877" y="1237419"/>
                    <a:pt x="1917776" y="1234879"/>
                    <a:pt x="1988489" y="1238689"/>
                  </a:cubicBezTo>
                  <a:cubicBezTo>
                    <a:pt x="2106343" y="1243769"/>
                    <a:pt x="2226011" y="1237419"/>
                    <a:pt x="2326903" y="1242499"/>
                  </a:cubicBezTo>
                  <a:cubicBezTo>
                    <a:pt x="2347223" y="1243769"/>
                    <a:pt x="2367543" y="1242499"/>
                    <a:pt x="2390403" y="1242499"/>
                  </a:cubicBezTo>
                  <a:lnTo>
                    <a:pt x="2390403" y="1182809"/>
                  </a:lnTo>
                  <a:cubicBezTo>
                    <a:pt x="2389133" y="1128287"/>
                    <a:pt x="2387863" y="1084560"/>
                    <a:pt x="2387863" y="1038101"/>
                  </a:cubicBezTo>
                  <a:cubicBezTo>
                    <a:pt x="2387863" y="984353"/>
                    <a:pt x="2391673" y="929695"/>
                    <a:pt x="2385323" y="875948"/>
                  </a:cubicBezTo>
                  <a:cubicBezTo>
                    <a:pt x="2377703" y="840420"/>
                    <a:pt x="2366273" y="139884"/>
                    <a:pt x="2366273" y="104356"/>
                  </a:cubicBezTo>
                  <a:cubicBezTo>
                    <a:pt x="2363733" y="79760"/>
                    <a:pt x="2362463" y="54253"/>
                    <a:pt x="2359923" y="29657"/>
                  </a:cubicBezTo>
                  <a:cubicBezTo>
                    <a:pt x="2359923" y="22369"/>
                    <a:pt x="2358653" y="15081"/>
                    <a:pt x="2357383" y="5644"/>
                  </a:cubicBezTo>
                  <a:cubicBezTo>
                    <a:pt x="2347223" y="3104"/>
                    <a:pt x="2338333" y="1834"/>
                    <a:pt x="2328173" y="564"/>
                  </a:cubicBezTo>
                  <a:cubicBezTo>
                    <a:pt x="2320553" y="-706"/>
                    <a:pt x="2312933" y="564"/>
                    <a:pt x="2306583" y="564"/>
                  </a:cubicBezTo>
                  <a:lnTo>
                    <a:pt x="6725" y="5644"/>
                  </a:lnTo>
                  <a:lnTo>
                    <a:pt x="635" y="1213289"/>
                  </a:lnTo>
                  <a:close/>
                </a:path>
              </a:pathLst>
            </a:custGeom>
            <a:solidFill>
              <a:srgbClr val="E0F0CB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11430" y="16510"/>
              <a:ext cx="2369448" cy="1234315"/>
            </a:xfrm>
            <a:custGeom>
              <a:avLst/>
              <a:gdLst/>
              <a:ahLst/>
              <a:cxnLst/>
              <a:rect r="r" b="b" t="t" l="l"/>
              <a:pathLst>
                <a:path h="1234315" w="2369448">
                  <a:moveTo>
                    <a:pt x="2369448" y="1234315"/>
                  </a:moveTo>
                  <a:lnTo>
                    <a:pt x="0" y="1226695"/>
                  </a:lnTo>
                  <a:lnTo>
                    <a:pt x="0" y="439088"/>
                  </a:lnTo>
                  <a:lnTo>
                    <a:pt x="7620" y="20320"/>
                  </a:lnTo>
                  <a:lnTo>
                    <a:pt x="1183019" y="0"/>
                  </a:lnTo>
                  <a:lnTo>
                    <a:pt x="2347858" y="8890"/>
                  </a:lnTo>
                  <a:close/>
                </a:path>
              </a:pathLst>
            </a:custGeom>
            <a:solidFill>
              <a:srgbClr val="E0F0CB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-215" y="0"/>
              <a:ext cx="2393793" cy="1260279"/>
            </a:xfrm>
            <a:custGeom>
              <a:avLst/>
              <a:gdLst/>
              <a:ahLst/>
              <a:cxnLst/>
              <a:rect r="r" b="b" t="t" l="l"/>
              <a:pathLst>
                <a:path h="1260279" w="2393793">
                  <a:moveTo>
                    <a:pt x="2360773" y="21590"/>
                  </a:moveTo>
                  <a:cubicBezTo>
                    <a:pt x="2362043" y="34290"/>
                    <a:pt x="2362043" y="44450"/>
                    <a:pt x="2363313" y="53860"/>
                  </a:cubicBezTo>
                  <a:cubicBezTo>
                    <a:pt x="2365853" y="78456"/>
                    <a:pt x="2367123" y="103964"/>
                    <a:pt x="2369663" y="128560"/>
                  </a:cubicBezTo>
                  <a:cubicBezTo>
                    <a:pt x="2369663" y="164088"/>
                    <a:pt x="2382363" y="864624"/>
                    <a:pt x="2388713" y="900152"/>
                  </a:cubicBezTo>
                  <a:cubicBezTo>
                    <a:pt x="2395063" y="953899"/>
                    <a:pt x="2391253" y="1008557"/>
                    <a:pt x="2391253" y="1062304"/>
                  </a:cubicBezTo>
                  <a:cubicBezTo>
                    <a:pt x="2391253" y="1109675"/>
                    <a:pt x="2392523" y="1153401"/>
                    <a:pt x="2393793" y="1200025"/>
                  </a:cubicBezTo>
                  <a:lnTo>
                    <a:pt x="2393793" y="1259715"/>
                  </a:lnTo>
                  <a:cubicBezTo>
                    <a:pt x="2370933" y="1259715"/>
                    <a:pt x="2350613" y="1260985"/>
                    <a:pt x="2330293" y="1259715"/>
                  </a:cubicBezTo>
                  <a:cubicBezTo>
                    <a:pt x="2213649" y="1254635"/>
                    <a:pt x="2093982" y="1260985"/>
                    <a:pt x="1976128" y="1255905"/>
                  </a:cubicBezTo>
                  <a:cubicBezTo>
                    <a:pt x="1905415" y="1252095"/>
                    <a:pt x="1836516" y="1254635"/>
                    <a:pt x="1765804" y="1252095"/>
                  </a:cubicBezTo>
                  <a:lnTo>
                    <a:pt x="1667894" y="1248285"/>
                  </a:lnTo>
                  <a:cubicBezTo>
                    <a:pt x="1647949" y="1248285"/>
                    <a:pt x="1629818" y="1249555"/>
                    <a:pt x="1609873" y="1249555"/>
                  </a:cubicBezTo>
                  <a:cubicBezTo>
                    <a:pt x="1559105" y="1248285"/>
                    <a:pt x="1419493" y="1249555"/>
                    <a:pt x="1368726" y="1248285"/>
                  </a:cubicBezTo>
                  <a:cubicBezTo>
                    <a:pt x="1332463" y="1247015"/>
                    <a:pt x="607206" y="1255905"/>
                    <a:pt x="570943" y="1254635"/>
                  </a:cubicBezTo>
                  <a:cubicBezTo>
                    <a:pt x="561878" y="1254635"/>
                    <a:pt x="550999" y="1255905"/>
                    <a:pt x="541933" y="1255905"/>
                  </a:cubicBezTo>
                  <a:cubicBezTo>
                    <a:pt x="520175" y="1255905"/>
                    <a:pt x="500231" y="1257175"/>
                    <a:pt x="478473" y="1257175"/>
                  </a:cubicBezTo>
                  <a:cubicBezTo>
                    <a:pt x="424079" y="1257175"/>
                    <a:pt x="371498" y="1255905"/>
                    <a:pt x="317104" y="1254635"/>
                  </a:cubicBezTo>
                  <a:cubicBezTo>
                    <a:pt x="284467" y="1253365"/>
                    <a:pt x="251830" y="1252095"/>
                    <a:pt x="221007" y="1250825"/>
                  </a:cubicBezTo>
                  <a:cubicBezTo>
                    <a:pt x="162987" y="1249555"/>
                    <a:pt x="104966" y="1248285"/>
                    <a:pt x="45132" y="1248285"/>
                  </a:cubicBezTo>
                  <a:cubicBezTo>
                    <a:pt x="34505" y="1248285"/>
                    <a:pt x="25615" y="1248285"/>
                    <a:pt x="15455" y="1247015"/>
                  </a:cubicBezTo>
                  <a:cubicBezTo>
                    <a:pt x="6565" y="1245745"/>
                    <a:pt x="1485" y="1239395"/>
                    <a:pt x="4025" y="1230505"/>
                  </a:cubicBezTo>
                  <a:cubicBezTo>
                    <a:pt x="12915" y="1198950"/>
                    <a:pt x="9105" y="1176176"/>
                    <a:pt x="7835" y="1152490"/>
                  </a:cubicBezTo>
                  <a:cubicBezTo>
                    <a:pt x="6565" y="1104209"/>
                    <a:pt x="2755" y="1056838"/>
                    <a:pt x="4025" y="1008557"/>
                  </a:cubicBezTo>
                  <a:cubicBezTo>
                    <a:pt x="1485" y="948433"/>
                    <a:pt x="-3595" y="204170"/>
                    <a:pt x="4025" y="143135"/>
                  </a:cubicBezTo>
                  <a:cubicBezTo>
                    <a:pt x="5295" y="131293"/>
                    <a:pt x="4025" y="118539"/>
                    <a:pt x="5295" y="106697"/>
                  </a:cubicBezTo>
                  <a:cubicBezTo>
                    <a:pt x="6565" y="87566"/>
                    <a:pt x="9105" y="66614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9637" y="30480"/>
                    <a:pt x="88648" y="29210"/>
                  </a:cubicBezTo>
                  <a:cubicBezTo>
                    <a:pt x="137603" y="25400"/>
                    <a:pt x="186557" y="22860"/>
                    <a:pt x="237325" y="20320"/>
                  </a:cubicBezTo>
                  <a:cubicBezTo>
                    <a:pt x="271775" y="17780"/>
                    <a:pt x="306225" y="16510"/>
                    <a:pt x="338861" y="13970"/>
                  </a:cubicBezTo>
                  <a:cubicBezTo>
                    <a:pt x="371498" y="11430"/>
                    <a:pt x="405947" y="8890"/>
                    <a:pt x="438584" y="8890"/>
                  </a:cubicBezTo>
                  <a:cubicBezTo>
                    <a:pt x="474847" y="7620"/>
                    <a:pt x="511110" y="10160"/>
                    <a:pt x="547373" y="8890"/>
                  </a:cubicBezTo>
                  <a:cubicBezTo>
                    <a:pt x="592701" y="8890"/>
                    <a:pt x="1414054" y="6350"/>
                    <a:pt x="1459383" y="5080"/>
                  </a:cubicBezTo>
                  <a:cubicBezTo>
                    <a:pt x="1502898" y="3810"/>
                    <a:pt x="1546413" y="2540"/>
                    <a:pt x="1591742" y="2540"/>
                  </a:cubicBezTo>
                  <a:cubicBezTo>
                    <a:pt x="1666081" y="1270"/>
                    <a:pt x="1738606" y="0"/>
                    <a:pt x="1812945" y="0"/>
                  </a:cubicBezTo>
                  <a:cubicBezTo>
                    <a:pt x="1843769" y="0"/>
                    <a:pt x="1876405" y="2540"/>
                    <a:pt x="1907228" y="2540"/>
                  </a:cubicBezTo>
                  <a:cubicBezTo>
                    <a:pt x="1992446" y="3810"/>
                    <a:pt x="2079477" y="5080"/>
                    <a:pt x="2164695" y="7620"/>
                  </a:cubicBezTo>
                  <a:cubicBezTo>
                    <a:pt x="2210023" y="8890"/>
                    <a:pt x="2255352" y="12700"/>
                    <a:pt x="2300680" y="16510"/>
                  </a:cubicBezTo>
                  <a:lnTo>
                    <a:pt x="2330293" y="16510"/>
                  </a:lnTo>
                  <a:cubicBezTo>
                    <a:pt x="2341723" y="17780"/>
                    <a:pt x="2350613" y="20320"/>
                    <a:pt x="2360773" y="21590"/>
                  </a:cubicBezTo>
                  <a:close/>
                  <a:moveTo>
                    <a:pt x="2370933" y="1243205"/>
                  </a:moveTo>
                  <a:cubicBezTo>
                    <a:pt x="2372203" y="1226695"/>
                    <a:pt x="2373473" y="1213995"/>
                    <a:pt x="2373473" y="1201295"/>
                  </a:cubicBezTo>
                  <a:cubicBezTo>
                    <a:pt x="2372203" y="1148847"/>
                    <a:pt x="2370933" y="1100565"/>
                    <a:pt x="2370933" y="1048640"/>
                  </a:cubicBezTo>
                  <a:cubicBezTo>
                    <a:pt x="2370933" y="1024955"/>
                    <a:pt x="2373473" y="1001269"/>
                    <a:pt x="2372203" y="977584"/>
                  </a:cubicBezTo>
                  <a:cubicBezTo>
                    <a:pt x="2372203" y="955721"/>
                    <a:pt x="2370933" y="932947"/>
                    <a:pt x="2369663" y="911083"/>
                  </a:cubicBezTo>
                  <a:cubicBezTo>
                    <a:pt x="2364583" y="877377"/>
                    <a:pt x="2353153" y="179574"/>
                    <a:pt x="2353153" y="145868"/>
                  </a:cubicBezTo>
                  <a:cubicBezTo>
                    <a:pt x="2350613" y="117628"/>
                    <a:pt x="2348073" y="88477"/>
                    <a:pt x="2345533" y="60237"/>
                  </a:cubicBezTo>
                  <a:cubicBezTo>
                    <a:pt x="2344263" y="44450"/>
                    <a:pt x="2342993" y="43180"/>
                    <a:pt x="2326064" y="41910"/>
                  </a:cubicBezTo>
                  <a:cubicBezTo>
                    <a:pt x="2320625" y="41910"/>
                    <a:pt x="2316999" y="41910"/>
                    <a:pt x="2311559" y="40640"/>
                  </a:cubicBezTo>
                  <a:cubicBezTo>
                    <a:pt x="2266231" y="36830"/>
                    <a:pt x="2219089" y="31750"/>
                    <a:pt x="2173760" y="30480"/>
                  </a:cubicBezTo>
                  <a:cubicBezTo>
                    <a:pt x="2063159" y="26670"/>
                    <a:pt x="1950744" y="25400"/>
                    <a:pt x="1840142" y="22860"/>
                  </a:cubicBezTo>
                  <a:lnTo>
                    <a:pt x="1709596" y="22860"/>
                  </a:lnTo>
                  <a:cubicBezTo>
                    <a:pt x="1651576" y="22860"/>
                    <a:pt x="1593555" y="22860"/>
                    <a:pt x="1537348" y="24130"/>
                  </a:cubicBezTo>
                  <a:cubicBezTo>
                    <a:pt x="1488393" y="25400"/>
                    <a:pt x="663414" y="29210"/>
                    <a:pt x="614459" y="29210"/>
                  </a:cubicBezTo>
                  <a:cubicBezTo>
                    <a:pt x="534680" y="29210"/>
                    <a:pt x="454902" y="26670"/>
                    <a:pt x="375124" y="33020"/>
                  </a:cubicBezTo>
                  <a:cubicBezTo>
                    <a:pt x="333422" y="36830"/>
                    <a:pt x="293533" y="36830"/>
                    <a:pt x="253644" y="38100"/>
                  </a:cubicBezTo>
                  <a:cubicBezTo>
                    <a:pt x="184744" y="41910"/>
                    <a:pt x="115845" y="45720"/>
                    <a:pt x="46945" y="50800"/>
                  </a:cubicBezTo>
                  <a:cubicBezTo>
                    <a:pt x="33235" y="50800"/>
                    <a:pt x="30695" y="52949"/>
                    <a:pt x="29425" y="63881"/>
                  </a:cubicBezTo>
                  <a:cubicBezTo>
                    <a:pt x="28155" y="80278"/>
                    <a:pt x="28155" y="96676"/>
                    <a:pt x="26885" y="113073"/>
                  </a:cubicBezTo>
                  <a:cubicBezTo>
                    <a:pt x="25615" y="140402"/>
                    <a:pt x="23075" y="166821"/>
                    <a:pt x="21805" y="194150"/>
                  </a:cubicBezTo>
                  <a:cubicBezTo>
                    <a:pt x="16725" y="223301"/>
                    <a:pt x="23075" y="935680"/>
                    <a:pt x="25615" y="964831"/>
                  </a:cubicBezTo>
                  <a:cubicBezTo>
                    <a:pt x="25615" y="995804"/>
                    <a:pt x="25615" y="1027688"/>
                    <a:pt x="26885" y="1058660"/>
                  </a:cubicBezTo>
                  <a:cubicBezTo>
                    <a:pt x="26885" y="1081435"/>
                    <a:pt x="29425" y="1104209"/>
                    <a:pt x="29425" y="1126983"/>
                  </a:cubicBezTo>
                  <a:cubicBezTo>
                    <a:pt x="29425" y="1151580"/>
                    <a:pt x="29425" y="1176176"/>
                    <a:pt x="28155" y="1201295"/>
                  </a:cubicBezTo>
                  <a:lnTo>
                    <a:pt x="28155" y="1211455"/>
                  </a:lnTo>
                  <a:cubicBezTo>
                    <a:pt x="28155" y="1221615"/>
                    <a:pt x="31965" y="1225425"/>
                    <a:pt x="40855" y="1225425"/>
                  </a:cubicBezTo>
                  <a:cubicBezTo>
                    <a:pt x="63264" y="1225425"/>
                    <a:pt x="88648" y="1226695"/>
                    <a:pt x="112219" y="1226695"/>
                  </a:cubicBezTo>
                  <a:cubicBezTo>
                    <a:pt x="146668" y="1226695"/>
                    <a:pt x="182931" y="1224155"/>
                    <a:pt x="217381" y="1226695"/>
                  </a:cubicBezTo>
                  <a:cubicBezTo>
                    <a:pt x="273588" y="1230505"/>
                    <a:pt x="329796" y="1233045"/>
                    <a:pt x="386003" y="1231775"/>
                  </a:cubicBezTo>
                  <a:cubicBezTo>
                    <a:pt x="422266" y="1230505"/>
                    <a:pt x="456715" y="1233045"/>
                    <a:pt x="492978" y="1233045"/>
                  </a:cubicBezTo>
                  <a:cubicBezTo>
                    <a:pt x="545559" y="1233045"/>
                    <a:pt x="598140" y="1231775"/>
                    <a:pt x="650722" y="1233045"/>
                  </a:cubicBezTo>
                  <a:cubicBezTo>
                    <a:pt x="728687" y="1234315"/>
                    <a:pt x="1584489" y="1224155"/>
                    <a:pt x="1664268" y="1226695"/>
                  </a:cubicBezTo>
                  <a:cubicBezTo>
                    <a:pt x="1698717" y="1227965"/>
                    <a:pt x="1733167" y="1229235"/>
                    <a:pt x="1765804" y="1229235"/>
                  </a:cubicBezTo>
                  <a:cubicBezTo>
                    <a:pt x="1825637" y="1231775"/>
                    <a:pt x="1883658" y="1227965"/>
                    <a:pt x="1943492" y="1231775"/>
                  </a:cubicBezTo>
                  <a:cubicBezTo>
                    <a:pt x="1992446" y="1234315"/>
                    <a:pt x="2041401" y="1234315"/>
                    <a:pt x="2090356" y="1236855"/>
                  </a:cubicBezTo>
                  <a:cubicBezTo>
                    <a:pt x="2162882" y="1240665"/>
                    <a:pt x="2235407" y="1243205"/>
                    <a:pt x="2307933" y="1244475"/>
                  </a:cubicBezTo>
                  <a:cubicBezTo>
                    <a:pt x="2332833" y="1244475"/>
                    <a:pt x="2350613" y="1243205"/>
                    <a:pt x="2370933" y="1243205"/>
                  </a:cubicBezTo>
                  <a:close/>
                </a:path>
              </a:pathLst>
            </a:custGeom>
            <a:solidFill>
              <a:srgbClr val="282938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2007836" y="6267165"/>
            <a:ext cx="2710331" cy="472193"/>
            <a:chOff x="0" y="0"/>
            <a:chExt cx="2133426" cy="371685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39997" y="45156"/>
              <a:ext cx="2093429" cy="325824"/>
            </a:xfrm>
            <a:custGeom>
              <a:avLst/>
              <a:gdLst/>
              <a:ahLst/>
              <a:cxnLst/>
              <a:rect r="r" b="b" t="t" l="l"/>
              <a:pathLst>
                <a:path h="325824" w="2093429">
                  <a:moveTo>
                    <a:pt x="643" y="296049"/>
                  </a:moveTo>
                  <a:cubicBezTo>
                    <a:pt x="-1897" y="304939"/>
                    <a:pt x="3183" y="311289"/>
                    <a:pt x="14182" y="312559"/>
                  </a:cubicBezTo>
                  <a:cubicBezTo>
                    <a:pt x="26801" y="313829"/>
                    <a:pt x="37842" y="313829"/>
                    <a:pt x="50461" y="313829"/>
                  </a:cubicBezTo>
                  <a:cubicBezTo>
                    <a:pt x="100937" y="315099"/>
                    <a:pt x="151413" y="315099"/>
                    <a:pt x="203466" y="316369"/>
                  </a:cubicBezTo>
                  <a:cubicBezTo>
                    <a:pt x="231859" y="317639"/>
                    <a:pt x="260252" y="318909"/>
                    <a:pt x="287067" y="320179"/>
                  </a:cubicBezTo>
                  <a:cubicBezTo>
                    <a:pt x="334388" y="321449"/>
                    <a:pt x="380132" y="321449"/>
                    <a:pt x="427453" y="322719"/>
                  </a:cubicBezTo>
                  <a:cubicBezTo>
                    <a:pt x="446382" y="322719"/>
                    <a:pt x="463733" y="322719"/>
                    <a:pt x="482661" y="321449"/>
                  </a:cubicBezTo>
                  <a:cubicBezTo>
                    <a:pt x="490548" y="321449"/>
                    <a:pt x="500012" y="320179"/>
                    <a:pt x="507899" y="320179"/>
                  </a:cubicBezTo>
                  <a:cubicBezTo>
                    <a:pt x="539447" y="321449"/>
                    <a:pt x="1170396" y="312559"/>
                    <a:pt x="1201943" y="313829"/>
                  </a:cubicBezTo>
                  <a:cubicBezTo>
                    <a:pt x="1246110" y="315099"/>
                    <a:pt x="1367567" y="315099"/>
                    <a:pt x="1411734" y="315099"/>
                  </a:cubicBezTo>
                  <a:cubicBezTo>
                    <a:pt x="1429085" y="315099"/>
                    <a:pt x="1444859" y="313829"/>
                    <a:pt x="1462210" y="313829"/>
                  </a:cubicBezTo>
                  <a:lnTo>
                    <a:pt x="1547388" y="317639"/>
                  </a:lnTo>
                  <a:cubicBezTo>
                    <a:pt x="1608905" y="320179"/>
                    <a:pt x="1668845" y="317639"/>
                    <a:pt x="1730363" y="321449"/>
                  </a:cubicBezTo>
                  <a:cubicBezTo>
                    <a:pt x="1832892" y="326529"/>
                    <a:pt x="1936999" y="320179"/>
                    <a:pt x="2029929" y="325259"/>
                  </a:cubicBezTo>
                  <a:cubicBezTo>
                    <a:pt x="2050249" y="326529"/>
                    <a:pt x="2070569" y="325259"/>
                    <a:pt x="2093429" y="325259"/>
                  </a:cubicBezTo>
                  <a:lnTo>
                    <a:pt x="2093429" y="265569"/>
                  </a:lnTo>
                  <a:cubicBezTo>
                    <a:pt x="2092159" y="231832"/>
                    <a:pt x="2090889" y="223058"/>
                    <a:pt x="2090889" y="213736"/>
                  </a:cubicBezTo>
                  <a:cubicBezTo>
                    <a:pt x="2090889" y="202951"/>
                    <a:pt x="2094699" y="191984"/>
                    <a:pt x="2088349" y="181199"/>
                  </a:cubicBezTo>
                  <a:cubicBezTo>
                    <a:pt x="2080729" y="174070"/>
                    <a:pt x="2069299" y="33505"/>
                    <a:pt x="2069299" y="26377"/>
                  </a:cubicBezTo>
                  <a:cubicBezTo>
                    <a:pt x="2066759" y="21441"/>
                    <a:pt x="2065489" y="16323"/>
                    <a:pt x="2062949" y="11388"/>
                  </a:cubicBezTo>
                  <a:cubicBezTo>
                    <a:pt x="2062949" y="9926"/>
                    <a:pt x="2061679" y="8463"/>
                    <a:pt x="2060409" y="5644"/>
                  </a:cubicBezTo>
                  <a:cubicBezTo>
                    <a:pt x="2050249" y="3104"/>
                    <a:pt x="2041359" y="1834"/>
                    <a:pt x="2031199" y="564"/>
                  </a:cubicBezTo>
                  <a:cubicBezTo>
                    <a:pt x="2023579" y="-706"/>
                    <a:pt x="2015959" y="564"/>
                    <a:pt x="2009609" y="564"/>
                  </a:cubicBezTo>
                  <a:lnTo>
                    <a:pt x="6295" y="5644"/>
                  </a:lnTo>
                  <a:lnTo>
                    <a:pt x="643" y="296049"/>
                  </a:lnTo>
                  <a:close/>
                </a:path>
              </a:pathLst>
            </a:custGeom>
            <a:solidFill>
              <a:srgbClr val="EE8B61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11430" y="16510"/>
              <a:ext cx="2072466" cy="317075"/>
            </a:xfrm>
            <a:custGeom>
              <a:avLst/>
              <a:gdLst/>
              <a:ahLst/>
              <a:cxnLst/>
              <a:rect r="r" b="b" t="t" l="l"/>
              <a:pathLst>
                <a:path h="317075" w="2072466">
                  <a:moveTo>
                    <a:pt x="2072466" y="317075"/>
                  </a:moveTo>
                  <a:lnTo>
                    <a:pt x="0" y="309455"/>
                  </a:lnTo>
                  <a:lnTo>
                    <a:pt x="0" y="116440"/>
                  </a:lnTo>
                  <a:lnTo>
                    <a:pt x="7620" y="20320"/>
                  </a:lnTo>
                  <a:lnTo>
                    <a:pt x="1033339" y="0"/>
                  </a:lnTo>
                  <a:lnTo>
                    <a:pt x="2050876" y="8890"/>
                  </a:ln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-215" y="0"/>
              <a:ext cx="2096811" cy="343039"/>
            </a:xfrm>
            <a:custGeom>
              <a:avLst/>
              <a:gdLst/>
              <a:ahLst/>
              <a:cxnLst/>
              <a:rect r="r" b="b" t="t" l="l"/>
              <a:pathLst>
                <a:path h="343039" w="2096811">
                  <a:moveTo>
                    <a:pt x="2063791" y="21590"/>
                  </a:moveTo>
                  <a:cubicBezTo>
                    <a:pt x="2065061" y="34290"/>
                    <a:pt x="2065061" y="44450"/>
                    <a:pt x="2066331" y="52340"/>
                  </a:cubicBezTo>
                  <a:cubicBezTo>
                    <a:pt x="2068871" y="57275"/>
                    <a:pt x="2070141" y="62393"/>
                    <a:pt x="2072681" y="67328"/>
                  </a:cubicBezTo>
                  <a:cubicBezTo>
                    <a:pt x="2072681" y="74457"/>
                    <a:pt x="2085381" y="215022"/>
                    <a:pt x="2091731" y="222151"/>
                  </a:cubicBezTo>
                  <a:cubicBezTo>
                    <a:pt x="2098081" y="232936"/>
                    <a:pt x="2094271" y="243903"/>
                    <a:pt x="2094271" y="254687"/>
                  </a:cubicBezTo>
                  <a:cubicBezTo>
                    <a:pt x="2094271" y="264192"/>
                    <a:pt x="2095541" y="272966"/>
                    <a:pt x="2096811" y="282785"/>
                  </a:cubicBezTo>
                  <a:lnTo>
                    <a:pt x="2096811" y="342475"/>
                  </a:lnTo>
                  <a:cubicBezTo>
                    <a:pt x="2073951" y="342475"/>
                    <a:pt x="2053631" y="343745"/>
                    <a:pt x="2033311" y="342475"/>
                  </a:cubicBezTo>
                  <a:cubicBezTo>
                    <a:pt x="1931467" y="337395"/>
                    <a:pt x="1827360" y="343745"/>
                    <a:pt x="1724831" y="338665"/>
                  </a:cubicBezTo>
                  <a:cubicBezTo>
                    <a:pt x="1663314" y="334855"/>
                    <a:pt x="1603374" y="337395"/>
                    <a:pt x="1541856" y="334855"/>
                  </a:cubicBezTo>
                  <a:lnTo>
                    <a:pt x="1456678" y="331045"/>
                  </a:lnTo>
                  <a:cubicBezTo>
                    <a:pt x="1439327" y="331045"/>
                    <a:pt x="1423553" y="332315"/>
                    <a:pt x="1406202" y="332315"/>
                  </a:cubicBezTo>
                  <a:cubicBezTo>
                    <a:pt x="1362035" y="331045"/>
                    <a:pt x="1240578" y="332315"/>
                    <a:pt x="1196411" y="331045"/>
                  </a:cubicBezTo>
                  <a:cubicBezTo>
                    <a:pt x="1164864" y="329775"/>
                    <a:pt x="533915" y="338665"/>
                    <a:pt x="502367" y="337395"/>
                  </a:cubicBezTo>
                  <a:cubicBezTo>
                    <a:pt x="494481" y="337395"/>
                    <a:pt x="485016" y="338665"/>
                    <a:pt x="477130" y="338665"/>
                  </a:cubicBezTo>
                  <a:cubicBezTo>
                    <a:pt x="458201" y="338665"/>
                    <a:pt x="440850" y="339935"/>
                    <a:pt x="421921" y="339935"/>
                  </a:cubicBezTo>
                  <a:cubicBezTo>
                    <a:pt x="374600" y="339935"/>
                    <a:pt x="328856" y="338665"/>
                    <a:pt x="281535" y="337395"/>
                  </a:cubicBezTo>
                  <a:cubicBezTo>
                    <a:pt x="253143" y="336125"/>
                    <a:pt x="224750" y="334855"/>
                    <a:pt x="197935" y="333585"/>
                  </a:cubicBezTo>
                  <a:cubicBezTo>
                    <a:pt x="147459" y="332315"/>
                    <a:pt x="96983" y="331045"/>
                    <a:pt x="44929" y="331045"/>
                  </a:cubicBezTo>
                  <a:cubicBezTo>
                    <a:pt x="34505" y="331045"/>
                    <a:pt x="25615" y="331045"/>
                    <a:pt x="15455" y="329775"/>
                  </a:cubicBezTo>
                  <a:cubicBezTo>
                    <a:pt x="6565" y="328505"/>
                    <a:pt x="1485" y="322155"/>
                    <a:pt x="4025" y="313265"/>
                  </a:cubicBezTo>
                  <a:cubicBezTo>
                    <a:pt x="12915" y="282106"/>
                    <a:pt x="9105" y="277536"/>
                    <a:pt x="7835" y="272784"/>
                  </a:cubicBezTo>
                  <a:cubicBezTo>
                    <a:pt x="6565" y="263096"/>
                    <a:pt x="2755" y="253591"/>
                    <a:pt x="4025" y="243903"/>
                  </a:cubicBezTo>
                  <a:cubicBezTo>
                    <a:pt x="1485" y="231839"/>
                    <a:pt x="-3595" y="82500"/>
                    <a:pt x="4025" y="70253"/>
                  </a:cubicBezTo>
                  <a:cubicBezTo>
                    <a:pt x="5295" y="67877"/>
                    <a:pt x="4025" y="65318"/>
                    <a:pt x="5295" y="62941"/>
                  </a:cubicBezTo>
                  <a:cubicBezTo>
                    <a:pt x="6565" y="59103"/>
                    <a:pt x="9105" y="54899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7548" y="30480"/>
                    <a:pt x="82786" y="29210"/>
                  </a:cubicBezTo>
                  <a:cubicBezTo>
                    <a:pt x="125375" y="25400"/>
                    <a:pt x="167965" y="22860"/>
                    <a:pt x="212131" y="20320"/>
                  </a:cubicBezTo>
                  <a:cubicBezTo>
                    <a:pt x="242101" y="17780"/>
                    <a:pt x="272071" y="16510"/>
                    <a:pt x="300464" y="13970"/>
                  </a:cubicBezTo>
                  <a:cubicBezTo>
                    <a:pt x="328857" y="11430"/>
                    <a:pt x="358827" y="8890"/>
                    <a:pt x="387219" y="8890"/>
                  </a:cubicBezTo>
                  <a:cubicBezTo>
                    <a:pt x="418767" y="7620"/>
                    <a:pt x="450314" y="10160"/>
                    <a:pt x="481862" y="8890"/>
                  </a:cubicBezTo>
                  <a:cubicBezTo>
                    <a:pt x="521296" y="8890"/>
                    <a:pt x="1235846" y="6350"/>
                    <a:pt x="1275280" y="5080"/>
                  </a:cubicBezTo>
                  <a:cubicBezTo>
                    <a:pt x="1313137" y="3810"/>
                    <a:pt x="1350994" y="2540"/>
                    <a:pt x="1390428" y="2540"/>
                  </a:cubicBezTo>
                  <a:cubicBezTo>
                    <a:pt x="1455101" y="1270"/>
                    <a:pt x="1518195" y="0"/>
                    <a:pt x="1582868" y="0"/>
                  </a:cubicBezTo>
                  <a:cubicBezTo>
                    <a:pt x="1609683" y="0"/>
                    <a:pt x="1638076" y="2540"/>
                    <a:pt x="1664891" y="2540"/>
                  </a:cubicBezTo>
                  <a:cubicBezTo>
                    <a:pt x="1739027" y="3810"/>
                    <a:pt x="1814741" y="5080"/>
                    <a:pt x="1888878" y="7620"/>
                  </a:cubicBezTo>
                  <a:cubicBezTo>
                    <a:pt x="1928312" y="8890"/>
                    <a:pt x="1967746" y="12700"/>
                    <a:pt x="2007181" y="16510"/>
                  </a:cubicBezTo>
                  <a:lnTo>
                    <a:pt x="2033311" y="16510"/>
                  </a:lnTo>
                  <a:cubicBezTo>
                    <a:pt x="2044741" y="17780"/>
                    <a:pt x="2053631" y="20320"/>
                    <a:pt x="2063791" y="21590"/>
                  </a:cubicBezTo>
                  <a:close/>
                  <a:moveTo>
                    <a:pt x="2073951" y="325965"/>
                  </a:moveTo>
                  <a:cubicBezTo>
                    <a:pt x="2075221" y="309455"/>
                    <a:pt x="2076491" y="296755"/>
                    <a:pt x="2076491" y="284055"/>
                  </a:cubicBezTo>
                  <a:cubicBezTo>
                    <a:pt x="2075221" y="272052"/>
                    <a:pt x="2073951" y="262365"/>
                    <a:pt x="2073951" y="251946"/>
                  </a:cubicBezTo>
                  <a:cubicBezTo>
                    <a:pt x="2073951" y="247193"/>
                    <a:pt x="2076491" y="242441"/>
                    <a:pt x="2075221" y="237688"/>
                  </a:cubicBezTo>
                  <a:cubicBezTo>
                    <a:pt x="2075221" y="233301"/>
                    <a:pt x="2073951" y="228731"/>
                    <a:pt x="2072681" y="224344"/>
                  </a:cubicBezTo>
                  <a:cubicBezTo>
                    <a:pt x="2067601" y="217581"/>
                    <a:pt x="2056171" y="77565"/>
                    <a:pt x="2056171" y="70801"/>
                  </a:cubicBezTo>
                  <a:cubicBezTo>
                    <a:pt x="2053631" y="65135"/>
                    <a:pt x="2051091" y="59286"/>
                    <a:pt x="2048551" y="53619"/>
                  </a:cubicBezTo>
                  <a:cubicBezTo>
                    <a:pt x="2047281" y="44450"/>
                    <a:pt x="2046011" y="43180"/>
                    <a:pt x="2029264" y="41910"/>
                  </a:cubicBezTo>
                  <a:cubicBezTo>
                    <a:pt x="2024532" y="41910"/>
                    <a:pt x="2021377" y="41910"/>
                    <a:pt x="2016645" y="40640"/>
                  </a:cubicBezTo>
                  <a:cubicBezTo>
                    <a:pt x="1977211" y="36830"/>
                    <a:pt x="1936199" y="31750"/>
                    <a:pt x="1896765" y="30480"/>
                  </a:cubicBezTo>
                  <a:cubicBezTo>
                    <a:pt x="1800545" y="26670"/>
                    <a:pt x="1702748" y="25400"/>
                    <a:pt x="1606528" y="22860"/>
                  </a:cubicBezTo>
                  <a:lnTo>
                    <a:pt x="1492957" y="22860"/>
                  </a:lnTo>
                  <a:cubicBezTo>
                    <a:pt x="1442481" y="22860"/>
                    <a:pt x="1392006" y="22860"/>
                    <a:pt x="1343107" y="24130"/>
                  </a:cubicBezTo>
                  <a:cubicBezTo>
                    <a:pt x="1300518" y="25400"/>
                    <a:pt x="582813" y="29210"/>
                    <a:pt x="540224" y="29210"/>
                  </a:cubicBezTo>
                  <a:cubicBezTo>
                    <a:pt x="470820" y="29210"/>
                    <a:pt x="401416" y="26670"/>
                    <a:pt x="332011" y="33020"/>
                  </a:cubicBezTo>
                  <a:cubicBezTo>
                    <a:pt x="295732" y="36830"/>
                    <a:pt x="261029" y="36830"/>
                    <a:pt x="226327" y="38100"/>
                  </a:cubicBezTo>
                  <a:cubicBezTo>
                    <a:pt x="166387" y="41910"/>
                    <a:pt x="106447" y="45720"/>
                    <a:pt x="46507" y="50800"/>
                  </a:cubicBezTo>
                  <a:cubicBezTo>
                    <a:pt x="33235" y="50800"/>
                    <a:pt x="30695" y="52157"/>
                    <a:pt x="29425" y="54350"/>
                  </a:cubicBezTo>
                  <a:cubicBezTo>
                    <a:pt x="28155" y="57641"/>
                    <a:pt x="28155" y="60931"/>
                    <a:pt x="26885" y="64221"/>
                  </a:cubicBezTo>
                  <a:cubicBezTo>
                    <a:pt x="25615" y="69705"/>
                    <a:pt x="23075" y="75006"/>
                    <a:pt x="21805" y="80489"/>
                  </a:cubicBezTo>
                  <a:cubicBezTo>
                    <a:pt x="16725" y="86339"/>
                    <a:pt x="23075" y="229280"/>
                    <a:pt x="25615" y="235129"/>
                  </a:cubicBezTo>
                  <a:cubicBezTo>
                    <a:pt x="25615" y="241344"/>
                    <a:pt x="25615" y="247741"/>
                    <a:pt x="26885" y="253956"/>
                  </a:cubicBezTo>
                  <a:cubicBezTo>
                    <a:pt x="26885" y="258526"/>
                    <a:pt x="29425" y="263096"/>
                    <a:pt x="29425" y="267666"/>
                  </a:cubicBezTo>
                  <a:cubicBezTo>
                    <a:pt x="29425" y="272601"/>
                    <a:pt x="29425" y="277536"/>
                    <a:pt x="28155" y="284055"/>
                  </a:cubicBezTo>
                  <a:lnTo>
                    <a:pt x="28155" y="294215"/>
                  </a:lnTo>
                  <a:cubicBezTo>
                    <a:pt x="28155" y="304375"/>
                    <a:pt x="31965" y="308185"/>
                    <a:pt x="40855" y="308185"/>
                  </a:cubicBezTo>
                  <a:cubicBezTo>
                    <a:pt x="60703" y="308185"/>
                    <a:pt x="82786" y="309455"/>
                    <a:pt x="103292" y="309455"/>
                  </a:cubicBezTo>
                  <a:cubicBezTo>
                    <a:pt x="133262" y="309455"/>
                    <a:pt x="164810" y="306915"/>
                    <a:pt x="194780" y="309455"/>
                  </a:cubicBezTo>
                  <a:cubicBezTo>
                    <a:pt x="243678" y="313265"/>
                    <a:pt x="292577" y="315805"/>
                    <a:pt x="341476" y="314535"/>
                  </a:cubicBezTo>
                  <a:cubicBezTo>
                    <a:pt x="373023" y="313265"/>
                    <a:pt x="402993" y="315805"/>
                    <a:pt x="434540" y="315805"/>
                  </a:cubicBezTo>
                  <a:cubicBezTo>
                    <a:pt x="480284" y="315805"/>
                    <a:pt x="526028" y="314535"/>
                    <a:pt x="571772" y="315805"/>
                  </a:cubicBezTo>
                  <a:cubicBezTo>
                    <a:pt x="639599" y="317075"/>
                    <a:pt x="1384119" y="306915"/>
                    <a:pt x="1453523" y="309455"/>
                  </a:cubicBezTo>
                  <a:cubicBezTo>
                    <a:pt x="1483493" y="310725"/>
                    <a:pt x="1513463" y="311995"/>
                    <a:pt x="1541856" y="311995"/>
                  </a:cubicBezTo>
                  <a:cubicBezTo>
                    <a:pt x="1593909" y="314535"/>
                    <a:pt x="1644385" y="310725"/>
                    <a:pt x="1696439" y="314535"/>
                  </a:cubicBezTo>
                  <a:cubicBezTo>
                    <a:pt x="1739027" y="317075"/>
                    <a:pt x="1781617" y="317075"/>
                    <a:pt x="1824206" y="319615"/>
                  </a:cubicBezTo>
                  <a:cubicBezTo>
                    <a:pt x="1887301" y="323425"/>
                    <a:pt x="1950395" y="325965"/>
                    <a:pt x="2013490" y="327235"/>
                  </a:cubicBezTo>
                  <a:cubicBezTo>
                    <a:pt x="2035851" y="327235"/>
                    <a:pt x="2053631" y="325965"/>
                    <a:pt x="2073951" y="325965"/>
                  </a:cubicBezTo>
                  <a:close/>
                </a:path>
              </a:pathLst>
            </a:custGeom>
            <a:solidFill>
              <a:srgbClr val="2A2B39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3957656" y="6344482"/>
            <a:ext cx="2870654" cy="500300"/>
            <a:chOff x="0" y="0"/>
            <a:chExt cx="2132678" cy="371685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39997" y="45156"/>
              <a:ext cx="2092681" cy="325824"/>
            </a:xfrm>
            <a:custGeom>
              <a:avLst/>
              <a:gdLst/>
              <a:ahLst/>
              <a:cxnLst/>
              <a:rect r="r" b="b" t="t" l="l"/>
              <a:pathLst>
                <a:path h="325824" w="2092681">
                  <a:moveTo>
                    <a:pt x="643" y="296049"/>
                  </a:moveTo>
                  <a:cubicBezTo>
                    <a:pt x="-1897" y="304939"/>
                    <a:pt x="3183" y="311289"/>
                    <a:pt x="14178" y="312559"/>
                  </a:cubicBezTo>
                  <a:cubicBezTo>
                    <a:pt x="26792" y="313829"/>
                    <a:pt x="37829" y="313829"/>
                    <a:pt x="50444" y="313829"/>
                  </a:cubicBezTo>
                  <a:cubicBezTo>
                    <a:pt x="100900" y="315099"/>
                    <a:pt x="151357" y="315099"/>
                    <a:pt x="203391" y="316369"/>
                  </a:cubicBezTo>
                  <a:cubicBezTo>
                    <a:pt x="231773" y="317639"/>
                    <a:pt x="260155" y="318909"/>
                    <a:pt x="286960" y="320179"/>
                  </a:cubicBezTo>
                  <a:cubicBezTo>
                    <a:pt x="334264" y="321449"/>
                    <a:pt x="379990" y="321449"/>
                    <a:pt x="427294" y="322719"/>
                  </a:cubicBezTo>
                  <a:cubicBezTo>
                    <a:pt x="446215" y="322719"/>
                    <a:pt x="463560" y="322719"/>
                    <a:pt x="482481" y="321449"/>
                  </a:cubicBezTo>
                  <a:cubicBezTo>
                    <a:pt x="490365" y="321449"/>
                    <a:pt x="499825" y="320179"/>
                    <a:pt x="507709" y="320179"/>
                  </a:cubicBezTo>
                  <a:cubicBezTo>
                    <a:pt x="539245" y="321449"/>
                    <a:pt x="1169956" y="312559"/>
                    <a:pt x="1201492" y="313829"/>
                  </a:cubicBezTo>
                  <a:cubicBezTo>
                    <a:pt x="1245642" y="315099"/>
                    <a:pt x="1367054" y="315099"/>
                    <a:pt x="1411203" y="315099"/>
                  </a:cubicBezTo>
                  <a:cubicBezTo>
                    <a:pt x="1428548" y="315099"/>
                    <a:pt x="1444316" y="313829"/>
                    <a:pt x="1461660" y="313829"/>
                  </a:cubicBezTo>
                  <a:lnTo>
                    <a:pt x="1546806" y="317639"/>
                  </a:lnTo>
                  <a:cubicBezTo>
                    <a:pt x="1608301" y="320179"/>
                    <a:pt x="1668218" y="317639"/>
                    <a:pt x="1729713" y="321449"/>
                  </a:cubicBezTo>
                  <a:cubicBezTo>
                    <a:pt x="1832203" y="326529"/>
                    <a:pt x="1936271" y="320179"/>
                    <a:pt x="2029181" y="325259"/>
                  </a:cubicBezTo>
                  <a:cubicBezTo>
                    <a:pt x="2049501" y="326529"/>
                    <a:pt x="2069821" y="325259"/>
                    <a:pt x="2092681" y="325259"/>
                  </a:cubicBezTo>
                  <a:lnTo>
                    <a:pt x="2092681" y="265569"/>
                  </a:lnTo>
                  <a:cubicBezTo>
                    <a:pt x="2091411" y="231832"/>
                    <a:pt x="2090141" y="223058"/>
                    <a:pt x="2090141" y="213736"/>
                  </a:cubicBezTo>
                  <a:cubicBezTo>
                    <a:pt x="2090141" y="202951"/>
                    <a:pt x="2093951" y="191984"/>
                    <a:pt x="2087601" y="181199"/>
                  </a:cubicBezTo>
                  <a:cubicBezTo>
                    <a:pt x="2079981" y="174070"/>
                    <a:pt x="2068551" y="33505"/>
                    <a:pt x="2068551" y="26377"/>
                  </a:cubicBezTo>
                  <a:cubicBezTo>
                    <a:pt x="2066011" y="21441"/>
                    <a:pt x="2064741" y="16323"/>
                    <a:pt x="2062201" y="11388"/>
                  </a:cubicBezTo>
                  <a:cubicBezTo>
                    <a:pt x="2062201" y="9926"/>
                    <a:pt x="2060931" y="8463"/>
                    <a:pt x="2059661" y="5644"/>
                  </a:cubicBezTo>
                  <a:cubicBezTo>
                    <a:pt x="2049501" y="3104"/>
                    <a:pt x="2040611" y="1834"/>
                    <a:pt x="2030451" y="564"/>
                  </a:cubicBezTo>
                  <a:cubicBezTo>
                    <a:pt x="2022831" y="-706"/>
                    <a:pt x="2015211" y="564"/>
                    <a:pt x="2008861" y="564"/>
                  </a:cubicBezTo>
                  <a:lnTo>
                    <a:pt x="6294" y="5644"/>
                  </a:lnTo>
                  <a:lnTo>
                    <a:pt x="643" y="296049"/>
                  </a:lnTo>
                  <a:close/>
                </a:path>
              </a:pathLst>
            </a:custGeom>
            <a:solidFill>
              <a:srgbClr val="96C15E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11430" y="16510"/>
              <a:ext cx="2071718" cy="317075"/>
            </a:xfrm>
            <a:custGeom>
              <a:avLst/>
              <a:gdLst/>
              <a:ahLst/>
              <a:cxnLst/>
              <a:rect r="r" b="b" t="t" l="l"/>
              <a:pathLst>
                <a:path h="317075" w="2071718">
                  <a:moveTo>
                    <a:pt x="2071718" y="317075"/>
                  </a:moveTo>
                  <a:lnTo>
                    <a:pt x="0" y="309455"/>
                  </a:lnTo>
                  <a:lnTo>
                    <a:pt x="0" y="116440"/>
                  </a:lnTo>
                  <a:lnTo>
                    <a:pt x="7620" y="20320"/>
                  </a:lnTo>
                  <a:lnTo>
                    <a:pt x="1032962" y="0"/>
                  </a:lnTo>
                  <a:lnTo>
                    <a:pt x="2050128" y="8890"/>
                  </a:ln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-215" y="0"/>
              <a:ext cx="2096063" cy="343039"/>
            </a:xfrm>
            <a:custGeom>
              <a:avLst/>
              <a:gdLst/>
              <a:ahLst/>
              <a:cxnLst/>
              <a:rect r="r" b="b" t="t" l="l"/>
              <a:pathLst>
                <a:path h="343039" w="2096063">
                  <a:moveTo>
                    <a:pt x="2063043" y="21590"/>
                  </a:moveTo>
                  <a:cubicBezTo>
                    <a:pt x="2064313" y="34290"/>
                    <a:pt x="2064313" y="44450"/>
                    <a:pt x="2065583" y="52340"/>
                  </a:cubicBezTo>
                  <a:cubicBezTo>
                    <a:pt x="2068123" y="57275"/>
                    <a:pt x="2069393" y="62393"/>
                    <a:pt x="2071933" y="67328"/>
                  </a:cubicBezTo>
                  <a:cubicBezTo>
                    <a:pt x="2071933" y="74457"/>
                    <a:pt x="2084633" y="215022"/>
                    <a:pt x="2090983" y="222151"/>
                  </a:cubicBezTo>
                  <a:cubicBezTo>
                    <a:pt x="2097333" y="232936"/>
                    <a:pt x="2093523" y="243903"/>
                    <a:pt x="2093523" y="254687"/>
                  </a:cubicBezTo>
                  <a:cubicBezTo>
                    <a:pt x="2093523" y="264192"/>
                    <a:pt x="2094793" y="272966"/>
                    <a:pt x="2096063" y="282785"/>
                  </a:cubicBezTo>
                  <a:lnTo>
                    <a:pt x="2096063" y="342475"/>
                  </a:lnTo>
                  <a:cubicBezTo>
                    <a:pt x="2073203" y="342475"/>
                    <a:pt x="2052883" y="343745"/>
                    <a:pt x="2032563" y="342475"/>
                  </a:cubicBezTo>
                  <a:cubicBezTo>
                    <a:pt x="1930756" y="337395"/>
                    <a:pt x="1826689" y="343745"/>
                    <a:pt x="1724198" y="338665"/>
                  </a:cubicBezTo>
                  <a:cubicBezTo>
                    <a:pt x="1662704" y="334855"/>
                    <a:pt x="1602786" y="337395"/>
                    <a:pt x="1541292" y="334855"/>
                  </a:cubicBezTo>
                  <a:lnTo>
                    <a:pt x="1456146" y="331045"/>
                  </a:lnTo>
                  <a:cubicBezTo>
                    <a:pt x="1438801" y="331045"/>
                    <a:pt x="1423033" y="332315"/>
                    <a:pt x="1405689" y="332315"/>
                  </a:cubicBezTo>
                  <a:cubicBezTo>
                    <a:pt x="1361539" y="331045"/>
                    <a:pt x="1240127" y="332315"/>
                    <a:pt x="1195977" y="331045"/>
                  </a:cubicBezTo>
                  <a:cubicBezTo>
                    <a:pt x="1164442" y="329775"/>
                    <a:pt x="533730" y="338665"/>
                    <a:pt x="502195" y="337395"/>
                  </a:cubicBezTo>
                  <a:cubicBezTo>
                    <a:pt x="494311" y="337395"/>
                    <a:pt x="484850" y="338665"/>
                    <a:pt x="476966" y="338665"/>
                  </a:cubicBezTo>
                  <a:cubicBezTo>
                    <a:pt x="458045" y="338665"/>
                    <a:pt x="440700" y="339935"/>
                    <a:pt x="421779" y="339935"/>
                  </a:cubicBezTo>
                  <a:cubicBezTo>
                    <a:pt x="374476" y="339935"/>
                    <a:pt x="328749" y="338665"/>
                    <a:pt x="281446" y="337395"/>
                  </a:cubicBezTo>
                  <a:cubicBezTo>
                    <a:pt x="253064" y="336125"/>
                    <a:pt x="224682" y="334855"/>
                    <a:pt x="197876" y="333585"/>
                  </a:cubicBezTo>
                  <a:cubicBezTo>
                    <a:pt x="147420" y="332315"/>
                    <a:pt x="96963" y="331045"/>
                    <a:pt x="44929" y="331045"/>
                  </a:cubicBezTo>
                  <a:cubicBezTo>
                    <a:pt x="34505" y="331045"/>
                    <a:pt x="25615" y="331045"/>
                    <a:pt x="15455" y="329775"/>
                  </a:cubicBezTo>
                  <a:cubicBezTo>
                    <a:pt x="6565" y="328505"/>
                    <a:pt x="1485" y="322155"/>
                    <a:pt x="4025" y="313265"/>
                  </a:cubicBezTo>
                  <a:cubicBezTo>
                    <a:pt x="12915" y="282106"/>
                    <a:pt x="9105" y="277536"/>
                    <a:pt x="7835" y="272784"/>
                  </a:cubicBezTo>
                  <a:cubicBezTo>
                    <a:pt x="6565" y="263096"/>
                    <a:pt x="2755" y="253591"/>
                    <a:pt x="4025" y="243903"/>
                  </a:cubicBezTo>
                  <a:cubicBezTo>
                    <a:pt x="1485" y="231839"/>
                    <a:pt x="-3595" y="82500"/>
                    <a:pt x="4025" y="70253"/>
                  </a:cubicBezTo>
                  <a:cubicBezTo>
                    <a:pt x="5295" y="67877"/>
                    <a:pt x="4025" y="65318"/>
                    <a:pt x="5295" y="62941"/>
                  </a:cubicBezTo>
                  <a:cubicBezTo>
                    <a:pt x="6565" y="59103"/>
                    <a:pt x="9105" y="54899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7543" y="30480"/>
                    <a:pt x="82772" y="29210"/>
                  </a:cubicBezTo>
                  <a:cubicBezTo>
                    <a:pt x="125345" y="25400"/>
                    <a:pt x="167918" y="22860"/>
                    <a:pt x="212067" y="20320"/>
                  </a:cubicBezTo>
                  <a:cubicBezTo>
                    <a:pt x="242026" y="17780"/>
                    <a:pt x="271985" y="16510"/>
                    <a:pt x="300367" y="13970"/>
                  </a:cubicBezTo>
                  <a:cubicBezTo>
                    <a:pt x="328749" y="11430"/>
                    <a:pt x="358708" y="8890"/>
                    <a:pt x="387090" y="8890"/>
                  </a:cubicBezTo>
                  <a:cubicBezTo>
                    <a:pt x="418626" y="7620"/>
                    <a:pt x="450161" y="10160"/>
                    <a:pt x="481697" y="8890"/>
                  </a:cubicBezTo>
                  <a:cubicBezTo>
                    <a:pt x="521116" y="8890"/>
                    <a:pt x="1235397" y="6350"/>
                    <a:pt x="1274816" y="5080"/>
                  </a:cubicBezTo>
                  <a:cubicBezTo>
                    <a:pt x="1312659" y="3810"/>
                    <a:pt x="1350502" y="2540"/>
                    <a:pt x="1389921" y="2540"/>
                  </a:cubicBezTo>
                  <a:cubicBezTo>
                    <a:pt x="1454569" y="1270"/>
                    <a:pt x="1517640" y="0"/>
                    <a:pt x="1582288" y="0"/>
                  </a:cubicBezTo>
                  <a:cubicBezTo>
                    <a:pt x="1609093" y="0"/>
                    <a:pt x="1637475" y="2540"/>
                    <a:pt x="1664280" y="2540"/>
                  </a:cubicBezTo>
                  <a:cubicBezTo>
                    <a:pt x="1738389" y="3810"/>
                    <a:pt x="1814074" y="5080"/>
                    <a:pt x="1888183" y="7620"/>
                  </a:cubicBezTo>
                  <a:cubicBezTo>
                    <a:pt x="1927603" y="8890"/>
                    <a:pt x="1967022" y="12700"/>
                    <a:pt x="2006442" y="16510"/>
                  </a:cubicBezTo>
                  <a:lnTo>
                    <a:pt x="2032563" y="16510"/>
                  </a:lnTo>
                  <a:cubicBezTo>
                    <a:pt x="2043993" y="17780"/>
                    <a:pt x="2052883" y="20320"/>
                    <a:pt x="2063043" y="21590"/>
                  </a:cubicBezTo>
                  <a:close/>
                  <a:moveTo>
                    <a:pt x="2073203" y="325965"/>
                  </a:moveTo>
                  <a:cubicBezTo>
                    <a:pt x="2074473" y="309455"/>
                    <a:pt x="2075743" y="296755"/>
                    <a:pt x="2075743" y="284055"/>
                  </a:cubicBezTo>
                  <a:cubicBezTo>
                    <a:pt x="2074473" y="272052"/>
                    <a:pt x="2073203" y="262365"/>
                    <a:pt x="2073203" y="251946"/>
                  </a:cubicBezTo>
                  <a:cubicBezTo>
                    <a:pt x="2073203" y="247193"/>
                    <a:pt x="2075743" y="242441"/>
                    <a:pt x="2074473" y="237688"/>
                  </a:cubicBezTo>
                  <a:cubicBezTo>
                    <a:pt x="2074473" y="233301"/>
                    <a:pt x="2073203" y="228731"/>
                    <a:pt x="2071933" y="224344"/>
                  </a:cubicBezTo>
                  <a:cubicBezTo>
                    <a:pt x="2066853" y="217581"/>
                    <a:pt x="2055423" y="77565"/>
                    <a:pt x="2055423" y="70801"/>
                  </a:cubicBezTo>
                  <a:cubicBezTo>
                    <a:pt x="2052883" y="65135"/>
                    <a:pt x="2050343" y="59286"/>
                    <a:pt x="2047803" y="53619"/>
                  </a:cubicBezTo>
                  <a:cubicBezTo>
                    <a:pt x="2046533" y="44450"/>
                    <a:pt x="2045263" y="43180"/>
                    <a:pt x="2028516" y="41910"/>
                  </a:cubicBezTo>
                  <a:cubicBezTo>
                    <a:pt x="2023786" y="41910"/>
                    <a:pt x="2020633" y="41910"/>
                    <a:pt x="2015902" y="40640"/>
                  </a:cubicBezTo>
                  <a:cubicBezTo>
                    <a:pt x="1976483" y="36830"/>
                    <a:pt x="1935487" y="31750"/>
                    <a:pt x="1896067" y="30480"/>
                  </a:cubicBezTo>
                  <a:cubicBezTo>
                    <a:pt x="1799884" y="26670"/>
                    <a:pt x="1702123" y="25400"/>
                    <a:pt x="1605940" y="22860"/>
                  </a:cubicBezTo>
                  <a:lnTo>
                    <a:pt x="1492412" y="22860"/>
                  </a:lnTo>
                  <a:cubicBezTo>
                    <a:pt x="1441955" y="22860"/>
                    <a:pt x="1391498" y="22860"/>
                    <a:pt x="1342618" y="24130"/>
                  </a:cubicBezTo>
                  <a:cubicBezTo>
                    <a:pt x="1300045" y="25400"/>
                    <a:pt x="582610" y="29210"/>
                    <a:pt x="540037" y="29210"/>
                  </a:cubicBezTo>
                  <a:cubicBezTo>
                    <a:pt x="470659" y="29210"/>
                    <a:pt x="401281" y="26670"/>
                    <a:pt x="331903" y="33020"/>
                  </a:cubicBezTo>
                  <a:cubicBezTo>
                    <a:pt x="295637" y="36830"/>
                    <a:pt x="260948" y="36830"/>
                    <a:pt x="226258" y="38100"/>
                  </a:cubicBezTo>
                  <a:cubicBezTo>
                    <a:pt x="166341" y="41910"/>
                    <a:pt x="106423" y="45720"/>
                    <a:pt x="46506" y="50800"/>
                  </a:cubicBezTo>
                  <a:cubicBezTo>
                    <a:pt x="33235" y="50800"/>
                    <a:pt x="30695" y="52157"/>
                    <a:pt x="29425" y="54350"/>
                  </a:cubicBezTo>
                  <a:cubicBezTo>
                    <a:pt x="28155" y="57641"/>
                    <a:pt x="28155" y="60931"/>
                    <a:pt x="26885" y="64221"/>
                  </a:cubicBezTo>
                  <a:cubicBezTo>
                    <a:pt x="25615" y="69705"/>
                    <a:pt x="23075" y="75006"/>
                    <a:pt x="21805" y="80489"/>
                  </a:cubicBezTo>
                  <a:cubicBezTo>
                    <a:pt x="16725" y="86339"/>
                    <a:pt x="23075" y="229280"/>
                    <a:pt x="25615" y="235129"/>
                  </a:cubicBezTo>
                  <a:cubicBezTo>
                    <a:pt x="25615" y="241344"/>
                    <a:pt x="25615" y="247741"/>
                    <a:pt x="26885" y="253956"/>
                  </a:cubicBezTo>
                  <a:cubicBezTo>
                    <a:pt x="26885" y="258526"/>
                    <a:pt x="29425" y="263096"/>
                    <a:pt x="29425" y="267666"/>
                  </a:cubicBezTo>
                  <a:cubicBezTo>
                    <a:pt x="29425" y="272601"/>
                    <a:pt x="29425" y="277536"/>
                    <a:pt x="28155" y="284055"/>
                  </a:cubicBezTo>
                  <a:lnTo>
                    <a:pt x="28155" y="294215"/>
                  </a:lnTo>
                  <a:cubicBezTo>
                    <a:pt x="28155" y="304375"/>
                    <a:pt x="31965" y="308185"/>
                    <a:pt x="40855" y="308185"/>
                  </a:cubicBezTo>
                  <a:cubicBezTo>
                    <a:pt x="60697" y="308185"/>
                    <a:pt x="82772" y="309455"/>
                    <a:pt x="103270" y="309455"/>
                  </a:cubicBezTo>
                  <a:cubicBezTo>
                    <a:pt x="133229" y="309455"/>
                    <a:pt x="164764" y="306915"/>
                    <a:pt x="194723" y="309455"/>
                  </a:cubicBezTo>
                  <a:cubicBezTo>
                    <a:pt x="243603" y="313265"/>
                    <a:pt x="292483" y="315805"/>
                    <a:pt x="341363" y="314535"/>
                  </a:cubicBezTo>
                  <a:cubicBezTo>
                    <a:pt x="372899" y="313265"/>
                    <a:pt x="402858" y="315805"/>
                    <a:pt x="434393" y="315805"/>
                  </a:cubicBezTo>
                  <a:cubicBezTo>
                    <a:pt x="480120" y="315805"/>
                    <a:pt x="525846" y="314535"/>
                    <a:pt x="571573" y="315805"/>
                  </a:cubicBezTo>
                  <a:cubicBezTo>
                    <a:pt x="639374" y="317075"/>
                    <a:pt x="1383614" y="306915"/>
                    <a:pt x="1452992" y="309455"/>
                  </a:cubicBezTo>
                  <a:cubicBezTo>
                    <a:pt x="1482951" y="310725"/>
                    <a:pt x="1512910" y="311995"/>
                    <a:pt x="1541292" y="311995"/>
                  </a:cubicBezTo>
                  <a:cubicBezTo>
                    <a:pt x="1593326" y="314535"/>
                    <a:pt x="1643783" y="310725"/>
                    <a:pt x="1695816" y="314535"/>
                  </a:cubicBezTo>
                  <a:cubicBezTo>
                    <a:pt x="1738389" y="317075"/>
                    <a:pt x="1780962" y="317075"/>
                    <a:pt x="1823535" y="319615"/>
                  </a:cubicBezTo>
                  <a:cubicBezTo>
                    <a:pt x="1886606" y="323425"/>
                    <a:pt x="1949678" y="325965"/>
                    <a:pt x="2012749" y="327235"/>
                  </a:cubicBezTo>
                  <a:cubicBezTo>
                    <a:pt x="2035103" y="327235"/>
                    <a:pt x="2052883" y="325965"/>
                    <a:pt x="2073203" y="325965"/>
                  </a:cubicBezTo>
                  <a:close/>
                </a:path>
              </a:pathLst>
            </a:custGeom>
            <a:solidFill>
              <a:srgbClr val="2A2B39"/>
            </a:solidFill>
          </p:spPr>
        </p:sp>
      </p:grpSp>
      <p:sp>
        <p:nvSpPr>
          <p:cNvPr name="TextBox 63" id="63"/>
          <p:cNvSpPr txBox="true"/>
          <p:nvPr/>
        </p:nvSpPr>
        <p:spPr>
          <a:xfrm rot="0">
            <a:off x="2452141" y="6210995"/>
            <a:ext cx="1771589" cy="429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33"/>
              </a:lnSpc>
              <a:spcBef>
                <a:spcPct val="0"/>
              </a:spcBef>
            </a:pPr>
            <a:r>
              <a:rPr lang="en-US" sz="2238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Tareas que realiza 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223942" y="6106220"/>
            <a:ext cx="5251330" cy="3580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37"/>
              </a:lnSpc>
            </a:pPr>
          </a:p>
          <a:p>
            <a:pPr algn="just">
              <a:lnSpc>
                <a:spcPts val="3137"/>
              </a:lnSpc>
            </a:pPr>
          </a:p>
          <a:p>
            <a:pPr algn="just">
              <a:lnSpc>
                <a:spcPts val="3137"/>
              </a:lnSpc>
            </a:pPr>
            <a:r>
              <a:rPr lang="en-US" sz="2394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Monitorización</a:t>
            </a:r>
          </a:p>
          <a:p>
            <a:pPr algn="just">
              <a:lnSpc>
                <a:spcPts val="3137"/>
              </a:lnSpc>
            </a:pPr>
            <a:r>
              <a:rPr lang="en-US" sz="2394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Diseño</a:t>
            </a:r>
          </a:p>
          <a:p>
            <a:pPr algn="just">
              <a:lnSpc>
                <a:spcPts val="3137"/>
              </a:lnSpc>
            </a:pPr>
            <a:r>
              <a:rPr lang="en-US" sz="2394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Planificación</a:t>
            </a:r>
          </a:p>
          <a:p>
            <a:pPr algn="just">
              <a:lnSpc>
                <a:spcPts val="3137"/>
              </a:lnSpc>
            </a:pPr>
            <a:r>
              <a:rPr lang="en-US" sz="2394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Control</a:t>
            </a:r>
          </a:p>
          <a:p>
            <a:pPr algn="just">
              <a:lnSpc>
                <a:spcPts val="3137"/>
              </a:lnSpc>
            </a:pPr>
            <a:r>
              <a:rPr lang="en-US" sz="2394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Simulación</a:t>
            </a:r>
          </a:p>
          <a:p>
            <a:pPr algn="just">
              <a:lnSpc>
                <a:spcPts val="3137"/>
              </a:lnSpc>
            </a:pPr>
            <a:r>
              <a:rPr lang="en-US" sz="2394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Instrucción</a:t>
            </a:r>
          </a:p>
          <a:p>
            <a:pPr algn="just" marL="0" indent="0" lvl="0">
              <a:lnSpc>
                <a:spcPts val="3137"/>
              </a:lnSpc>
            </a:pPr>
            <a:r>
              <a:rPr lang="en-US" sz="2394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Recuperación de información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2827008" y="6959082"/>
            <a:ext cx="4671596" cy="1742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1"/>
              </a:lnSpc>
            </a:pPr>
            <a:r>
              <a:rPr lang="en-US" sz="2131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* Basados en reglas previamente establecidas.</a:t>
            </a:r>
          </a:p>
          <a:p>
            <a:pPr algn="just">
              <a:lnSpc>
                <a:spcPts val="2791"/>
              </a:lnSpc>
            </a:pPr>
            <a:r>
              <a:rPr lang="en-US" sz="2131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* Basados en casos o CBR (Case BasedReasoning).</a:t>
            </a:r>
          </a:p>
          <a:p>
            <a:pPr algn="just" marL="0" indent="0" lvl="0">
              <a:lnSpc>
                <a:spcPts val="2791"/>
              </a:lnSpc>
            </a:pPr>
            <a:r>
              <a:rPr lang="en-US" sz="2131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* Basados en redes bayesianas.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6969135" y="6530093"/>
            <a:ext cx="5200307" cy="2883390"/>
            <a:chOff x="0" y="0"/>
            <a:chExt cx="2650028" cy="1469349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40010" y="45156"/>
              <a:ext cx="2610018" cy="1423488"/>
            </a:xfrm>
            <a:custGeom>
              <a:avLst/>
              <a:gdLst/>
              <a:ahLst/>
              <a:cxnLst/>
              <a:rect r="r" b="b" t="t" l="l"/>
              <a:pathLst>
                <a:path h="1423488" w="2610018">
                  <a:moveTo>
                    <a:pt x="630" y="1393713"/>
                  </a:moveTo>
                  <a:cubicBezTo>
                    <a:pt x="-1910" y="1402603"/>
                    <a:pt x="3170" y="1408953"/>
                    <a:pt x="16982" y="1410223"/>
                  </a:cubicBezTo>
                  <a:cubicBezTo>
                    <a:pt x="32882" y="1411493"/>
                    <a:pt x="46795" y="1411493"/>
                    <a:pt x="62695" y="1411493"/>
                  </a:cubicBezTo>
                  <a:cubicBezTo>
                    <a:pt x="126294" y="1412763"/>
                    <a:pt x="189894" y="1412763"/>
                    <a:pt x="255482" y="1414033"/>
                  </a:cubicBezTo>
                  <a:cubicBezTo>
                    <a:pt x="291256" y="1415303"/>
                    <a:pt x="327031" y="1416573"/>
                    <a:pt x="360819" y="1417843"/>
                  </a:cubicBezTo>
                  <a:cubicBezTo>
                    <a:pt x="420443" y="1419113"/>
                    <a:pt x="478081" y="1419113"/>
                    <a:pt x="537706" y="1420383"/>
                  </a:cubicBezTo>
                  <a:cubicBezTo>
                    <a:pt x="561556" y="1420383"/>
                    <a:pt x="583418" y="1420383"/>
                    <a:pt x="607268" y="1419113"/>
                  </a:cubicBezTo>
                  <a:cubicBezTo>
                    <a:pt x="617205" y="1419113"/>
                    <a:pt x="629130" y="1417843"/>
                    <a:pt x="639068" y="1417843"/>
                  </a:cubicBezTo>
                  <a:cubicBezTo>
                    <a:pt x="678818" y="1419113"/>
                    <a:pt x="1473815" y="1410223"/>
                    <a:pt x="1513565" y="1411493"/>
                  </a:cubicBezTo>
                  <a:cubicBezTo>
                    <a:pt x="1569215" y="1412763"/>
                    <a:pt x="1722252" y="1412763"/>
                    <a:pt x="1777902" y="1412763"/>
                  </a:cubicBezTo>
                  <a:cubicBezTo>
                    <a:pt x="1799764" y="1412763"/>
                    <a:pt x="1819639" y="1411493"/>
                    <a:pt x="1841501" y="1411493"/>
                  </a:cubicBezTo>
                  <a:lnTo>
                    <a:pt x="1948826" y="1415303"/>
                  </a:lnTo>
                  <a:cubicBezTo>
                    <a:pt x="2026338" y="1417843"/>
                    <a:pt x="2101863" y="1415303"/>
                    <a:pt x="2179375" y="1419113"/>
                  </a:cubicBezTo>
                  <a:cubicBezTo>
                    <a:pt x="2308562" y="1424193"/>
                    <a:pt x="2439737" y="1417843"/>
                    <a:pt x="2546518" y="1422923"/>
                  </a:cubicBezTo>
                  <a:cubicBezTo>
                    <a:pt x="2566838" y="1424193"/>
                    <a:pt x="2587158" y="1422923"/>
                    <a:pt x="2610018" y="1422923"/>
                  </a:cubicBezTo>
                  <a:lnTo>
                    <a:pt x="2610018" y="1363233"/>
                  </a:lnTo>
                  <a:cubicBezTo>
                    <a:pt x="2608748" y="1304622"/>
                    <a:pt x="2607478" y="1254020"/>
                    <a:pt x="2607478" y="1200256"/>
                  </a:cubicBezTo>
                  <a:cubicBezTo>
                    <a:pt x="2607478" y="1138058"/>
                    <a:pt x="2611288" y="1074805"/>
                    <a:pt x="2604938" y="1012607"/>
                  </a:cubicBezTo>
                  <a:cubicBezTo>
                    <a:pt x="2597318" y="971493"/>
                    <a:pt x="2585888" y="160809"/>
                    <a:pt x="2585888" y="119695"/>
                  </a:cubicBezTo>
                  <a:cubicBezTo>
                    <a:pt x="2583348" y="91231"/>
                    <a:pt x="2582078" y="61714"/>
                    <a:pt x="2579538" y="33250"/>
                  </a:cubicBezTo>
                  <a:cubicBezTo>
                    <a:pt x="2579538" y="24816"/>
                    <a:pt x="2578268" y="16383"/>
                    <a:pt x="2576998" y="5644"/>
                  </a:cubicBezTo>
                  <a:cubicBezTo>
                    <a:pt x="2566838" y="3104"/>
                    <a:pt x="2557948" y="1834"/>
                    <a:pt x="2547788" y="564"/>
                  </a:cubicBezTo>
                  <a:cubicBezTo>
                    <a:pt x="2540168" y="-706"/>
                    <a:pt x="2532548" y="564"/>
                    <a:pt x="2526198" y="564"/>
                  </a:cubicBezTo>
                  <a:lnTo>
                    <a:pt x="7045" y="5644"/>
                  </a:lnTo>
                  <a:lnTo>
                    <a:pt x="630" y="1393713"/>
                  </a:lnTo>
                  <a:close/>
                </a:path>
              </a:pathLst>
            </a:custGeom>
            <a:solidFill>
              <a:srgbClr val="2C2C2F"/>
            </a:solidFill>
          </p:spPr>
        </p:sp>
        <p:sp>
          <p:nvSpPr>
            <p:cNvPr name="Freeform 68" id="68"/>
            <p:cNvSpPr/>
            <p:nvPr/>
          </p:nvSpPr>
          <p:spPr>
            <a:xfrm flipH="false" flipV="false" rot="0">
              <a:off x="11430" y="16510"/>
              <a:ext cx="2589068" cy="1414739"/>
            </a:xfrm>
            <a:custGeom>
              <a:avLst/>
              <a:gdLst/>
              <a:ahLst/>
              <a:cxnLst/>
              <a:rect r="r" b="b" t="t" l="l"/>
              <a:pathLst>
                <a:path h="1414739" w="2589068">
                  <a:moveTo>
                    <a:pt x="2589068" y="1414739"/>
                  </a:moveTo>
                  <a:lnTo>
                    <a:pt x="0" y="1407119"/>
                  </a:lnTo>
                  <a:lnTo>
                    <a:pt x="0" y="502554"/>
                  </a:lnTo>
                  <a:lnTo>
                    <a:pt x="7620" y="20320"/>
                  </a:lnTo>
                  <a:lnTo>
                    <a:pt x="1293708" y="0"/>
                  </a:lnTo>
                  <a:lnTo>
                    <a:pt x="2567478" y="8890"/>
                  </a:lnTo>
                  <a:close/>
                </a:path>
              </a:pathLst>
            </a:custGeom>
            <a:solidFill>
              <a:srgbClr val="C7D5FD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-215" y="0"/>
              <a:ext cx="2613412" cy="1440703"/>
            </a:xfrm>
            <a:custGeom>
              <a:avLst/>
              <a:gdLst/>
              <a:ahLst/>
              <a:cxnLst/>
              <a:rect r="r" b="b" t="t" l="l"/>
              <a:pathLst>
                <a:path h="1440703" w="2613412">
                  <a:moveTo>
                    <a:pt x="2580393" y="21590"/>
                  </a:moveTo>
                  <a:cubicBezTo>
                    <a:pt x="2581663" y="34290"/>
                    <a:pt x="2581663" y="44450"/>
                    <a:pt x="2582933" y="54159"/>
                  </a:cubicBezTo>
                  <a:cubicBezTo>
                    <a:pt x="2585473" y="82623"/>
                    <a:pt x="2586743" y="112141"/>
                    <a:pt x="2589283" y="140604"/>
                  </a:cubicBezTo>
                  <a:cubicBezTo>
                    <a:pt x="2589283" y="181718"/>
                    <a:pt x="2601983" y="992403"/>
                    <a:pt x="2608333" y="1033516"/>
                  </a:cubicBezTo>
                  <a:cubicBezTo>
                    <a:pt x="2614683" y="1095715"/>
                    <a:pt x="2610873" y="1158967"/>
                    <a:pt x="2610873" y="1221165"/>
                  </a:cubicBezTo>
                  <a:cubicBezTo>
                    <a:pt x="2610873" y="1275984"/>
                    <a:pt x="2612143" y="1326586"/>
                    <a:pt x="2613413" y="1380449"/>
                  </a:cubicBezTo>
                  <a:lnTo>
                    <a:pt x="2613413" y="1440139"/>
                  </a:lnTo>
                  <a:cubicBezTo>
                    <a:pt x="2590553" y="1440139"/>
                    <a:pt x="2570233" y="1441409"/>
                    <a:pt x="2549913" y="1440139"/>
                  </a:cubicBezTo>
                  <a:cubicBezTo>
                    <a:pt x="2422325" y="1435059"/>
                    <a:pt x="2291150" y="1441409"/>
                    <a:pt x="2161963" y="1436329"/>
                  </a:cubicBezTo>
                  <a:cubicBezTo>
                    <a:pt x="2084451" y="1432519"/>
                    <a:pt x="2008926" y="1435059"/>
                    <a:pt x="1931414" y="1432519"/>
                  </a:cubicBezTo>
                  <a:lnTo>
                    <a:pt x="1824089" y="1428709"/>
                  </a:lnTo>
                  <a:cubicBezTo>
                    <a:pt x="1802227" y="1428709"/>
                    <a:pt x="1782352" y="1429979"/>
                    <a:pt x="1760489" y="1429979"/>
                  </a:cubicBezTo>
                  <a:cubicBezTo>
                    <a:pt x="1704839" y="1428709"/>
                    <a:pt x="1551802" y="1429979"/>
                    <a:pt x="1496153" y="1428709"/>
                  </a:cubicBezTo>
                  <a:cubicBezTo>
                    <a:pt x="1456403" y="1427439"/>
                    <a:pt x="661405" y="1436329"/>
                    <a:pt x="621655" y="1435059"/>
                  </a:cubicBezTo>
                  <a:cubicBezTo>
                    <a:pt x="611718" y="1435059"/>
                    <a:pt x="599793" y="1436329"/>
                    <a:pt x="589856" y="1436329"/>
                  </a:cubicBezTo>
                  <a:cubicBezTo>
                    <a:pt x="566006" y="1436329"/>
                    <a:pt x="544143" y="1437599"/>
                    <a:pt x="520293" y="1437599"/>
                  </a:cubicBezTo>
                  <a:cubicBezTo>
                    <a:pt x="460668" y="1437599"/>
                    <a:pt x="403031" y="1436329"/>
                    <a:pt x="343406" y="1435059"/>
                  </a:cubicBezTo>
                  <a:cubicBezTo>
                    <a:pt x="307631" y="1433789"/>
                    <a:pt x="271857" y="1432519"/>
                    <a:pt x="238069" y="1431249"/>
                  </a:cubicBezTo>
                  <a:cubicBezTo>
                    <a:pt x="174469" y="1429979"/>
                    <a:pt x="110870" y="1428709"/>
                    <a:pt x="45282" y="1428709"/>
                  </a:cubicBezTo>
                  <a:cubicBezTo>
                    <a:pt x="34505" y="1428709"/>
                    <a:pt x="25615" y="1428709"/>
                    <a:pt x="15455" y="1427439"/>
                  </a:cubicBezTo>
                  <a:cubicBezTo>
                    <a:pt x="6565" y="1426169"/>
                    <a:pt x="1485" y="1419819"/>
                    <a:pt x="4025" y="1410929"/>
                  </a:cubicBezTo>
                  <a:cubicBezTo>
                    <a:pt x="12915" y="1379296"/>
                    <a:pt x="9105" y="1352941"/>
                    <a:pt x="7835" y="1325531"/>
                  </a:cubicBezTo>
                  <a:cubicBezTo>
                    <a:pt x="6565" y="1269659"/>
                    <a:pt x="2755" y="1214840"/>
                    <a:pt x="4025" y="1158967"/>
                  </a:cubicBezTo>
                  <a:cubicBezTo>
                    <a:pt x="1485" y="1089389"/>
                    <a:pt x="-3595" y="228103"/>
                    <a:pt x="4025" y="157472"/>
                  </a:cubicBezTo>
                  <a:cubicBezTo>
                    <a:pt x="5295" y="143767"/>
                    <a:pt x="4025" y="129008"/>
                    <a:pt x="5295" y="115303"/>
                  </a:cubicBezTo>
                  <a:cubicBezTo>
                    <a:pt x="6565" y="93165"/>
                    <a:pt x="9105" y="68918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61182" y="30480"/>
                    <a:pt x="92982" y="29210"/>
                  </a:cubicBezTo>
                  <a:cubicBezTo>
                    <a:pt x="146645" y="25400"/>
                    <a:pt x="200307" y="22860"/>
                    <a:pt x="255957" y="20320"/>
                  </a:cubicBezTo>
                  <a:cubicBezTo>
                    <a:pt x="293719" y="17780"/>
                    <a:pt x="331481" y="16510"/>
                    <a:pt x="367256" y="13970"/>
                  </a:cubicBezTo>
                  <a:cubicBezTo>
                    <a:pt x="403031" y="11430"/>
                    <a:pt x="440794" y="8890"/>
                    <a:pt x="476568" y="8890"/>
                  </a:cubicBezTo>
                  <a:cubicBezTo>
                    <a:pt x="516318" y="7620"/>
                    <a:pt x="556068" y="10160"/>
                    <a:pt x="595818" y="8890"/>
                  </a:cubicBezTo>
                  <a:cubicBezTo>
                    <a:pt x="645505" y="8890"/>
                    <a:pt x="1545840" y="6350"/>
                    <a:pt x="1595527" y="5080"/>
                  </a:cubicBezTo>
                  <a:cubicBezTo>
                    <a:pt x="1643227" y="3810"/>
                    <a:pt x="1690927" y="2540"/>
                    <a:pt x="1740614" y="2540"/>
                  </a:cubicBezTo>
                  <a:cubicBezTo>
                    <a:pt x="1822102" y="1270"/>
                    <a:pt x="1901601" y="0"/>
                    <a:pt x="1983089" y="0"/>
                  </a:cubicBezTo>
                  <a:cubicBezTo>
                    <a:pt x="2016876" y="0"/>
                    <a:pt x="2052651" y="2540"/>
                    <a:pt x="2086438" y="2540"/>
                  </a:cubicBezTo>
                  <a:cubicBezTo>
                    <a:pt x="2179850" y="3810"/>
                    <a:pt x="2275250" y="5080"/>
                    <a:pt x="2368662" y="7620"/>
                  </a:cubicBezTo>
                  <a:cubicBezTo>
                    <a:pt x="2418350" y="8890"/>
                    <a:pt x="2468037" y="12700"/>
                    <a:pt x="2517724" y="16510"/>
                  </a:cubicBezTo>
                  <a:lnTo>
                    <a:pt x="2549913" y="16510"/>
                  </a:lnTo>
                  <a:cubicBezTo>
                    <a:pt x="2561343" y="17780"/>
                    <a:pt x="2570233" y="20320"/>
                    <a:pt x="2580393" y="21590"/>
                  </a:cubicBezTo>
                  <a:close/>
                  <a:moveTo>
                    <a:pt x="2590553" y="1423629"/>
                  </a:moveTo>
                  <a:cubicBezTo>
                    <a:pt x="2591823" y="1407119"/>
                    <a:pt x="2593093" y="1394419"/>
                    <a:pt x="2593093" y="1381719"/>
                  </a:cubicBezTo>
                  <a:cubicBezTo>
                    <a:pt x="2591823" y="1321315"/>
                    <a:pt x="2590553" y="1265442"/>
                    <a:pt x="2590553" y="1205352"/>
                  </a:cubicBezTo>
                  <a:cubicBezTo>
                    <a:pt x="2590553" y="1177943"/>
                    <a:pt x="2593093" y="1150533"/>
                    <a:pt x="2591823" y="1123124"/>
                  </a:cubicBezTo>
                  <a:cubicBezTo>
                    <a:pt x="2591823" y="1097823"/>
                    <a:pt x="2590553" y="1071468"/>
                    <a:pt x="2589283" y="1046167"/>
                  </a:cubicBezTo>
                  <a:cubicBezTo>
                    <a:pt x="2584203" y="1007161"/>
                    <a:pt x="2572773" y="199640"/>
                    <a:pt x="2572773" y="160634"/>
                  </a:cubicBezTo>
                  <a:cubicBezTo>
                    <a:pt x="2570233" y="127954"/>
                    <a:pt x="2567693" y="94219"/>
                    <a:pt x="2565153" y="61539"/>
                  </a:cubicBezTo>
                  <a:cubicBezTo>
                    <a:pt x="2563883" y="44450"/>
                    <a:pt x="2562613" y="43180"/>
                    <a:pt x="2545549" y="41910"/>
                  </a:cubicBezTo>
                  <a:cubicBezTo>
                    <a:pt x="2539587" y="41910"/>
                    <a:pt x="2535612" y="41910"/>
                    <a:pt x="2529649" y="40640"/>
                  </a:cubicBezTo>
                  <a:cubicBezTo>
                    <a:pt x="2479962" y="36830"/>
                    <a:pt x="2428287" y="31750"/>
                    <a:pt x="2378600" y="30480"/>
                  </a:cubicBezTo>
                  <a:cubicBezTo>
                    <a:pt x="2257363" y="26670"/>
                    <a:pt x="2134138" y="25400"/>
                    <a:pt x="2012901" y="22860"/>
                  </a:cubicBezTo>
                  <a:lnTo>
                    <a:pt x="1869801" y="22860"/>
                  </a:lnTo>
                  <a:cubicBezTo>
                    <a:pt x="1806201" y="22860"/>
                    <a:pt x="1742602" y="22860"/>
                    <a:pt x="1680990" y="24130"/>
                  </a:cubicBezTo>
                  <a:cubicBezTo>
                    <a:pt x="1627327" y="25400"/>
                    <a:pt x="723018" y="29210"/>
                    <a:pt x="669355" y="29210"/>
                  </a:cubicBezTo>
                  <a:cubicBezTo>
                    <a:pt x="581906" y="29210"/>
                    <a:pt x="494456" y="26670"/>
                    <a:pt x="407006" y="33020"/>
                  </a:cubicBezTo>
                  <a:cubicBezTo>
                    <a:pt x="361294" y="36830"/>
                    <a:pt x="317569" y="36830"/>
                    <a:pt x="273844" y="38100"/>
                  </a:cubicBezTo>
                  <a:cubicBezTo>
                    <a:pt x="198319" y="41910"/>
                    <a:pt x="122795" y="45720"/>
                    <a:pt x="47270" y="50800"/>
                  </a:cubicBezTo>
                  <a:cubicBezTo>
                    <a:pt x="33235" y="50800"/>
                    <a:pt x="30695" y="53105"/>
                    <a:pt x="29425" y="65756"/>
                  </a:cubicBezTo>
                  <a:cubicBezTo>
                    <a:pt x="28155" y="84731"/>
                    <a:pt x="28155" y="103707"/>
                    <a:pt x="26885" y="122683"/>
                  </a:cubicBezTo>
                  <a:cubicBezTo>
                    <a:pt x="25615" y="154309"/>
                    <a:pt x="23075" y="184881"/>
                    <a:pt x="21805" y="216507"/>
                  </a:cubicBezTo>
                  <a:cubicBezTo>
                    <a:pt x="16725" y="250242"/>
                    <a:pt x="23075" y="1074631"/>
                    <a:pt x="25615" y="1108365"/>
                  </a:cubicBezTo>
                  <a:cubicBezTo>
                    <a:pt x="25615" y="1144208"/>
                    <a:pt x="25615" y="1181105"/>
                    <a:pt x="26885" y="1216948"/>
                  </a:cubicBezTo>
                  <a:cubicBezTo>
                    <a:pt x="26885" y="1243303"/>
                    <a:pt x="29425" y="1269659"/>
                    <a:pt x="29425" y="1296014"/>
                  </a:cubicBezTo>
                  <a:cubicBezTo>
                    <a:pt x="29425" y="1324477"/>
                    <a:pt x="29425" y="1352941"/>
                    <a:pt x="28155" y="1381719"/>
                  </a:cubicBezTo>
                  <a:lnTo>
                    <a:pt x="28155" y="1391879"/>
                  </a:lnTo>
                  <a:cubicBezTo>
                    <a:pt x="28155" y="1402039"/>
                    <a:pt x="31965" y="1405849"/>
                    <a:pt x="40855" y="1405849"/>
                  </a:cubicBezTo>
                  <a:cubicBezTo>
                    <a:pt x="65157" y="1405849"/>
                    <a:pt x="92982" y="1407119"/>
                    <a:pt x="118820" y="1407119"/>
                  </a:cubicBezTo>
                  <a:cubicBezTo>
                    <a:pt x="156582" y="1407119"/>
                    <a:pt x="196332" y="1404579"/>
                    <a:pt x="234094" y="1407119"/>
                  </a:cubicBezTo>
                  <a:cubicBezTo>
                    <a:pt x="295707" y="1410929"/>
                    <a:pt x="357319" y="1413469"/>
                    <a:pt x="418931" y="1412199"/>
                  </a:cubicBezTo>
                  <a:cubicBezTo>
                    <a:pt x="458681" y="1410929"/>
                    <a:pt x="496443" y="1413469"/>
                    <a:pt x="536193" y="1413469"/>
                  </a:cubicBezTo>
                  <a:cubicBezTo>
                    <a:pt x="593831" y="1413469"/>
                    <a:pt x="651468" y="1412199"/>
                    <a:pt x="709105" y="1413469"/>
                  </a:cubicBezTo>
                  <a:cubicBezTo>
                    <a:pt x="794567" y="1414739"/>
                    <a:pt x="1732664" y="1404579"/>
                    <a:pt x="1820114" y="1407119"/>
                  </a:cubicBezTo>
                  <a:cubicBezTo>
                    <a:pt x="1857876" y="1408389"/>
                    <a:pt x="1895639" y="1409659"/>
                    <a:pt x="1931414" y="1409659"/>
                  </a:cubicBezTo>
                  <a:cubicBezTo>
                    <a:pt x="1997001" y="1412199"/>
                    <a:pt x="2060601" y="1408389"/>
                    <a:pt x="2126188" y="1412199"/>
                  </a:cubicBezTo>
                  <a:cubicBezTo>
                    <a:pt x="2179850" y="1414739"/>
                    <a:pt x="2233513" y="1414739"/>
                    <a:pt x="2287175" y="1417279"/>
                  </a:cubicBezTo>
                  <a:cubicBezTo>
                    <a:pt x="2366675" y="1421089"/>
                    <a:pt x="2446175" y="1423629"/>
                    <a:pt x="2525674" y="1424899"/>
                  </a:cubicBezTo>
                  <a:cubicBezTo>
                    <a:pt x="2552453" y="1424899"/>
                    <a:pt x="2570233" y="1423629"/>
                    <a:pt x="2590553" y="1423629"/>
                  </a:cubicBezTo>
                  <a:close/>
                </a:path>
              </a:pathLst>
            </a:custGeom>
            <a:solidFill>
              <a:srgbClr val="C7D5FD"/>
            </a:solidFill>
          </p:spPr>
        </p:sp>
      </p:grpSp>
      <p:sp>
        <p:nvSpPr>
          <p:cNvPr name="Freeform 70" id="70"/>
          <p:cNvSpPr/>
          <p:nvPr/>
        </p:nvSpPr>
        <p:spPr>
          <a:xfrm flipH="false" flipV="false" rot="0">
            <a:off x="8043784" y="6640734"/>
            <a:ext cx="2966083" cy="755003"/>
          </a:xfrm>
          <a:custGeom>
            <a:avLst/>
            <a:gdLst/>
            <a:ahLst/>
            <a:cxnLst/>
            <a:rect r="r" b="b" t="t" l="l"/>
            <a:pathLst>
              <a:path h="755003" w="2966083">
                <a:moveTo>
                  <a:pt x="0" y="0"/>
                </a:moveTo>
                <a:lnTo>
                  <a:pt x="2966083" y="0"/>
                </a:lnTo>
                <a:lnTo>
                  <a:pt x="2966083" y="755002"/>
                </a:lnTo>
                <a:lnTo>
                  <a:pt x="0" y="7550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1" id="71"/>
          <p:cNvSpPr txBox="true"/>
          <p:nvPr/>
        </p:nvSpPr>
        <p:spPr>
          <a:xfrm rot="0">
            <a:off x="7376416" y="6501518"/>
            <a:ext cx="5989105" cy="2803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22"/>
              </a:lnSpc>
            </a:pPr>
          </a:p>
          <a:p>
            <a:pPr algn="just">
              <a:lnSpc>
                <a:spcPts val="3222"/>
              </a:lnSpc>
            </a:pPr>
          </a:p>
          <a:p>
            <a:pPr algn="just" marL="0" indent="0" lvl="0">
              <a:lnSpc>
                <a:spcPts val="3222"/>
              </a:lnSpc>
            </a:pPr>
            <a:r>
              <a:rPr lang="en-US" sz="2517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*</a:t>
            </a:r>
            <a:r>
              <a:rPr lang="en-US" sz="2517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P</a:t>
            </a:r>
            <a:r>
              <a:rPr lang="en-US" sz="2517" strike="noStrike" u="none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e</a:t>
            </a:r>
            <a:r>
              <a:rPr lang="en-US" sz="2517" strike="noStrike" u="none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r</a:t>
            </a:r>
            <a:r>
              <a:rPr lang="en-US" sz="2517" strike="noStrike" u="none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m</a:t>
            </a:r>
            <a:r>
              <a:rPr lang="en-US" sz="2517" strike="noStrike" u="none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anenc</a:t>
            </a:r>
            <a:r>
              <a:rPr lang="en-US" sz="2517" strike="noStrike" u="none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i</a:t>
            </a:r>
            <a:r>
              <a:rPr lang="en-US" sz="2517" strike="noStrike" u="none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a      * </a:t>
            </a:r>
            <a:r>
              <a:rPr lang="en-US" sz="2517" strike="noStrike" u="none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Replicación</a:t>
            </a:r>
          </a:p>
          <a:p>
            <a:pPr algn="just" marL="0" indent="0" lvl="0">
              <a:lnSpc>
                <a:spcPts val="3222"/>
              </a:lnSpc>
            </a:pPr>
            <a:r>
              <a:rPr lang="en-US" sz="2517" strike="noStrike" u="none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*</a:t>
            </a:r>
            <a:r>
              <a:rPr lang="en-US" sz="2517" strike="noStrike" u="none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Rapidez               * Bajo costo</a:t>
            </a:r>
          </a:p>
          <a:p>
            <a:pPr algn="just" marL="0" indent="0" lvl="0">
              <a:lnSpc>
                <a:spcPts val="3222"/>
              </a:lnSpc>
            </a:pPr>
            <a:r>
              <a:rPr lang="en-US" sz="2517" strike="noStrike" u="none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*</a:t>
            </a:r>
            <a:r>
              <a:rPr lang="en-US" sz="2517" strike="noStrike" u="none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Entornos peligroso</a:t>
            </a:r>
            <a:r>
              <a:rPr lang="en-US" sz="2517" strike="noStrike" u="none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   * </a:t>
            </a:r>
            <a:r>
              <a:rPr lang="en-US" sz="2517" strike="noStrike" u="none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Fiabilidad</a:t>
            </a:r>
          </a:p>
          <a:p>
            <a:pPr algn="just" marL="0" indent="0" lvl="0">
              <a:lnSpc>
                <a:spcPts val="3222"/>
              </a:lnSpc>
            </a:pPr>
            <a:r>
              <a:rPr lang="en-US" sz="2517" strike="noStrike" u="none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Consolidar varios conocimientos</a:t>
            </a:r>
          </a:p>
          <a:p>
            <a:pPr algn="just" marL="0" indent="0" lvl="0">
              <a:lnSpc>
                <a:spcPts val="3222"/>
              </a:lnSpc>
            </a:pPr>
            <a:r>
              <a:rPr lang="en-US" sz="2517" strike="noStrike" u="none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Apoyo Académico</a:t>
            </a:r>
          </a:p>
        </p:txBody>
      </p:sp>
      <p:grpSp>
        <p:nvGrpSpPr>
          <p:cNvPr name="Group 72" id="72"/>
          <p:cNvGrpSpPr/>
          <p:nvPr/>
        </p:nvGrpSpPr>
        <p:grpSpPr>
          <a:xfrm rot="0">
            <a:off x="12852756" y="3493967"/>
            <a:ext cx="4624598" cy="2459466"/>
            <a:chOff x="0" y="0"/>
            <a:chExt cx="2762854" cy="1469349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40013" y="45156"/>
              <a:ext cx="2722841" cy="1423488"/>
            </a:xfrm>
            <a:custGeom>
              <a:avLst/>
              <a:gdLst/>
              <a:ahLst/>
              <a:cxnLst/>
              <a:rect r="r" b="b" t="t" l="l"/>
              <a:pathLst>
                <a:path h="1423488" w="2722841">
                  <a:moveTo>
                    <a:pt x="627" y="1393713"/>
                  </a:moveTo>
                  <a:cubicBezTo>
                    <a:pt x="-1913" y="1402603"/>
                    <a:pt x="3167" y="1408953"/>
                    <a:pt x="17594" y="1410223"/>
                  </a:cubicBezTo>
                  <a:cubicBezTo>
                    <a:pt x="34210" y="1411493"/>
                    <a:pt x="48750" y="1411493"/>
                    <a:pt x="65366" y="1411493"/>
                  </a:cubicBezTo>
                  <a:cubicBezTo>
                    <a:pt x="131832" y="1412763"/>
                    <a:pt x="198298" y="1412763"/>
                    <a:pt x="266842" y="1414033"/>
                  </a:cubicBezTo>
                  <a:cubicBezTo>
                    <a:pt x="304229" y="1415303"/>
                    <a:pt x="341616" y="1416573"/>
                    <a:pt x="376926" y="1417843"/>
                  </a:cubicBezTo>
                  <a:cubicBezTo>
                    <a:pt x="439238" y="1419113"/>
                    <a:pt x="499473" y="1419113"/>
                    <a:pt x="561785" y="1420383"/>
                  </a:cubicBezTo>
                  <a:cubicBezTo>
                    <a:pt x="586710" y="1420383"/>
                    <a:pt x="609557" y="1420383"/>
                    <a:pt x="634482" y="1419113"/>
                  </a:cubicBezTo>
                  <a:cubicBezTo>
                    <a:pt x="644867" y="1419113"/>
                    <a:pt x="657330" y="1417843"/>
                    <a:pt x="667715" y="1417843"/>
                  </a:cubicBezTo>
                  <a:cubicBezTo>
                    <a:pt x="709256" y="1419113"/>
                    <a:pt x="1540082" y="1410223"/>
                    <a:pt x="1581623" y="1411493"/>
                  </a:cubicBezTo>
                  <a:cubicBezTo>
                    <a:pt x="1639781" y="1412763"/>
                    <a:pt x="1799715" y="1412763"/>
                    <a:pt x="1857873" y="1412763"/>
                  </a:cubicBezTo>
                  <a:cubicBezTo>
                    <a:pt x="1880721" y="1412763"/>
                    <a:pt x="1901491" y="1411493"/>
                    <a:pt x="1924339" y="1411493"/>
                  </a:cubicBezTo>
                  <a:lnTo>
                    <a:pt x="2036501" y="1415303"/>
                  </a:lnTo>
                  <a:cubicBezTo>
                    <a:pt x="2117506" y="1417843"/>
                    <a:pt x="2196435" y="1415303"/>
                    <a:pt x="2277440" y="1419113"/>
                  </a:cubicBezTo>
                  <a:cubicBezTo>
                    <a:pt x="2412449" y="1424193"/>
                    <a:pt x="2549536" y="1417843"/>
                    <a:pt x="2659341" y="1422923"/>
                  </a:cubicBezTo>
                  <a:cubicBezTo>
                    <a:pt x="2679661" y="1424193"/>
                    <a:pt x="2699981" y="1422923"/>
                    <a:pt x="2722841" y="1422923"/>
                  </a:cubicBezTo>
                  <a:lnTo>
                    <a:pt x="2722841" y="1363233"/>
                  </a:lnTo>
                  <a:cubicBezTo>
                    <a:pt x="2721571" y="1304622"/>
                    <a:pt x="2720301" y="1254020"/>
                    <a:pt x="2720301" y="1200256"/>
                  </a:cubicBezTo>
                  <a:cubicBezTo>
                    <a:pt x="2720301" y="1138058"/>
                    <a:pt x="2724111" y="1074805"/>
                    <a:pt x="2717761" y="1012607"/>
                  </a:cubicBezTo>
                  <a:cubicBezTo>
                    <a:pt x="2710141" y="971493"/>
                    <a:pt x="2698711" y="160809"/>
                    <a:pt x="2698711" y="119695"/>
                  </a:cubicBezTo>
                  <a:cubicBezTo>
                    <a:pt x="2696171" y="91231"/>
                    <a:pt x="2694901" y="61714"/>
                    <a:pt x="2692361" y="33250"/>
                  </a:cubicBezTo>
                  <a:cubicBezTo>
                    <a:pt x="2692361" y="24816"/>
                    <a:pt x="2691091" y="16383"/>
                    <a:pt x="2689821" y="5644"/>
                  </a:cubicBezTo>
                  <a:cubicBezTo>
                    <a:pt x="2679661" y="3104"/>
                    <a:pt x="2670771" y="1834"/>
                    <a:pt x="2660611" y="564"/>
                  </a:cubicBezTo>
                  <a:cubicBezTo>
                    <a:pt x="2652991" y="-706"/>
                    <a:pt x="2645371" y="564"/>
                    <a:pt x="2639021" y="564"/>
                  </a:cubicBezTo>
                  <a:lnTo>
                    <a:pt x="7208" y="5644"/>
                  </a:lnTo>
                  <a:lnTo>
                    <a:pt x="627" y="1393713"/>
                  </a:lnTo>
                  <a:close/>
                </a:path>
              </a:pathLst>
            </a:custGeom>
            <a:solidFill>
              <a:srgbClr val="2C2C2F"/>
            </a:solidFill>
          </p:spPr>
        </p:sp>
        <p:sp>
          <p:nvSpPr>
            <p:cNvPr name="Freeform 74" id="74"/>
            <p:cNvSpPr/>
            <p:nvPr/>
          </p:nvSpPr>
          <p:spPr>
            <a:xfrm flipH="false" flipV="false" rot="0">
              <a:off x="11430" y="16510"/>
              <a:ext cx="2701894" cy="1414739"/>
            </a:xfrm>
            <a:custGeom>
              <a:avLst/>
              <a:gdLst/>
              <a:ahLst/>
              <a:cxnLst/>
              <a:rect r="r" b="b" t="t" l="l"/>
              <a:pathLst>
                <a:path h="1414739" w="2701894">
                  <a:moveTo>
                    <a:pt x="2701894" y="1414739"/>
                  </a:moveTo>
                  <a:lnTo>
                    <a:pt x="0" y="1407119"/>
                  </a:lnTo>
                  <a:lnTo>
                    <a:pt x="0" y="502554"/>
                  </a:lnTo>
                  <a:lnTo>
                    <a:pt x="7620" y="20320"/>
                  </a:lnTo>
                  <a:lnTo>
                    <a:pt x="1350573" y="0"/>
                  </a:lnTo>
                  <a:lnTo>
                    <a:pt x="2680304" y="8890"/>
                  </a:lnTo>
                  <a:close/>
                </a:path>
              </a:pathLst>
            </a:custGeom>
            <a:solidFill>
              <a:srgbClr val="C7EBEE"/>
            </a:solidFill>
          </p:spPr>
        </p:sp>
        <p:sp>
          <p:nvSpPr>
            <p:cNvPr name="Freeform 75" id="75"/>
            <p:cNvSpPr/>
            <p:nvPr/>
          </p:nvSpPr>
          <p:spPr>
            <a:xfrm flipH="false" flipV="false" rot="0">
              <a:off x="-215" y="0"/>
              <a:ext cx="2726239" cy="1440703"/>
            </a:xfrm>
            <a:custGeom>
              <a:avLst/>
              <a:gdLst/>
              <a:ahLst/>
              <a:cxnLst/>
              <a:rect r="r" b="b" t="t" l="l"/>
              <a:pathLst>
                <a:path h="1440703" w="2726239">
                  <a:moveTo>
                    <a:pt x="2693219" y="21590"/>
                  </a:moveTo>
                  <a:cubicBezTo>
                    <a:pt x="2694489" y="34290"/>
                    <a:pt x="2694489" y="44450"/>
                    <a:pt x="2695759" y="54159"/>
                  </a:cubicBezTo>
                  <a:cubicBezTo>
                    <a:pt x="2698299" y="82623"/>
                    <a:pt x="2699569" y="112141"/>
                    <a:pt x="2702109" y="140604"/>
                  </a:cubicBezTo>
                  <a:cubicBezTo>
                    <a:pt x="2702109" y="181718"/>
                    <a:pt x="2714809" y="992403"/>
                    <a:pt x="2721159" y="1033516"/>
                  </a:cubicBezTo>
                  <a:cubicBezTo>
                    <a:pt x="2727509" y="1095715"/>
                    <a:pt x="2723699" y="1158967"/>
                    <a:pt x="2723699" y="1221165"/>
                  </a:cubicBezTo>
                  <a:cubicBezTo>
                    <a:pt x="2723699" y="1275984"/>
                    <a:pt x="2724969" y="1326586"/>
                    <a:pt x="2726239" y="1380449"/>
                  </a:cubicBezTo>
                  <a:lnTo>
                    <a:pt x="2726239" y="1440139"/>
                  </a:lnTo>
                  <a:cubicBezTo>
                    <a:pt x="2703379" y="1440139"/>
                    <a:pt x="2683059" y="1441409"/>
                    <a:pt x="2662739" y="1440139"/>
                  </a:cubicBezTo>
                  <a:cubicBezTo>
                    <a:pt x="2529529" y="1435059"/>
                    <a:pt x="2392442" y="1441409"/>
                    <a:pt x="2257433" y="1436329"/>
                  </a:cubicBezTo>
                  <a:cubicBezTo>
                    <a:pt x="2176428" y="1432519"/>
                    <a:pt x="2097499" y="1435059"/>
                    <a:pt x="2016494" y="1432519"/>
                  </a:cubicBezTo>
                  <a:lnTo>
                    <a:pt x="1904332" y="1428709"/>
                  </a:lnTo>
                  <a:cubicBezTo>
                    <a:pt x="1881484" y="1428709"/>
                    <a:pt x="1860714" y="1429979"/>
                    <a:pt x="1837866" y="1429979"/>
                  </a:cubicBezTo>
                  <a:cubicBezTo>
                    <a:pt x="1779708" y="1428709"/>
                    <a:pt x="1619774" y="1429979"/>
                    <a:pt x="1561617" y="1428709"/>
                  </a:cubicBezTo>
                  <a:cubicBezTo>
                    <a:pt x="1520075" y="1427439"/>
                    <a:pt x="689249" y="1436329"/>
                    <a:pt x="647708" y="1435059"/>
                  </a:cubicBezTo>
                  <a:cubicBezTo>
                    <a:pt x="637323" y="1435059"/>
                    <a:pt x="624860" y="1436329"/>
                    <a:pt x="614475" y="1436329"/>
                  </a:cubicBezTo>
                  <a:cubicBezTo>
                    <a:pt x="589550" y="1436329"/>
                    <a:pt x="566703" y="1437599"/>
                    <a:pt x="541778" y="1437599"/>
                  </a:cubicBezTo>
                  <a:cubicBezTo>
                    <a:pt x="479466" y="1437599"/>
                    <a:pt x="419231" y="1436329"/>
                    <a:pt x="356919" y="1435059"/>
                  </a:cubicBezTo>
                  <a:cubicBezTo>
                    <a:pt x="319532" y="1433789"/>
                    <a:pt x="282145" y="1432519"/>
                    <a:pt x="246835" y="1431249"/>
                  </a:cubicBezTo>
                  <a:cubicBezTo>
                    <a:pt x="180369" y="1429979"/>
                    <a:pt x="113903" y="1428709"/>
                    <a:pt x="45359" y="1428709"/>
                  </a:cubicBezTo>
                  <a:cubicBezTo>
                    <a:pt x="34505" y="1428709"/>
                    <a:pt x="25615" y="1428709"/>
                    <a:pt x="15455" y="1427439"/>
                  </a:cubicBezTo>
                  <a:cubicBezTo>
                    <a:pt x="6565" y="1426169"/>
                    <a:pt x="1485" y="1419819"/>
                    <a:pt x="4025" y="1410929"/>
                  </a:cubicBezTo>
                  <a:cubicBezTo>
                    <a:pt x="12915" y="1379296"/>
                    <a:pt x="9105" y="1352941"/>
                    <a:pt x="7835" y="1325531"/>
                  </a:cubicBezTo>
                  <a:cubicBezTo>
                    <a:pt x="6565" y="1269659"/>
                    <a:pt x="2755" y="1214840"/>
                    <a:pt x="4025" y="1158967"/>
                  </a:cubicBezTo>
                  <a:cubicBezTo>
                    <a:pt x="1485" y="1089389"/>
                    <a:pt x="-3595" y="228103"/>
                    <a:pt x="4025" y="157472"/>
                  </a:cubicBezTo>
                  <a:cubicBezTo>
                    <a:pt x="5295" y="143767"/>
                    <a:pt x="4025" y="129008"/>
                    <a:pt x="5295" y="115303"/>
                  </a:cubicBezTo>
                  <a:cubicBezTo>
                    <a:pt x="6565" y="93165"/>
                    <a:pt x="9105" y="68918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61976" y="30480"/>
                    <a:pt x="95209" y="29210"/>
                  </a:cubicBezTo>
                  <a:cubicBezTo>
                    <a:pt x="151290" y="25400"/>
                    <a:pt x="207370" y="22860"/>
                    <a:pt x="265528" y="20320"/>
                  </a:cubicBezTo>
                  <a:cubicBezTo>
                    <a:pt x="304992" y="17780"/>
                    <a:pt x="344457" y="16510"/>
                    <a:pt x="381844" y="13970"/>
                  </a:cubicBezTo>
                  <a:cubicBezTo>
                    <a:pt x="419231" y="11430"/>
                    <a:pt x="458695" y="8890"/>
                    <a:pt x="496082" y="8890"/>
                  </a:cubicBezTo>
                  <a:cubicBezTo>
                    <a:pt x="537624" y="7620"/>
                    <a:pt x="579165" y="10160"/>
                    <a:pt x="620706" y="8890"/>
                  </a:cubicBezTo>
                  <a:cubicBezTo>
                    <a:pt x="672633" y="8890"/>
                    <a:pt x="1613543" y="6350"/>
                    <a:pt x="1665470" y="5080"/>
                  </a:cubicBezTo>
                  <a:cubicBezTo>
                    <a:pt x="1715319" y="3810"/>
                    <a:pt x="1765169" y="2540"/>
                    <a:pt x="1817096" y="2540"/>
                  </a:cubicBezTo>
                  <a:cubicBezTo>
                    <a:pt x="1902255" y="1270"/>
                    <a:pt x="1985338" y="0"/>
                    <a:pt x="2070497" y="0"/>
                  </a:cubicBezTo>
                  <a:cubicBezTo>
                    <a:pt x="2105808" y="0"/>
                    <a:pt x="2143195" y="2540"/>
                    <a:pt x="2178505" y="2540"/>
                  </a:cubicBezTo>
                  <a:cubicBezTo>
                    <a:pt x="2276127" y="3810"/>
                    <a:pt x="2375826" y="5080"/>
                    <a:pt x="2473448" y="7620"/>
                  </a:cubicBezTo>
                  <a:cubicBezTo>
                    <a:pt x="2525375" y="8890"/>
                    <a:pt x="2577301" y="12700"/>
                    <a:pt x="2629228" y="16510"/>
                  </a:cubicBezTo>
                  <a:lnTo>
                    <a:pt x="2662739" y="16510"/>
                  </a:lnTo>
                  <a:cubicBezTo>
                    <a:pt x="2674169" y="17780"/>
                    <a:pt x="2683059" y="20320"/>
                    <a:pt x="2693219" y="21590"/>
                  </a:cubicBezTo>
                  <a:close/>
                  <a:moveTo>
                    <a:pt x="2703379" y="1423629"/>
                  </a:moveTo>
                  <a:cubicBezTo>
                    <a:pt x="2704649" y="1407119"/>
                    <a:pt x="2705919" y="1394419"/>
                    <a:pt x="2705919" y="1381719"/>
                  </a:cubicBezTo>
                  <a:cubicBezTo>
                    <a:pt x="2704649" y="1321315"/>
                    <a:pt x="2703379" y="1265442"/>
                    <a:pt x="2703379" y="1205352"/>
                  </a:cubicBezTo>
                  <a:cubicBezTo>
                    <a:pt x="2703379" y="1177943"/>
                    <a:pt x="2705919" y="1150533"/>
                    <a:pt x="2704649" y="1123124"/>
                  </a:cubicBezTo>
                  <a:cubicBezTo>
                    <a:pt x="2704649" y="1097823"/>
                    <a:pt x="2703379" y="1071468"/>
                    <a:pt x="2702109" y="1046167"/>
                  </a:cubicBezTo>
                  <a:cubicBezTo>
                    <a:pt x="2697029" y="1007161"/>
                    <a:pt x="2685599" y="199640"/>
                    <a:pt x="2685599" y="160634"/>
                  </a:cubicBezTo>
                  <a:cubicBezTo>
                    <a:pt x="2683059" y="127954"/>
                    <a:pt x="2680519" y="94219"/>
                    <a:pt x="2677979" y="61539"/>
                  </a:cubicBezTo>
                  <a:cubicBezTo>
                    <a:pt x="2676709" y="44450"/>
                    <a:pt x="2675439" y="43180"/>
                    <a:pt x="2658307" y="41910"/>
                  </a:cubicBezTo>
                  <a:cubicBezTo>
                    <a:pt x="2652075" y="41910"/>
                    <a:pt x="2647921" y="41910"/>
                    <a:pt x="2641690" y="40640"/>
                  </a:cubicBezTo>
                  <a:cubicBezTo>
                    <a:pt x="2589764" y="36830"/>
                    <a:pt x="2535760" y="31750"/>
                    <a:pt x="2483833" y="30480"/>
                  </a:cubicBezTo>
                  <a:cubicBezTo>
                    <a:pt x="2357132" y="26670"/>
                    <a:pt x="2228354" y="25400"/>
                    <a:pt x="2101653" y="22860"/>
                  </a:cubicBezTo>
                  <a:lnTo>
                    <a:pt x="1952105" y="22860"/>
                  </a:lnTo>
                  <a:cubicBezTo>
                    <a:pt x="1885639" y="22860"/>
                    <a:pt x="1819173" y="22860"/>
                    <a:pt x="1754784" y="24130"/>
                  </a:cubicBezTo>
                  <a:cubicBezTo>
                    <a:pt x="1698703" y="25400"/>
                    <a:pt x="753638" y="29210"/>
                    <a:pt x="697558" y="29210"/>
                  </a:cubicBezTo>
                  <a:cubicBezTo>
                    <a:pt x="606167" y="29210"/>
                    <a:pt x="514776" y="26670"/>
                    <a:pt x="423385" y="33020"/>
                  </a:cubicBezTo>
                  <a:cubicBezTo>
                    <a:pt x="375613" y="36830"/>
                    <a:pt x="329917" y="36830"/>
                    <a:pt x="284222" y="38100"/>
                  </a:cubicBezTo>
                  <a:cubicBezTo>
                    <a:pt x="205293" y="41910"/>
                    <a:pt x="126365" y="45720"/>
                    <a:pt x="47436" y="50800"/>
                  </a:cubicBezTo>
                  <a:cubicBezTo>
                    <a:pt x="33235" y="50800"/>
                    <a:pt x="30695" y="53105"/>
                    <a:pt x="29425" y="65756"/>
                  </a:cubicBezTo>
                  <a:cubicBezTo>
                    <a:pt x="28155" y="84731"/>
                    <a:pt x="28155" y="103707"/>
                    <a:pt x="26885" y="122683"/>
                  </a:cubicBezTo>
                  <a:cubicBezTo>
                    <a:pt x="25615" y="154309"/>
                    <a:pt x="23075" y="184881"/>
                    <a:pt x="21805" y="216507"/>
                  </a:cubicBezTo>
                  <a:cubicBezTo>
                    <a:pt x="16725" y="250242"/>
                    <a:pt x="23075" y="1074631"/>
                    <a:pt x="25615" y="1108365"/>
                  </a:cubicBezTo>
                  <a:cubicBezTo>
                    <a:pt x="25615" y="1144208"/>
                    <a:pt x="25615" y="1181105"/>
                    <a:pt x="26885" y="1216948"/>
                  </a:cubicBezTo>
                  <a:cubicBezTo>
                    <a:pt x="26885" y="1243303"/>
                    <a:pt x="29425" y="1269659"/>
                    <a:pt x="29425" y="1296014"/>
                  </a:cubicBezTo>
                  <a:cubicBezTo>
                    <a:pt x="29425" y="1324477"/>
                    <a:pt x="29425" y="1352941"/>
                    <a:pt x="28155" y="1381719"/>
                  </a:cubicBezTo>
                  <a:lnTo>
                    <a:pt x="28155" y="1391879"/>
                  </a:lnTo>
                  <a:cubicBezTo>
                    <a:pt x="28155" y="1402039"/>
                    <a:pt x="31965" y="1405849"/>
                    <a:pt x="40855" y="1405849"/>
                  </a:cubicBezTo>
                  <a:cubicBezTo>
                    <a:pt x="66130" y="1405849"/>
                    <a:pt x="95209" y="1407119"/>
                    <a:pt x="122211" y="1407119"/>
                  </a:cubicBezTo>
                  <a:cubicBezTo>
                    <a:pt x="161675" y="1407119"/>
                    <a:pt x="203216" y="1404579"/>
                    <a:pt x="242681" y="1407119"/>
                  </a:cubicBezTo>
                  <a:cubicBezTo>
                    <a:pt x="307070" y="1410929"/>
                    <a:pt x="371459" y="1413469"/>
                    <a:pt x="435848" y="1412199"/>
                  </a:cubicBezTo>
                  <a:cubicBezTo>
                    <a:pt x="477389" y="1410929"/>
                    <a:pt x="516853" y="1413469"/>
                    <a:pt x="558394" y="1413469"/>
                  </a:cubicBezTo>
                  <a:cubicBezTo>
                    <a:pt x="618629" y="1413469"/>
                    <a:pt x="678864" y="1412199"/>
                    <a:pt x="739099" y="1413469"/>
                  </a:cubicBezTo>
                  <a:cubicBezTo>
                    <a:pt x="828413" y="1414739"/>
                    <a:pt x="1808787" y="1404579"/>
                    <a:pt x="1900178" y="1407119"/>
                  </a:cubicBezTo>
                  <a:cubicBezTo>
                    <a:pt x="1939642" y="1408389"/>
                    <a:pt x="1979107" y="1409659"/>
                    <a:pt x="2016494" y="1409659"/>
                  </a:cubicBezTo>
                  <a:cubicBezTo>
                    <a:pt x="2085037" y="1412199"/>
                    <a:pt x="2151503" y="1408389"/>
                    <a:pt x="2220046" y="1412199"/>
                  </a:cubicBezTo>
                  <a:cubicBezTo>
                    <a:pt x="2276127" y="1414739"/>
                    <a:pt x="2332208" y="1414739"/>
                    <a:pt x="2388288" y="1417279"/>
                  </a:cubicBezTo>
                  <a:cubicBezTo>
                    <a:pt x="2471371" y="1421089"/>
                    <a:pt x="2554453" y="1423629"/>
                    <a:pt x="2637536" y="1424899"/>
                  </a:cubicBezTo>
                  <a:cubicBezTo>
                    <a:pt x="2665279" y="1424899"/>
                    <a:pt x="2683059" y="1423629"/>
                    <a:pt x="2703379" y="1423629"/>
                  </a:cubicBezTo>
                  <a:close/>
                </a:path>
              </a:pathLst>
            </a:custGeom>
            <a:solidFill>
              <a:srgbClr val="C7EBEE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3755398" y="3290999"/>
            <a:ext cx="2903860" cy="506087"/>
            <a:chOff x="0" y="0"/>
            <a:chExt cx="2132678" cy="371685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39997" y="45156"/>
              <a:ext cx="2092681" cy="325824"/>
            </a:xfrm>
            <a:custGeom>
              <a:avLst/>
              <a:gdLst/>
              <a:ahLst/>
              <a:cxnLst/>
              <a:rect r="r" b="b" t="t" l="l"/>
              <a:pathLst>
                <a:path h="325824" w="2092681">
                  <a:moveTo>
                    <a:pt x="643" y="296049"/>
                  </a:moveTo>
                  <a:cubicBezTo>
                    <a:pt x="-1897" y="304939"/>
                    <a:pt x="3183" y="311289"/>
                    <a:pt x="14178" y="312559"/>
                  </a:cubicBezTo>
                  <a:cubicBezTo>
                    <a:pt x="26792" y="313829"/>
                    <a:pt x="37829" y="313829"/>
                    <a:pt x="50444" y="313829"/>
                  </a:cubicBezTo>
                  <a:cubicBezTo>
                    <a:pt x="100900" y="315099"/>
                    <a:pt x="151357" y="315099"/>
                    <a:pt x="203391" y="316369"/>
                  </a:cubicBezTo>
                  <a:cubicBezTo>
                    <a:pt x="231773" y="317639"/>
                    <a:pt x="260155" y="318909"/>
                    <a:pt x="286960" y="320179"/>
                  </a:cubicBezTo>
                  <a:cubicBezTo>
                    <a:pt x="334264" y="321449"/>
                    <a:pt x="379990" y="321449"/>
                    <a:pt x="427294" y="322719"/>
                  </a:cubicBezTo>
                  <a:cubicBezTo>
                    <a:pt x="446215" y="322719"/>
                    <a:pt x="463560" y="322719"/>
                    <a:pt x="482481" y="321449"/>
                  </a:cubicBezTo>
                  <a:cubicBezTo>
                    <a:pt x="490365" y="321449"/>
                    <a:pt x="499825" y="320179"/>
                    <a:pt x="507709" y="320179"/>
                  </a:cubicBezTo>
                  <a:cubicBezTo>
                    <a:pt x="539245" y="321449"/>
                    <a:pt x="1169956" y="312559"/>
                    <a:pt x="1201492" y="313829"/>
                  </a:cubicBezTo>
                  <a:cubicBezTo>
                    <a:pt x="1245642" y="315099"/>
                    <a:pt x="1367054" y="315099"/>
                    <a:pt x="1411203" y="315099"/>
                  </a:cubicBezTo>
                  <a:cubicBezTo>
                    <a:pt x="1428548" y="315099"/>
                    <a:pt x="1444316" y="313829"/>
                    <a:pt x="1461660" y="313829"/>
                  </a:cubicBezTo>
                  <a:lnTo>
                    <a:pt x="1546806" y="317639"/>
                  </a:lnTo>
                  <a:cubicBezTo>
                    <a:pt x="1608301" y="320179"/>
                    <a:pt x="1668218" y="317639"/>
                    <a:pt x="1729713" y="321449"/>
                  </a:cubicBezTo>
                  <a:cubicBezTo>
                    <a:pt x="1832203" y="326529"/>
                    <a:pt x="1936271" y="320179"/>
                    <a:pt x="2029181" y="325259"/>
                  </a:cubicBezTo>
                  <a:cubicBezTo>
                    <a:pt x="2049501" y="326529"/>
                    <a:pt x="2069821" y="325259"/>
                    <a:pt x="2092681" y="325259"/>
                  </a:cubicBezTo>
                  <a:lnTo>
                    <a:pt x="2092681" y="265569"/>
                  </a:lnTo>
                  <a:cubicBezTo>
                    <a:pt x="2091411" y="231832"/>
                    <a:pt x="2090141" y="223058"/>
                    <a:pt x="2090141" y="213736"/>
                  </a:cubicBezTo>
                  <a:cubicBezTo>
                    <a:pt x="2090141" y="202951"/>
                    <a:pt x="2093951" y="191984"/>
                    <a:pt x="2087601" y="181199"/>
                  </a:cubicBezTo>
                  <a:cubicBezTo>
                    <a:pt x="2079981" y="174070"/>
                    <a:pt x="2068551" y="33505"/>
                    <a:pt x="2068551" y="26377"/>
                  </a:cubicBezTo>
                  <a:cubicBezTo>
                    <a:pt x="2066011" y="21441"/>
                    <a:pt x="2064741" y="16323"/>
                    <a:pt x="2062201" y="11388"/>
                  </a:cubicBezTo>
                  <a:cubicBezTo>
                    <a:pt x="2062201" y="9926"/>
                    <a:pt x="2060931" y="8463"/>
                    <a:pt x="2059661" y="5644"/>
                  </a:cubicBezTo>
                  <a:cubicBezTo>
                    <a:pt x="2049501" y="3104"/>
                    <a:pt x="2040611" y="1834"/>
                    <a:pt x="2030451" y="564"/>
                  </a:cubicBezTo>
                  <a:cubicBezTo>
                    <a:pt x="2022831" y="-706"/>
                    <a:pt x="2015211" y="564"/>
                    <a:pt x="2008861" y="564"/>
                  </a:cubicBezTo>
                  <a:lnTo>
                    <a:pt x="6294" y="5644"/>
                  </a:lnTo>
                  <a:lnTo>
                    <a:pt x="643" y="296049"/>
                  </a:lnTo>
                  <a:close/>
                </a:path>
              </a:pathLst>
            </a:custGeom>
            <a:solidFill>
              <a:srgbClr val="DAAF2D"/>
            </a:solidFill>
          </p:spPr>
        </p:sp>
        <p:sp>
          <p:nvSpPr>
            <p:cNvPr name="Freeform 78" id="78"/>
            <p:cNvSpPr/>
            <p:nvPr/>
          </p:nvSpPr>
          <p:spPr>
            <a:xfrm flipH="false" flipV="false" rot="0">
              <a:off x="11430" y="16510"/>
              <a:ext cx="2071718" cy="317075"/>
            </a:xfrm>
            <a:custGeom>
              <a:avLst/>
              <a:gdLst/>
              <a:ahLst/>
              <a:cxnLst/>
              <a:rect r="r" b="b" t="t" l="l"/>
              <a:pathLst>
                <a:path h="317075" w="2071718">
                  <a:moveTo>
                    <a:pt x="2071718" y="317075"/>
                  </a:moveTo>
                  <a:lnTo>
                    <a:pt x="0" y="309455"/>
                  </a:lnTo>
                  <a:lnTo>
                    <a:pt x="0" y="116440"/>
                  </a:lnTo>
                  <a:lnTo>
                    <a:pt x="7620" y="20320"/>
                  </a:lnTo>
                  <a:lnTo>
                    <a:pt x="1032962" y="0"/>
                  </a:lnTo>
                  <a:lnTo>
                    <a:pt x="2050128" y="8890"/>
                  </a:ln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-215" y="0"/>
              <a:ext cx="2096063" cy="343039"/>
            </a:xfrm>
            <a:custGeom>
              <a:avLst/>
              <a:gdLst/>
              <a:ahLst/>
              <a:cxnLst/>
              <a:rect r="r" b="b" t="t" l="l"/>
              <a:pathLst>
                <a:path h="343039" w="2096063">
                  <a:moveTo>
                    <a:pt x="2063043" y="21590"/>
                  </a:moveTo>
                  <a:cubicBezTo>
                    <a:pt x="2064313" y="34290"/>
                    <a:pt x="2064313" y="44450"/>
                    <a:pt x="2065583" y="52340"/>
                  </a:cubicBezTo>
                  <a:cubicBezTo>
                    <a:pt x="2068123" y="57275"/>
                    <a:pt x="2069393" y="62393"/>
                    <a:pt x="2071933" y="67328"/>
                  </a:cubicBezTo>
                  <a:cubicBezTo>
                    <a:pt x="2071933" y="74457"/>
                    <a:pt x="2084633" y="215022"/>
                    <a:pt x="2090983" y="222151"/>
                  </a:cubicBezTo>
                  <a:cubicBezTo>
                    <a:pt x="2097333" y="232936"/>
                    <a:pt x="2093523" y="243903"/>
                    <a:pt x="2093523" y="254687"/>
                  </a:cubicBezTo>
                  <a:cubicBezTo>
                    <a:pt x="2093523" y="264192"/>
                    <a:pt x="2094793" y="272966"/>
                    <a:pt x="2096063" y="282785"/>
                  </a:cubicBezTo>
                  <a:lnTo>
                    <a:pt x="2096063" y="342475"/>
                  </a:lnTo>
                  <a:cubicBezTo>
                    <a:pt x="2073203" y="342475"/>
                    <a:pt x="2052883" y="343745"/>
                    <a:pt x="2032563" y="342475"/>
                  </a:cubicBezTo>
                  <a:cubicBezTo>
                    <a:pt x="1930756" y="337395"/>
                    <a:pt x="1826689" y="343745"/>
                    <a:pt x="1724198" y="338665"/>
                  </a:cubicBezTo>
                  <a:cubicBezTo>
                    <a:pt x="1662704" y="334855"/>
                    <a:pt x="1602786" y="337395"/>
                    <a:pt x="1541292" y="334855"/>
                  </a:cubicBezTo>
                  <a:lnTo>
                    <a:pt x="1456146" y="331045"/>
                  </a:lnTo>
                  <a:cubicBezTo>
                    <a:pt x="1438801" y="331045"/>
                    <a:pt x="1423033" y="332315"/>
                    <a:pt x="1405689" y="332315"/>
                  </a:cubicBezTo>
                  <a:cubicBezTo>
                    <a:pt x="1361539" y="331045"/>
                    <a:pt x="1240127" y="332315"/>
                    <a:pt x="1195977" y="331045"/>
                  </a:cubicBezTo>
                  <a:cubicBezTo>
                    <a:pt x="1164442" y="329775"/>
                    <a:pt x="533730" y="338665"/>
                    <a:pt x="502195" y="337395"/>
                  </a:cubicBezTo>
                  <a:cubicBezTo>
                    <a:pt x="494311" y="337395"/>
                    <a:pt x="484850" y="338665"/>
                    <a:pt x="476966" y="338665"/>
                  </a:cubicBezTo>
                  <a:cubicBezTo>
                    <a:pt x="458045" y="338665"/>
                    <a:pt x="440700" y="339935"/>
                    <a:pt x="421779" y="339935"/>
                  </a:cubicBezTo>
                  <a:cubicBezTo>
                    <a:pt x="374476" y="339935"/>
                    <a:pt x="328749" y="338665"/>
                    <a:pt x="281446" y="337395"/>
                  </a:cubicBezTo>
                  <a:cubicBezTo>
                    <a:pt x="253064" y="336125"/>
                    <a:pt x="224682" y="334855"/>
                    <a:pt x="197876" y="333585"/>
                  </a:cubicBezTo>
                  <a:cubicBezTo>
                    <a:pt x="147420" y="332315"/>
                    <a:pt x="96963" y="331045"/>
                    <a:pt x="44929" y="331045"/>
                  </a:cubicBezTo>
                  <a:cubicBezTo>
                    <a:pt x="34505" y="331045"/>
                    <a:pt x="25615" y="331045"/>
                    <a:pt x="15455" y="329775"/>
                  </a:cubicBezTo>
                  <a:cubicBezTo>
                    <a:pt x="6565" y="328505"/>
                    <a:pt x="1485" y="322155"/>
                    <a:pt x="4025" y="313265"/>
                  </a:cubicBezTo>
                  <a:cubicBezTo>
                    <a:pt x="12915" y="282106"/>
                    <a:pt x="9105" y="277536"/>
                    <a:pt x="7835" y="272784"/>
                  </a:cubicBezTo>
                  <a:cubicBezTo>
                    <a:pt x="6565" y="263096"/>
                    <a:pt x="2755" y="253591"/>
                    <a:pt x="4025" y="243903"/>
                  </a:cubicBezTo>
                  <a:cubicBezTo>
                    <a:pt x="1485" y="231839"/>
                    <a:pt x="-3595" y="82500"/>
                    <a:pt x="4025" y="70253"/>
                  </a:cubicBezTo>
                  <a:cubicBezTo>
                    <a:pt x="5295" y="67877"/>
                    <a:pt x="4025" y="65318"/>
                    <a:pt x="5295" y="62941"/>
                  </a:cubicBezTo>
                  <a:cubicBezTo>
                    <a:pt x="6565" y="59103"/>
                    <a:pt x="9105" y="54899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7543" y="30480"/>
                    <a:pt x="82772" y="29210"/>
                  </a:cubicBezTo>
                  <a:cubicBezTo>
                    <a:pt x="125345" y="25400"/>
                    <a:pt x="167918" y="22860"/>
                    <a:pt x="212067" y="20320"/>
                  </a:cubicBezTo>
                  <a:cubicBezTo>
                    <a:pt x="242026" y="17780"/>
                    <a:pt x="271985" y="16510"/>
                    <a:pt x="300367" y="13970"/>
                  </a:cubicBezTo>
                  <a:cubicBezTo>
                    <a:pt x="328749" y="11430"/>
                    <a:pt x="358708" y="8890"/>
                    <a:pt x="387090" y="8890"/>
                  </a:cubicBezTo>
                  <a:cubicBezTo>
                    <a:pt x="418626" y="7620"/>
                    <a:pt x="450161" y="10160"/>
                    <a:pt x="481697" y="8890"/>
                  </a:cubicBezTo>
                  <a:cubicBezTo>
                    <a:pt x="521116" y="8890"/>
                    <a:pt x="1235397" y="6350"/>
                    <a:pt x="1274816" y="5080"/>
                  </a:cubicBezTo>
                  <a:cubicBezTo>
                    <a:pt x="1312659" y="3810"/>
                    <a:pt x="1350502" y="2540"/>
                    <a:pt x="1389921" y="2540"/>
                  </a:cubicBezTo>
                  <a:cubicBezTo>
                    <a:pt x="1454569" y="1270"/>
                    <a:pt x="1517640" y="0"/>
                    <a:pt x="1582288" y="0"/>
                  </a:cubicBezTo>
                  <a:cubicBezTo>
                    <a:pt x="1609093" y="0"/>
                    <a:pt x="1637475" y="2540"/>
                    <a:pt x="1664280" y="2540"/>
                  </a:cubicBezTo>
                  <a:cubicBezTo>
                    <a:pt x="1738389" y="3810"/>
                    <a:pt x="1814074" y="5080"/>
                    <a:pt x="1888183" y="7620"/>
                  </a:cubicBezTo>
                  <a:cubicBezTo>
                    <a:pt x="1927603" y="8890"/>
                    <a:pt x="1967022" y="12700"/>
                    <a:pt x="2006442" y="16510"/>
                  </a:cubicBezTo>
                  <a:lnTo>
                    <a:pt x="2032563" y="16510"/>
                  </a:lnTo>
                  <a:cubicBezTo>
                    <a:pt x="2043993" y="17780"/>
                    <a:pt x="2052883" y="20320"/>
                    <a:pt x="2063043" y="21590"/>
                  </a:cubicBezTo>
                  <a:close/>
                  <a:moveTo>
                    <a:pt x="2073203" y="325965"/>
                  </a:moveTo>
                  <a:cubicBezTo>
                    <a:pt x="2074473" y="309455"/>
                    <a:pt x="2075743" y="296755"/>
                    <a:pt x="2075743" y="284055"/>
                  </a:cubicBezTo>
                  <a:cubicBezTo>
                    <a:pt x="2074473" y="272052"/>
                    <a:pt x="2073203" y="262365"/>
                    <a:pt x="2073203" y="251946"/>
                  </a:cubicBezTo>
                  <a:cubicBezTo>
                    <a:pt x="2073203" y="247193"/>
                    <a:pt x="2075743" y="242441"/>
                    <a:pt x="2074473" y="237688"/>
                  </a:cubicBezTo>
                  <a:cubicBezTo>
                    <a:pt x="2074473" y="233301"/>
                    <a:pt x="2073203" y="228731"/>
                    <a:pt x="2071933" y="224344"/>
                  </a:cubicBezTo>
                  <a:cubicBezTo>
                    <a:pt x="2066853" y="217581"/>
                    <a:pt x="2055423" y="77565"/>
                    <a:pt x="2055423" y="70801"/>
                  </a:cubicBezTo>
                  <a:cubicBezTo>
                    <a:pt x="2052883" y="65135"/>
                    <a:pt x="2050343" y="59286"/>
                    <a:pt x="2047803" y="53619"/>
                  </a:cubicBezTo>
                  <a:cubicBezTo>
                    <a:pt x="2046533" y="44450"/>
                    <a:pt x="2045263" y="43180"/>
                    <a:pt x="2028516" y="41910"/>
                  </a:cubicBezTo>
                  <a:cubicBezTo>
                    <a:pt x="2023786" y="41910"/>
                    <a:pt x="2020633" y="41910"/>
                    <a:pt x="2015902" y="40640"/>
                  </a:cubicBezTo>
                  <a:cubicBezTo>
                    <a:pt x="1976483" y="36830"/>
                    <a:pt x="1935487" y="31750"/>
                    <a:pt x="1896067" y="30480"/>
                  </a:cubicBezTo>
                  <a:cubicBezTo>
                    <a:pt x="1799884" y="26670"/>
                    <a:pt x="1702123" y="25400"/>
                    <a:pt x="1605940" y="22860"/>
                  </a:cubicBezTo>
                  <a:lnTo>
                    <a:pt x="1492412" y="22860"/>
                  </a:lnTo>
                  <a:cubicBezTo>
                    <a:pt x="1441955" y="22860"/>
                    <a:pt x="1391498" y="22860"/>
                    <a:pt x="1342618" y="24130"/>
                  </a:cubicBezTo>
                  <a:cubicBezTo>
                    <a:pt x="1300045" y="25400"/>
                    <a:pt x="582610" y="29210"/>
                    <a:pt x="540037" y="29210"/>
                  </a:cubicBezTo>
                  <a:cubicBezTo>
                    <a:pt x="470659" y="29210"/>
                    <a:pt x="401281" y="26670"/>
                    <a:pt x="331903" y="33020"/>
                  </a:cubicBezTo>
                  <a:cubicBezTo>
                    <a:pt x="295637" y="36830"/>
                    <a:pt x="260948" y="36830"/>
                    <a:pt x="226258" y="38100"/>
                  </a:cubicBezTo>
                  <a:cubicBezTo>
                    <a:pt x="166341" y="41910"/>
                    <a:pt x="106423" y="45720"/>
                    <a:pt x="46506" y="50800"/>
                  </a:cubicBezTo>
                  <a:cubicBezTo>
                    <a:pt x="33235" y="50800"/>
                    <a:pt x="30695" y="52157"/>
                    <a:pt x="29425" y="54350"/>
                  </a:cubicBezTo>
                  <a:cubicBezTo>
                    <a:pt x="28155" y="57641"/>
                    <a:pt x="28155" y="60931"/>
                    <a:pt x="26885" y="64221"/>
                  </a:cubicBezTo>
                  <a:cubicBezTo>
                    <a:pt x="25615" y="69705"/>
                    <a:pt x="23075" y="75006"/>
                    <a:pt x="21805" y="80489"/>
                  </a:cubicBezTo>
                  <a:cubicBezTo>
                    <a:pt x="16725" y="86339"/>
                    <a:pt x="23075" y="229280"/>
                    <a:pt x="25615" y="235129"/>
                  </a:cubicBezTo>
                  <a:cubicBezTo>
                    <a:pt x="25615" y="241344"/>
                    <a:pt x="25615" y="247741"/>
                    <a:pt x="26885" y="253956"/>
                  </a:cubicBezTo>
                  <a:cubicBezTo>
                    <a:pt x="26885" y="258526"/>
                    <a:pt x="29425" y="263096"/>
                    <a:pt x="29425" y="267666"/>
                  </a:cubicBezTo>
                  <a:cubicBezTo>
                    <a:pt x="29425" y="272601"/>
                    <a:pt x="29425" y="277536"/>
                    <a:pt x="28155" y="284055"/>
                  </a:cubicBezTo>
                  <a:lnTo>
                    <a:pt x="28155" y="294215"/>
                  </a:lnTo>
                  <a:cubicBezTo>
                    <a:pt x="28155" y="304375"/>
                    <a:pt x="31965" y="308185"/>
                    <a:pt x="40855" y="308185"/>
                  </a:cubicBezTo>
                  <a:cubicBezTo>
                    <a:pt x="60697" y="308185"/>
                    <a:pt x="82772" y="309455"/>
                    <a:pt x="103270" y="309455"/>
                  </a:cubicBezTo>
                  <a:cubicBezTo>
                    <a:pt x="133229" y="309455"/>
                    <a:pt x="164764" y="306915"/>
                    <a:pt x="194723" y="309455"/>
                  </a:cubicBezTo>
                  <a:cubicBezTo>
                    <a:pt x="243603" y="313265"/>
                    <a:pt x="292483" y="315805"/>
                    <a:pt x="341363" y="314535"/>
                  </a:cubicBezTo>
                  <a:cubicBezTo>
                    <a:pt x="372899" y="313265"/>
                    <a:pt x="402858" y="315805"/>
                    <a:pt x="434393" y="315805"/>
                  </a:cubicBezTo>
                  <a:cubicBezTo>
                    <a:pt x="480120" y="315805"/>
                    <a:pt x="525846" y="314535"/>
                    <a:pt x="571573" y="315805"/>
                  </a:cubicBezTo>
                  <a:cubicBezTo>
                    <a:pt x="639374" y="317075"/>
                    <a:pt x="1383614" y="306915"/>
                    <a:pt x="1452992" y="309455"/>
                  </a:cubicBezTo>
                  <a:cubicBezTo>
                    <a:pt x="1482951" y="310725"/>
                    <a:pt x="1512910" y="311995"/>
                    <a:pt x="1541292" y="311995"/>
                  </a:cubicBezTo>
                  <a:cubicBezTo>
                    <a:pt x="1593326" y="314535"/>
                    <a:pt x="1643783" y="310725"/>
                    <a:pt x="1695816" y="314535"/>
                  </a:cubicBezTo>
                  <a:cubicBezTo>
                    <a:pt x="1738389" y="317075"/>
                    <a:pt x="1780962" y="317075"/>
                    <a:pt x="1823535" y="319615"/>
                  </a:cubicBezTo>
                  <a:cubicBezTo>
                    <a:pt x="1886606" y="323425"/>
                    <a:pt x="1949678" y="325965"/>
                    <a:pt x="2012749" y="327235"/>
                  </a:cubicBezTo>
                  <a:cubicBezTo>
                    <a:pt x="2035103" y="327235"/>
                    <a:pt x="2052883" y="325965"/>
                    <a:pt x="2073203" y="325965"/>
                  </a:cubicBezTo>
                  <a:close/>
                </a:path>
              </a:pathLst>
            </a:custGeom>
            <a:solidFill>
              <a:srgbClr val="2A2B39"/>
            </a:solidFill>
          </p:spPr>
        </p:sp>
      </p:grpSp>
      <p:sp>
        <p:nvSpPr>
          <p:cNvPr name="TextBox 80" id="80"/>
          <p:cNvSpPr txBox="true"/>
          <p:nvPr/>
        </p:nvSpPr>
        <p:spPr>
          <a:xfrm rot="0">
            <a:off x="13005156" y="4010870"/>
            <a:ext cx="4942128" cy="1647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33"/>
              </a:lnSpc>
            </a:pPr>
            <a:r>
              <a:rPr lang="en-US" sz="2057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*Bas</a:t>
            </a:r>
            <a:r>
              <a:rPr lang="en-US" sz="2057" strike="noStrike" u="none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e de con</a:t>
            </a:r>
            <a:r>
              <a:rPr lang="en-US" sz="2057" strike="noStrike" u="none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o</a:t>
            </a:r>
            <a:r>
              <a:rPr lang="en-US" sz="2057" strike="noStrike" u="none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ci</a:t>
            </a:r>
            <a:r>
              <a:rPr lang="en-US" sz="2057" strike="noStrike" u="none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m</a:t>
            </a:r>
            <a:r>
              <a:rPr lang="en-US" sz="2057" strike="noStrike" u="none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ie</a:t>
            </a:r>
            <a:r>
              <a:rPr lang="en-US" sz="2057" strike="noStrike" u="none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n</a:t>
            </a:r>
            <a:r>
              <a:rPr lang="en-US" sz="2057" strike="noStrike" u="none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t</a:t>
            </a:r>
            <a:r>
              <a:rPr lang="en-US" sz="2057" strike="noStrike" u="none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os</a:t>
            </a:r>
            <a:r>
              <a:rPr lang="en-US" sz="2057" strike="noStrike" u="none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 </a:t>
            </a:r>
            <a:r>
              <a:rPr lang="en-US" sz="2057" strike="noStrike" u="none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(BC).</a:t>
            </a:r>
          </a:p>
          <a:p>
            <a:pPr algn="just" marL="0" indent="0" lvl="0">
              <a:lnSpc>
                <a:spcPts val="2633"/>
              </a:lnSpc>
            </a:pPr>
            <a:r>
              <a:rPr lang="en-US" sz="2057" strike="noStrike" u="none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*</a:t>
            </a:r>
            <a:r>
              <a:rPr lang="en-US" sz="2057" strike="noStrike" u="none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Base de hechos (Memoria de trabajo).</a:t>
            </a:r>
            <a:r>
              <a:rPr lang="en-US" sz="2057" strike="noStrike" u="none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 </a:t>
            </a:r>
          </a:p>
          <a:p>
            <a:pPr algn="just" marL="0" indent="0" lvl="0">
              <a:lnSpc>
                <a:spcPts val="2633"/>
              </a:lnSpc>
            </a:pPr>
            <a:r>
              <a:rPr lang="en-US" sz="2057" strike="noStrike" u="none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*</a:t>
            </a:r>
            <a:r>
              <a:rPr lang="en-US" sz="2057" strike="noStrike" u="none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Motor de inferencia.</a:t>
            </a:r>
          </a:p>
          <a:p>
            <a:pPr algn="just" marL="0" indent="0" lvl="0">
              <a:lnSpc>
                <a:spcPts val="2633"/>
              </a:lnSpc>
            </a:pPr>
            <a:r>
              <a:rPr lang="en-US" sz="2057" strike="noStrike" u="none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*</a:t>
            </a:r>
            <a:r>
              <a:rPr lang="en-US" sz="2057" strike="noStrike" u="none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Módulos de justificación.</a:t>
            </a:r>
          </a:p>
          <a:p>
            <a:pPr algn="just" marL="0" indent="0" lvl="0">
              <a:lnSpc>
                <a:spcPts val="2633"/>
              </a:lnSpc>
            </a:pPr>
            <a:r>
              <a:rPr lang="en-US" sz="2057" strike="noStrike" u="none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*I</a:t>
            </a:r>
            <a:r>
              <a:rPr lang="en-US" sz="2057" strike="noStrike" u="none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nterfaz de usuario.</a:t>
            </a:r>
          </a:p>
        </p:txBody>
      </p:sp>
      <p:sp>
        <p:nvSpPr>
          <p:cNvPr name="Freeform 81" id="81"/>
          <p:cNvSpPr/>
          <p:nvPr/>
        </p:nvSpPr>
        <p:spPr>
          <a:xfrm flipH="false" flipV="false" rot="0">
            <a:off x="6573197" y="1485021"/>
            <a:ext cx="5141607" cy="233709"/>
          </a:xfrm>
          <a:custGeom>
            <a:avLst/>
            <a:gdLst/>
            <a:ahLst/>
            <a:cxnLst/>
            <a:rect r="r" b="b" t="t" l="l"/>
            <a:pathLst>
              <a:path h="233709" w="5141607">
                <a:moveTo>
                  <a:pt x="0" y="0"/>
                </a:moveTo>
                <a:lnTo>
                  <a:pt x="5141606" y="0"/>
                </a:lnTo>
                <a:lnTo>
                  <a:pt x="5141606" y="233709"/>
                </a:lnTo>
                <a:lnTo>
                  <a:pt x="0" y="23370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2" id="82"/>
          <p:cNvSpPr/>
          <p:nvPr/>
        </p:nvSpPr>
        <p:spPr>
          <a:xfrm flipH="false" flipV="false" rot="0">
            <a:off x="16011222" y="4713062"/>
            <a:ext cx="1248078" cy="1050258"/>
          </a:xfrm>
          <a:custGeom>
            <a:avLst/>
            <a:gdLst/>
            <a:ahLst/>
            <a:cxnLst/>
            <a:rect r="r" b="b" t="t" l="l"/>
            <a:pathLst>
              <a:path h="1050258" w="1248078">
                <a:moveTo>
                  <a:pt x="0" y="0"/>
                </a:moveTo>
                <a:lnTo>
                  <a:pt x="1248078" y="0"/>
                </a:lnTo>
                <a:lnTo>
                  <a:pt x="1248078" y="1050258"/>
                </a:lnTo>
                <a:lnTo>
                  <a:pt x="0" y="105025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29512" r="0" b="-134566"/>
            </a:stretch>
          </a:blipFill>
        </p:spPr>
      </p:sp>
      <p:sp>
        <p:nvSpPr>
          <p:cNvPr name="Freeform 83" id="83"/>
          <p:cNvSpPr/>
          <p:nvPr/>
        </p:nvSpPr>
        <p:spPr>
          <a:xfrm flipH="false" flipV="false" rot="0">
            <a:off x="12331878" y="155351"/>
            <a:ext cx="1316739" cy="1097383"/>
          </a:xfrm>
          <a:custGeom>
            <a:avLst/>
            <a:gdLst/>
            <a:ahLst/>
            <a:cxnLst/>
            <a:rect r="r" b="b" t="t" l="l"/>
            <a:pathLst>
              <a:path h="1097383" w="1316739">
                <a:moveTo>
                  <a:pt x="0" y="0"/>
                </a:moveTo>
                <a:lnTo>
                  <a:pt x="1316740" y="0"/>
                </a:lnTo>
                <a:lnTo>
                  <a:pt x="1316740" y="1097383"/>
                </a:lnTo>
                <a:lnTo>
                  <a:pt x="0" y="109738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0531" t="-27929" r="-37625" b="-267119"/>
            </a:stretch>
          </a:blipFill>
        </p:spPr>
      </p:sp>
      <p:sp>
        <p:nvSpPr>
          <p:cNvPr name="Freeform 84" id="84"/>
          <p:cNvSpPr/>
          <p:nvPr/>
        </p:nvSpPr>
        <p:spPr>
          <a:xfrm flipH="false" flipV="false" rot="0">
            <a:off x="6969135" y="2984779"/>
            <a:ext cx="1470044" cy="980029"/>
          </a:xfrm>
          <a:custGeom>
            <a:avLst/>
            <a:gdLst/>
            <a:ahLst/>
            <a:cxnLst/>
            <a:rect r="r" b="b" t="t" l="l"/>
            <a:pathLst>
              <a:path h="980029" w="1470044">
                <a:moveTo>
                  <a:pt x="0" y="0"/>
                </a:moveTo>
                <a:lnTo>
                  <a:pt x="1470044" y="0"/>
                </a:lnTo>
                <a:lnTo>
                  <a:pt x="1470044" y="980030"/>
                </a:lnTo>
                <a:lnTo>
                  <a:pt x="0" y="98003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85" id="85"/>
          <p:cNvSpPr/>
          <p:nvPr/>
        </p:nvSpPr>
        <p:spPr>
          <a:xfrm flipH="false" flipV="false" rot="0">
            <a:off x="3554761" y="4925177"/>
            <a:ext cx="1363948" cy="955844"/>
          </a:xfrm>
          <a:custGeom>
            <a:avLst/>
            <a:gdLst/>
            <a:ahLst/>
            <a:cxnLst/>
            <a:rect r="r" b="b" t="t" l="l"/>
            <a:pathLst>
              <a:path h="955844" w="1363948">
                <a:moveTo>
                  <a:pt x="0" y="0"/>
                </a:moveTo>
                <a:lnTo>
                  <a:pt x="1363947" y="0"/>
                </a:lnTo>
                <a:lnTo>
                  <a:pt x="1363947" y="955843"/>
                </a:lnTo>
                <a:lnTo>
                  <a:pt x="0" y="95584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389" t="-21625" r="0" b="-21625"/>
            </a:stretch>
          </a:blipFill>
        </p:spPr>
      </p:sp>
      <p:sp>
        <p:nvSpPr>
          <p:cNvPr name="Freeform 86" id="86"/>
          <p:cNvSpPr/>
          <p:nvPr/>
        </p:nvSpPr>
        <p:spPr>
          <a:xfrm flipH="false" flipV="false" rot="0">
            <a:off x="3568587" y="2144242"/>
            <a:ext cx="1285276" cy="808447"/>
          </a:xfrm>
          <a:custGeom>
            <a:avLst/>
            <a:gdLst/>
            <a:ahLst/>
            <a:cxnLst/>
            <a:rect r="r" b="b" t="t" l="l"/>
            <a:pathLst>
              <a:path h="808447" w="1285276">
                <a:moveTo>
                  <a:pt x="0" y="0"/>
                </a:moveTo>
                <a:lnTo>
                  <a:pt x="1285276" y="0"/>
                </a:lnTo>
                <a:lnTo>
                  <a:pt x="1285276" y="808447"/>
                </a:lnTo>
                <a:lnTo>
                  <a:pt x="0" y="80844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8887" t="-29637" r="-6127" b="-276700"/>
            </a:stretch>
          </a:blipFill>
        </p:spPr>
      </p:sp>
      <p:grpSp>
        <p:nvGrpSpPr>
          <p:cNvPr name="Group 87" id="87"/>
          <p:cNvGrpSpPr/>
          <p:nvPr/>
        </p:nvGrpSpPr>
        <p:grpSpPr>
          <a:xfrm rot="0">
            <a:off x="5526589" y="8871102"/>
            <a:ext cx="1969485" cy="1347735"/>
            <a:chOff x="0" y="0"/>
            <a:chExt cx="1187768" cy="81280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187768" cy="812800"/>
            </a:xfrm>
            <a:custGeom>
              <a:avLst/>
              <a:gdLst/>
              <a:ahLst/>
              <a:cxnLst/>
              <a:rect r="r" b="b" t="t" l="l"/>
              <a:pathLst>
                <a:path h="812800" w="1187768">
                  <a:moveTo>
                    <a:pt x="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1187768" y="203200"/>
                  </a:lnTo>
                  <a:lnTo>
                    <a:pt x="1187768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0" y="406400"/>
                  </a:ln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9" id="89"/>
            <p:cNvSpPr txBox="true"/>
            <p:nvPr/>
          </p:nvSpPr>
          <p:spPr>
            <a:xfrm>
              <a:off x="101600" y="155575"/>
              <a:ext cx="1086168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37"/>
                </a:lnSpc>
              </a:pP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8515379" y="9214710"/>
            <a:ext cx="2327184" cy="943976"/>
            <a:chOff x="0" y="0"/>
            <a:chExt cx="1291809" cy="523997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291809" cy="524008"/>
            </a:xfrm>
            <a:custGeom>
              <a:avLst/>
              <a:gdLst/>
              <a:ahLst/>
              <a:cxnLst/>
              <a:rect r="r" b="b" t="t" l="l"/>
              <a:pathLst>
                <a:path h="524008" w="1291809">
                  <a:moveTo>
                    <a:pt x="733461" y="0"/>
                  </a:moveTo>
                  <a:cubicBezTo>
                    <a:pt x="747630" y="0"/>
                    <a:pt x="761885" y="0"/>
                    <a:pt x="776026" y="0"/>
                  </a:cubicBezTo>
                  <a:cubicBezTo>
                    <a:pt x="888770" y="8752"/>
                    <a:pt x="959231" y="37884"/>
                    <a:pt x="991324" y="85554"/>
                  </a:cubicBezTo>
                  <a:cubicBezTo>
                    <a:pt x="1179288" y="79197"/>
                    <a:pt x="1306998" y="169334"/>
                    <a:pt x="1232664" y="257800"/>
                  </a:cubicBezTo>
                  <a:cubicBezTo>
                    <a:pt x="1260359" y="276389"/>
                    <a:pt x="1283465" y="297183"/>
                    <a:pt x="1291809" y="325092"/>
                  </a:cubicBezTo>
                  <a:cubicBezTo>
                    <a:pt x="1291809" y="333087"/>
                    <a:pt x="1291809" y="341063"/>
                    <a:pt x="1291809" y="349057"/>
                  </a:cubicBezTo>
                  <a:cubicBezTo>
                    <a:pt x="1266942" y="420088"/>
                    <a:pt x="1159937" y="468086"/>
                    <a:pt x="984266" y="455165"/>
                  </a:cubicBezTo>
                  <a:cubicBezTo>
                    <a:pt x="939066" y="491636"/>
                    <a:pt x="858639" y="528235"/>
                    <a:pt x="733487" y="523611"/>
                  </a:cubicBezTo>
                  <a:cubicBezTo>
                    <a:pt x="668798" y="521217"/>
                    <a:pt x="623794" y="507348"/>
                    <a:pt x="584392" y="490499"/>
                  </a:cubicBezTo>
                  <a:cubicBezTo>
                    <a:pt x="542891" y="504505"/>
                    <a:pt x="497944" y="515497"/>
                    <a:pt x="433002" y="515618"/>
                  </a:cubicBezTo>
                  <a:cubicBezTo>
                    <a:pt x="282759" y="515825"/>
                    <a:pt x="182252" y="461867"/>
                    <a:pt x="179815" y="387855"/>
                  </a:cubicBezTo>
                  <a:cubicBezTo>
                    <a:pt x="83229" y="370540"/>
                    <a:pt x="17811" y="338221"/>
                    <a:pt x="0" y="282918"/>
                  </a:cubicBezTo>
                  <a:cubicBezTo>
                    <a:pt x="0" y="274925"/>
                    <a:pt x="0" y="266914"/>
                    <a:pt x="0" y="258954"/>
                  </a:cubicBezTo>
                  <a:cubicBezTo>
                    <a:pt x="19659" y="204153"/>
                    <a:pt x="81520" y="169730"/>
                    <a:pt x="184520" y="155138"/>
                  </a:cubicBezTo>
                  <a:cubicBezTo>
                    <a:pt x="178331" y="62693"/>
                    <a:pt x="384360" y="4927"/>
                    <a:pt x="553617" y="45654"/>
                  </a:cubicBezTo>
                  <a:cubicBezTo>
                    <a:pt x="593915" y="25515"/>
                    <a:pt x="650930" y="3549"/>
                    <a:pt x="73346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2" id="92"/>
            <p:cNvSpPr txBox="true"/>
            <p:nvPr/>
          </p:nvSpPr>
          <p:spPr>
            <a:xfrm>
              <a:off x="60554" y="39708"/>
              <a:ext cx="1170702" cy="4094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37"/>
                </a:lnSpc>
              </a:pPr>
            </a:p>
          </p:txBody>
        </p:sp>
      </p:grpSp>
      <p:sp>
        <p:nvSpPr>
          <p:cNvPr name="TextBox 93" id="93"/>
          <p:cNvSpPr txBox="true"/>
          <p:nvPr/>
        </p:nvSpPr>
        <p:spPr>
          <a:xfrm rot="0">
            <a:off x="14145217" y="648595"/>
            <a:ext cx="2086881" cy="488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82"/>
              </a:lnSpc>
              <a:spcBef>
                <a:spcPct val="0"/>
              </a:spcBef>
            </a:pPr>
            <a:r>
              <a:rPr lang="en-US" sz="263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Capacidades</a:t>
            </a:r>
            <a:r>
              <a:rPr lang="en-US" sz="2630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 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12990248" y="1260876"/>
            <a:ext cx="3956840" cy="1861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33"/>
              </a:lnSpc>
            </a:pPr>
            <a:r>
              <a:rPr lang="en-US" sz="1399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1.Explicar sus razonamientos o base del conocimiento: ciertas </a:t>
            </a:r>
          </a:p>
          <a:p>
            <a:pPr algn="just">
              <a:lnSpc>
                <a:spcPts val="1833"/>
              </a:lnSpc>
            </a:pPr>
            <a:r>
              <a:rPr lang="en-US" sz="1399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reglas o pasos comprensibles </a:t>
            </a:r>
          </a:p>
          <a:p>
            <a:pPr algn="just">
              <a:lnSpc>
                <a:spcPts val="1833"/>
              </a:lnSpc>
            </a:pPr>
          </a:p>
          <a:p>
            <a:pPr algn="just">
              <a:lnSpc>
                <a:spcPts val="1833"/>
              </a:lnSpc>
            </a:pPr>
            <a:r>
              <a:rPr lang="en-US" sz="1399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2. Adquisición de nuevos conocimientos o integrador del sistema: mecanismos de razonamiento que sirven </a:t>
            </a:r>
          </a:p>
          <a:p>
            <a:pPr algn="just" marL="0" indent="0" lvl="0">
              <a:lnSpc>
                <a:spcPts val="1833"/>
              </a:lnSpc>
            </a:pPr>
            <a:r>
              <a:rPr lang="en-US" sz="1399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para modificar los conocimientos anteriores.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7133754" y="4020395"/>
            <a:ext cx="4020491" cy="1975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9"/>
              </a:lnSpc>
            </a:pPr>
            <a:r>
              <a:rPr lang="en-US" sz="1977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Un sistema experto es un conjunto de programas que, sobre una base de conocimientos, posee información de uno </a:t>
            </a:r>
          </a:p>
          <a:p>
            <a:pPr algn="ctr" marL="0" indent="0" lvl="0">
              <a:lnSpc>
                <a:spcPts val="2669"/>
              </a:lnSpc>
            </a:pPr>
            <a:r>
              <a:rPr lang="en-US" sz="1977">
                <a:solidFill>
                  <a:srgbClr val="2A2B39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o más expertos en un área específica.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13765775" y="6241708"/>
            <a:ext cx="2893482" cy="603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89"/>
              </a:lnSpc>
              <a:spcBef>
                <a:spcPct val="0"/>
              </a:spcBef>
            </a:pPr>
            <a:r>
              <a:rPr lang="en-US" sz="3206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TIPOS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8439179" y="6652744"/>
            <a:ext cx="2082673" cy="580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20"/>
              </a:lnSpc>
            </a:pPr>
            <a:r>
              <a:rPr lang="en-US" b="true" sz="3371">
                <a:solidFill>
                  <a:srgbClr val="E0F0C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VENTAJAS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13765775" y="3141088"/>
            <a:ext cx="2893482" cy="603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89"/>
              </a:lnSpc>
              <a:spcBef>
                <a:spcPct val="0"/>
              </a:spcBef>
            </a:pPr>
            <a:r>
              <a:rPr lang="en-US" sz="3206">
                <a:solidFill>
                  <a:srgbClr val="2A2B39"/>
                </a:solidFill>
                <a:latin typeface="Ballpoint"/>
                <a:ea typeface="Ballpoint"/>
                <a:cs typeface="Ballpoint"/>
                <a:sym typeface="Ballpoint"/>
              </a:rPr>
              <a:t>ESTRUCTURA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8906611" y="9309662"/>
            <a:ext cx="1618168" cy="671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27"/>
              </a:lnSpc>
            </a:pPr>
            <a:r>
              <a:rPr lang="en-US" sz="3948" u="sng">
                <a:solidFill>
                  <a:srgbClr val="0097B2"/>
                </a:solidFill>
                <a:latin typeface="Open Sans"/>
                <a:ea typeface="Open Sans"/>
                <a:cs typeface="Open Sans"/>
                <a:sym typeface="Open Sans"/>
                <a:hlinkClick r:id="rId14" action="ppaction://hlinksldjump"/>
              </a:rPr>
              <a:t>INDICE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5737706" y="9113681"/>
            <a:ext cx="1740153" cy="572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5"/>
              </a:lnSpc>
            </a:pPr>
            <a:r>
              <a:rPr lang="en-US" sz="3347" u="sng">
                <a:solidFill>
                  <a:srgbClr val="0097B2"/>
                </a:solidFill>
                <a:latin typeface="Open Sans"/>
                <a:ea typeface="Open Sans"/>
                <a:cs typeface="Open Sans"/>
                <a:sym typeface="Open Sans"/>
                <a:hlinkClick r:id="rId15" action="ppaction://hlinksldjump"/>
              </a:rPr>
              <a:t>Anterior </a:t>
            </a:r>
          </a:p>
        </p:txBody>
      </p:sp>
    </p:spTree>
  </p:cSld>
  <p:clrMapOvr>
    <a:masterClrMapping/>
  </p:clrMapOvr>
  <p:transition spd="fast">
    <p:cover dir="rd"/>
  </p:transition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DAHGLTJDq8E</dc:identifier>
  <dcterms:modified xsi:type="dcterms:W3CDTF">2011-08-01T06:04:30Z</dcterms:modified>
  <cp:revision>1</cp:revision>
  <dc:title>Red and Beige Simple Creative Portfolio Presentation</dc:title>
</cp:coreProperties>
</file>